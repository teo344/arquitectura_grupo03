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71" r:id="rId16"/>
    <p:sldId id="272" r:id="rId17"/>
    <p:sldId id="274" r:id="rId18"/>
    <p:sldId id="275" r:id="rId19"/>
    <p:sldId id="277" r:id="rId20"/>
    <p:sldId id="279" r:id="rId21"/>
    <p:sldId id="280" r:id="rId22"/>
    <p:sldId id="281" r:id="rId23"/>
    <p:sldId id="282" r:id="rId24"/>
    <p:sldId id="283" r:id="rId25"/>
    <p:sldId id="284" r:id="rId26"/>
    <p:sldId id="285" r:id="rId27"/>
    <p:sldId id="289" r:id="rId28"/>
    <p:sldId id="330" r:id="rId29"/>
    <p:sldId id="331" r:id="rId30"/>
    <p:sldId id="310" r:id="rId31"/>
    <p:sldId id="311" r:id="rId32"/>
    <p:sldId id="313" r:id="rId33"/>
    <p:sldId id="314" r:id="rId34"/>
    <p:sldId id="315" r:id="rId35"/>
    <p:sldId id="332" r:id="rId36"/>
    <p:sldId id="333" r:id="rId37"/>
    <p:sldId id="317" r:id="rId38"/>
    <p:sldId id="318" r:id="rId39"/>
    <p:sldId id="319" r:id="rId40"/>
    <p:sldId id="320" r:id="rId41"/>
    <p:sldId id="321" r:id="rId42"/>
    <p:sldId id="334" r:id="rId43"/>
    <p:sldId id="335" r:id="rId44"/>
    <p:sldId id="323" r:id="rId45"/>
    <p:sldId id="324" r:id="rId46"/>
    <p:sldId id="325" r:id="rId47"/>
    <p:sldId id="326" r:id="rId48"/>
    <p:sldId id="327" r:id="rId49"/>
    <p:sldId id="328" r:id="rId50"/>
    <p:sldId id="329" r:id="rId51"/>
  </p:sldIdLst>
  <p:sldSz cx="12192000" cy="6858000"/>
  <p:notesSz cx="6858000" cy="9144000"/>
  <p:embeddedFontLst>
    <p:embeddedFont>
      <p:font typeface="Cambria" panose="02040503050406030204" pitchFamily="18" charset="0"/>
      <p:regular r:id="rId53"/>
      <p:bold r:id="rId54"/>
      <p:italic r:id="rId55"/>
      <p:boldItalic r:id="rId56"/>
    </p:embeddedFont>
    <p:embeddedFont>
      <p:font typeface="Gill Sans" panose="020B0604020202020204" charset="0"/>
      <p:regular r:id="rId57"/>
      <p:bold r:id="rId5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F136021-7255-42B7-A7E7-87A8D8FFE9CA}">
  <a:tblStyle styleId="{BF136021-7255-42B7-A7E7-87A8D8FFE9C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font" Target="fonts/font3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1.fntdata"/><Relationship Id="rId58" Type="http://schemas.openxmlformats.org/officeDocument/2006/relationships/font" Target="fonts/font6.fntdata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4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2.fntdata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5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a8526227be_0_4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9" name="Google Shape;119;g3a8526227be_0_4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a8526227be_0_4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27" name="Google Shape;127;g3a8526227be_0_4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a8526227be_0_4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5" name="Google Shape;135;g3a8526227be_0_4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a8526227be_0_4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3" name="Google Shape;143;g3a8526227be_0_4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a8526227be_0_4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1" name="Google Shape;151;g3a8526227be_0_4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a8526227be_0_4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0" name="Google Shape;160;g3a8526227be_0_4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a8526227be_0_4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8" name="Google Shape;168;g3a8526227be_0_4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a8526227be_0_4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7" name="Google Shape;177;g3a8526227be_0_4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a8526227be_0_4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5" name="Google Shape;185;g3a8526227be_0_4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a8526227be_0_4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4" name="Google Shape;194;g3a8526227be_0_4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a8526227be_0_5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0" name="Google Shape;210;g3a8526227be_0_5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a8526227be_0_5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8" name="Google Shape;218;g3a8526227be_0_5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a8526227be_0_5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7" name="Google Shape;227;g3a8526227be_0_5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a8526227be_0_5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3" name="Google Shape;243;g3a8526227be_0_5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a8526227be_0_5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51" name="Google Shape;251;g3a8526227be_0_5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a8526227be_0_5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7" name="Google Shape;267;g3a8526227be_0_5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a8526227be_0_5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83" name="Google Shape;283;g3a8526227be_0_5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a8526227be_0_5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1" name="Google Shape;291;g3a8526227be_0_5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3a8526227be_0_5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9" name="Google Shape;299;g3a8526227be_0_5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a854632a9a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8" name="Google Shape;308;g3a854632a9a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a854632a9a_2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6" name="Google Shape;316;g3a854632a9a_2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a854632a9a_2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24" name="Google Shape;324;g3a854632a9a_2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a854632a9a_2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32" name="Google Shape;332;g3a854632a9a_2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a854632a9a_2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67" name="Google Shape;367;g3a854632a9a_2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3a8526227be_0_5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9" name="Google Shape;299;g3a8526227be_0_5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a854632a9a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8" name="Google Shape;308;g3a854632a9a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g3a854632a9a_2_2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42" name="Google Shape;542;g3a854632a9a_2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3a854632a9a_2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50" name="Google Shape;550;g3a854632a9a_2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g3a854632a9a_2_2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66" name="Google Shape;566;g3a854632a9a_2_2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a854632a9a_2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74" name="Google Shape;574;g3a854632a9a_2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g3a854632a9a_2_2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82" name="Google Shape;582;g3a854632a9a_2_2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3a8526227be_0_5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9" name="Google Shape;299;g3a8526227be_0_5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a854632a9a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8" name="Google Shape;308;g3a854632a9a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g3a854632a9a_2_2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99" name="Google Shape;599;g3a854632a9a_2_2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g3a854632a9a_2_2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07" name="Google Shape;607;g3a854632a9a_2_2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g3a854632a9a_2_2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15" name="Google Shape;615;g3a854632a9a_2_2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g3a854632a9a_2_2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23" name="Google Shape;623;g3a854632a9a_2_2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a854632a9a_2_2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31" name="Google Shape;631;g3a854632a9a_2_2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3a8526227be_0_5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9" name="Google Shape;299;g3a8526227be_0_5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a854632a9a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8" name="Google Shape;308;g3a854632a9a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a854632a9a_2_3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49" name="Google Shape;649;g3a854632a9a_2_3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g3a854632a9a_2_3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57" name="Google Shape;657;g3a854632a9a_2_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g3a854632a9a_2_3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65" name="Google Shape;665;g3a854632a9a_2_3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3a854632a9a_2_3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73" name="Google Shape;673;g3a854632a9a_2_3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g3a854632a9a_2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81" name="Google Shape;681;g3a854632a9a_2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g3a8526227be_0_6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89" name="Google Shape;689;g3a8526227be_0_6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g3a8526227be_0_6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96" name="Google Shape;696;g3a8526227be_0_6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57" name="Google Shape;57;p7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0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0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1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2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12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2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2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4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1" name="Google Shape;11;p1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://ec.edu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s-ES">
                <a:solidFill>
                  <a:schemeClr val="lt1"/>
                </a:solidFill>
              </a:rPr>
              <a:t>MANUAL</a:t>
            </a:r>
            <a:br>
              <a:rPr lang="es-ES">
                <a:solidFill>
                  <a:schemeClr val="lt1"/>
                </a:solidFill>
              </a:rPr>
            </a:br>
            <a:r>
              <a:rPr lang="es-ES">
                <a:solidFill>
                  <a:schemeClr val="lt1"/>
                </a:solidFill>
              </a:rPr>
              <a:t>CONVERSIÓN UNIDADES SOAP JAVA</a:t>
            </a:r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subTitle" idx="1"/>
          </p:nvPr>
        </p:nvSpPr>
        <p:spPr>
          <a:xfrm>
            <a:off x="599226" y="45720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endParaRPr b="1">
              <a:solidFill>
                <a:schemeClr val="lt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INTEGRANTES:</a:t>
            </a:r>
            <a:r>
              <a:rPr lang="es-ES">
                <a:solidFill>
                  <a:schemeClr val="lt1"/>
                </a:solidFill>
              </a:rPr>
              <a:t> 	</a:t>
            </a:r>
            <a:r>
              <a:rPr lang="es-MX">
                <a:solidFill>
                  <a:schemeClr val="lt1"/>
                </a:solidFill>
              </a:rPr>
              <a:t>CRIOLLO MATEO</a:t>
            </a:r>
            <a:br>
              <a:rPr lang="es-MX">
                <a:solidFill>
                  <a:schemeClr val="lt1"/>
                </a:solidFill>
              </a:rPr>
            </a:br>
            <a:r>
              <a:rPr lang="es-MX">
                <a:solidFill>
                  <a:schemeClr val="lt1"/>
                </a:solidFill>
              </a:rPr>
              <a:t>		HERNÁNDEZ CARLOS</a:t>
            </a:r>
            <a:br>
              <a:rPr lang="es-MX">
                <a:solidFill>
                  <a:schemeClr val="lt1"/>
                </a:solidFill>
              </a:rPr>
            </a:br>
            <a:r>
              <a:rPr lang="es-MX">
                <a:solidFill>
                  <a:schemeClr val="lt1"/>
                </a:solidFill>
              </a:rPr>
              <a:t>		REVILLA ANTONIO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3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3"/>
          <p:cNvSpPr txBox="1"/>
          <p:nvPr/>
        </p:nvSpPr>
        <p:spPr>
          <a:xfrm>
            <a:off x="9037063" y="4958901"/>
            <a:ext cx="4261531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GRUPO:  3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  </a:t>
            </a:r>
            <a:r>
              <a:rPr lang="es-ES" sz="16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24/10/2026</a:t>
            </a:r>
            <a:endParaRPr sz="16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ING: </a:t>
            </a:r>
            <a:r>
              <a:rPr lang="es-ES" sz="16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CAMPAÑA MAURICIO</a:t>
            </a:r>
            <a:endParaRPr sz="1600" b="1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3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4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14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DESARROLLO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>
                <a:solidFill>
                  <a:schemeClr val="lt1"/>
                </a:solidFill>
              </a:rPr>
              <a:t>OBJETIVO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>
                <a:solidFill>
                  <a:schemeClr val="lt1"/>
                </a:solidFill>
              </a:rPr>
              <a:t>CREACIÓN DEL SERVIDOR SOAP EN JAVA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 sz="1800">
                <a:solidFill>
                  <a:schemeClr val="lt1"/>
                </a:solidFill>
              </a:rPr>
              <a:t>CREACIÓN DEL PROYECTO – CLIENTE CONSOLA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 sz="1800">
                <a:solidFill>
                  <a:schemeClr val="lt1"/>
                </a:solidFill>
              </a:rPr>
              <a:t>CREACIÓN DEL PROYECTO – CLIENTE ESCRITORIO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 sz="1800">
                <a:solidFill>
                  <a:schemeClr val="lt1"/>
                </a:solidFill>
              </a:rPr>
              <a:t>CREACIÓN DEL PROYECTO – CLIENTE WEB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 sz="1800">
                <a:solidFill>
                  <a:schemeClr val="lt1"/>
                </a:solidFill>
              </a:rPr>
              <a:t>CREACIÓN DEL PROYECTO – CLIENTE MÓVIL</a:t>
            </a:r>
            <a:endParaRPr/>
          </a:p>
          <a:p>
            <a:pPr marL="306000" marR="0" lvl="0" indent="-306000" algn="l" rtl="0">
              <a:lnSpc>
                <a:spcPct val="100000"/>
              </a:lnSpc>
              <a:spcBef>
                <a:spcPts val="906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CONCLUSIONES</a:t>
            </a:r>
            <a:endParaRPr/>
          </a:p>
          <a:p>
            <a:pPr marL="306000" marR="0" lvl="0" indent="-306000" algn="l" rtl="0">
              <a:lnSpc>
                <a:spcPct val="100000"/>
              </a:lnSpc>
              <a:spcBef>
                <a:spcPts val="906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RECOMENDACIONES</a:t>
            </a:r>
            <a:endParaRPr/>
          </a:p>
        </p:txBody>
      </p:sp>
      <p:pic>
        <p:nvPicPr>
          <p:cNvPr id="108" name="Google Shape;108;p14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∙"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1</a:t>
            </a:r>
            <a:r>
              <a:rPr lang="es-ES" sz="1800" b="1">
                <a:latin typeface="Cambria"/>
                <a:ea typeface="Cambria"/>
                <a:cs typeface="Cambria"/>
                <a:sym typeface="Cambria"/>
              </a:rPr>
              <a:t>.1	OBJETIVO</a:t>
            </a:r>
            <a:endParaRPr b="1"/>
          </a:p>
          <a:p>
            <a:pPr marL="342900" marR="0" lvl="0" indent="-237744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Desarrollar e implementar un Web Service utilizando SOAP </a:t>
            </a:r>
            <a:r>
              <a:rPr lang="es-MX">
                <a:latin typeface="Cambria"/>
                <a:ea typeface="Cambria"/>
                <a:cs typeface="Cambria"/>
                <a:sym typeface="Cambria"/>
              </a:rPr>
              <a:t>mediante JAVA, sin base de datos, para realizar conversiones de unidades de longitud, masa y temperatura desde clientes de consola, escritorio, web y móvil.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1.2.1 	Servidor Payara</a:t>
            </a:r>
            <a:endParaRPr sz="1929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948"/>
              <a:buNone/>
            </a:pP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En primer lugar, en NetBeans 31, en la sección de Servicios se crea un servidor, específicamente Payara.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124" name="Google Shape;124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4613" y="3539075"/>
            <a:ext cx="4562475" cy="3143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30" name="Google Shape;130;p17"/>
          <p:cNvSpPr txBox="1">
            <a:spLocks noGrp="1"/>
          </p:cNvSpPr>
          <p:nvPr>
            <p:ph type="body" idx="1"/>
          </p:nvPr>
        </p:nvSpPr>
        <p:spPr>
          <a:xfrm>
            <a:off x="581200" y="1781575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Se selecciona la versión 7.2026.4, se aceptan los términos de condiciones y se selecciona un directorio donde instalar el servidor.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31" name="Google Shape;131;p1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2AD6A27-E6B7-D678-0542-34590ECD79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225" y="3206645"/>
            <a:ext cx="4586162" cy="343598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38" name="Google Shape;138;p18"/>
          <p:cNvSpPr txBox="1">
            <a:spLocks noGrp="1"/>
          </p:cNvSpPr>
          <p:nvPr>
            <p:ph type="body" idx="1"/>
          </p:nvPr>
        </p:nvSpPr>
        <p:spPr>
          <a:xfrm>
            <a:off x="581192" y="2180497"/>
            <a:ext cx="8589300" cy="12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∙"/>
            </a:pPr>
            <a:r>
              <a:rPr lang="es-ES" sz="1300">
                <a:latin typeface="Cambria"/>
                <a:ea typeface="Cambria"/>
                <a:cs typeface="Cambria"/>
                <a:sym typeface="Cambria"/>
              </a:rPr>
              <a:t>Para terminar la configuración del servidor de payara se configura un nombre de dominio, un host (en nuestro caso, loopback) y </a:t>
            </a:r>
            <a:r>
              <a:rPr lang="es-MX" sz="1300">
                <a:latin typeface="Cambria"/>
                <a:ea typeface="Cambria"/>
                <a:cs typeface="Cambria"/>
                <a:sym typeface="Cambria"/>
              </a:rPr>
              <a:t>se cambian los puertos si se desea; el proyecto usa el puerto HTTP 8080.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39" name="Google Shape;139;p1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DC47-D5CE-7937-A6A7-98195DB29E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359"/>
          <a:stretch/>
        </p:blipFill>
        <p:spPr>
          <a:xfrm>
            <a:off x="2108959" y="3282207"/>
            <a:ext cx="5533766" cy="317748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6" name="Google Shape;146;p19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1.2.2 	Creación del Proyecto</a:t>
            </a:r>
            <a:endParaRPr sz="1929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948"/>
              <a:buNone/>
            </a:pP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Una vez creado el servidor, </a:t>
            </a:r>
            <a:r>
              <a:rPr lang="es-MX">
                <a:latin typeface="Cambria"/>
                <a:ea typeface="Cambria"/>
                <a:cs typeface="Cambria"/>
                <a:sym typeface="Cambria"/>
              </a:rPr>
              <a:t>se crea un proyecto Java with Maven de tipo Web Application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 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47" name="Google Shape;147;p1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148" name="Google Shape;14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7463" y="3549050"/>
            <a:ext cx="4676775" cy="3200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54" name="Google Shape;154;p20"/>
          <p:cNvSpPr txBox="1">
            <a:spLocks noGrp="1"/>
          </p:cNvSpPr>
          <p:nvPr>
            <p:ph type="body" idx="1"/>
          </p:nvPr>
        </p:nvSpPr>
        <p:spPr>
          <a:xfrm>
            <a:off x="581192" y="1948172"/>
            <a:ext cx="8589300" cy="12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∙"/>
            </a:pPr>
            <a:r>
              <a:rPr lang="es-ES" sz="1300">
                <a:latin typeface="Cambria"/>
                <a:ea typeface="Cambria"/>
                <a:cs typeface="Cambria"/>
                <a:sym typeface="Cambria"/>
              </a:rPr>
              <a:t>Se aplica el nombre del proyecto como ‘WS_CON_UNI_JAVA_SOAP’, y se configura el grupo como ‘</a:t>
            </a:r>
            <a:r>
              <a:rPr lang="es-ES" sz="1300" u="sng">
                <a:solidFill>
                  <a:schemeClr val="hlink"/>
                </a:solidFill>
                <a:latin typeface="Cambria"/>
                <a:ea typeface="Cambria"/>
                <a:cs typeface="Cambria"/>
                <a:sym typeface="Cambria"/>
                <a:hlinkClick r:id="rId3"/>
              </a:rPr>
              <a:t>ec.edu</a:t>
            </a:r>
            <a:r>
              <a:rPr lang="es-ES" sz="1300">
                <a:latin typeface="Cambria"/>
                <a:ea typeface="Cambria"/>
                <a:cs typeface="Cambria"/>
                <a:sym typeface="Cambria"/>
              </a:rPr>
              <a:t>.monster’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1115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00"/>
              <a:buFont typeface="Cambria"/>
              <a:buChar char="∙"/>
            </a:pPr>
            <a:r>
              <a:rPr lang="es-ES" sz="1300">
                <a:latin typeface="Cambria"/>
                <a:ea typeface="Cambria"/>
                <a:cs typeface="Cambria"/>
                <a:sym typeface="Cambria"/>
              </a:rPr>
              <a:t>Se selecciona nuestro Servidor Payara creado y Jakarta EE 11 como conjunto de desarrollo de aplicaciones Java.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5" name="Google Shape;155;p2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157" name="Google Shape;157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86900" y="3251850"/>
            <a:ext cx="4600575" cy="3162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D57AF10F-BB90-5D19-5C56-CD05332305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760" y="3329471"/>
            <a:ext cx="4028139" cy="282637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63" name="Google Shape;163;p21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4557900" cy="38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ESTRUCTURA MVC</a:t>
            </a: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90"/>
              <a:buNone/>
            </a:pP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3509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Font typeface="Cambria"/>
              <a:buChar char="∙"/>
            </a:pPr>
            <a:r>
              <a:rPr lang="es-MX" sz="1677">
                <a:latin typeface="Cambria"/>
                <a:ea typeface="Cambria"/>
                <a:cs typeface="Cambria"/>
                <a:sym typeface="Cambria"/>
              </a:rPr>
              <a:t>Aplicando el patrón MVC junto a otras capas, se crean los paquetes principales dentro de ec.edu.monster: controladores.wservicios, modelo, vista, servicios, servicios.conversores y seguridad.</a:t>
            </a: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90"/>
              <a:buNone/>
            </a:pPr>
            <a:endParaRPr sz="159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64" name="Google Shape;164;p2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9EF40FC-14AA-152B-5E07-2DBA6D4AD0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9013" y="2792361"/>
            <a:ext cx="3728374" cy="27424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71" name="Google Shape;171;p22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1.2.3 	Creación del WebService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>
                <a:latin typeface="Cambria"/>
                <a:ea typeface="Cambria"/>
                <a:cs typeface="Cambria"/>
                <a:sym typeface="Cambria"/>
              </a:rPr>
              <a:t>Dentro del paquete controladores.wservicios se crea un webservice con New &gt; Web Service.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∙"/>
            </a:pPr>
            <a:r>
              <a:rPr lang="es-MX">
                <a:latin typeface="Cambria"/>
                <a:ea typeface="Cambria"/>
                <a:cs typeface="Cambria"/>
                <a:sym typeface="Cambria"/>
              </a:rPr>
              <a:t>Se crean dos servicios: AutenticacionWS (público, login) y ConversionUnidadesWS (protegido, catálogo y conversiones).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72" name="Google Shape;172;p2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608B82A-7E59-80A8-0FD3-6292A8D704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690" y="3668990"/>
            <a:ext cx="4140354" cy="2922603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E8C5F714-96C4-9E30-F7FC-393622C835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3241" y="4849697"/>
            <a:ext cx="4039164" cy="9145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80" name="Google Shape;180;p23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2402100" cy="39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509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Font typeface="Cambria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Se codifica el webservice bajo los siguientes lineamientos</a:t>
            </a: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3509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Font typeface="Cambria"/>
              <a:buChar char="∙"/>
            </a:pPr>
            <a:r>
              <a:rPr lang="es-MX" sz="1677">
                <a:latin typeface="Cambria"/>
                <a:ea typeface="Cambria"/>
                <a:cs typeface="Cambria"/>
                <a:sym typeface="Cambria"/>
              </a:rPr>
              <a:t>1. AutenticacionWS expone la operación login, que devuelve el token de sesión.</a:t>
            </a:r>
            <a:br>
              <a:rPr lang="es-ES" sz="1677" b="1">
                <a:latin typeface="Cambria"/>
                <a:ea typeface="Cambria"/>
                <a:cs typeface="Cambria"/>
                <a:sym typeface="Cambria"/>
              </a:rPr>
            </a:b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90"/>
              <a:buNone/>
            </a:pPr>
            <a:endParaRPr sz="159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81" name="Google Shape;181;p2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182" name="Google Shape;182;p23"/>
          <p:cNvGraphicFramePr/>
          <p:nvPr>
            <p:extLst>
              <p:ext uri="{D42A27DB-BD31-4B8C-83A1-F6EECF244321}">
                <p14:modId xmlns:p14="http://schemas.microsoft.com/office/powerpoint/2010/main" val="3087486904"/>
              </p:ext>
            </p:extLst>
          </p:nvPr>
        </p:nvGraphicFramePr>
        <p:xfrm>
          <a:off x="3395925" y="2866125"/>
          <a:ext cx="5400050" cy="247396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5400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@WebService(serviceName = "AutenticacionWS")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class AutenticacionWS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@Inject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ServicioAutenticacion servicioAutenticacion;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@Inject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RespuestaMapeador mapeador;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@WebMethod(operationName = "login")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RespuestaDto login(@WebParam(name = "usuario") String usuario,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@WebParam(name = "clave") String clave) throws ExcepcionServicio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mapeador.deToken(servicioAutenticacion.login(usuario, clave));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  <a:endParaRPr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88" name="Google Shape;188;p24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2402100" cy="39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509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Font typeface="Cambria"/>
              <a:buChar char="∙"/>
            </a:pPr>
            <a:r>
              <a:rPr lang="es-MX" sz="1677">
                <a:latin typeface="Cambria"/>
                <a:ea typeface="Cambria"/>
                <a:cs typeface="Cambria"/>
                <a:sym typeface="Cambria"/>
              </a:rPr>
              <a:t>2. Se configura el endpoint de ConversionUnidadesWS y su manejador (@HandlerChain).</a:t>
            </a:r>
            <a:endParaRPr sz="1677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3509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Font typeface="Cambria"/>
              <a:buChar char="∙"/>
            </a:pPr>
            <a:r>
              <a:rPr lang="es-MX" sz="1677">
                <a:latin typeface="Cambria"/>
                <a:ea typeface="Cambria"/>
                <a:cs typeface="Cambria"/>
                <a:sym typeface="Cambria"/>
              </a:rPr>
              <a:t>3. Se inyectan con @Inject los servicios y el mapeador de respuestas.</a:t>
            </a:r>
            <a:br>
              <a:rPr lang="es-ES" sz="1677" b="1">
                <a:latin typeface="Cambria"/>
                <a:ea typeface="Cambria"/>
                <a:cs typeface="Cambria"/>
                <a:sym typeface="Cambria"/>
              </a:rPr>
            </a:b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90"/>
              <a:buNone/>
            </a:pPr>
            <a:endParaRPr sz="159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89" name="Google Shape;189;p24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190" name="Google Shape;190;p24"/>
          <p:cNvGraphicFramePr/>
          <p:nvPr>
            <p:extLst>
              <p:ext uri="{D42A27DB-BD31-4B8C-83A1-F6EECF244321}">
                <p14:modId xmlns:p14="http://schemas.microsoft.com/office/powerpoint/2010/main" val="2716891960"/>
              </p:ext>
            </p:extLst>
          </p:nvPr>
        </p:nvGraphicFramePr>
        <p:xfrm>
          <a:off x="3701450" y="2180500"/>
          <a:ext cx="5400050" cy="62992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5400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@WebService(serviceName = "ConversionUnidadesWS")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@HandlerChain(file = "ConversionUnidadesWS_handler.xml")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class ConversionUnidadesWS {</a:t>
                      </a:r>
                      <a:endParaRPr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91" name="Google Shape;191;p24"/>
          <p:cNvGraphicFramePr/>
          <p:nvPr>
            <p:extLst>
              <p:ext uri="{D42A27DB-BD31-4B8C-83A1-F6EECF244321}">
                <p14:modId xmlns:p14="http://schemas.microsoft.com/office/powerpoint/2010/main" val="1142506872"/>
              </p:ext>
            </p:extLst>
          </p:nvPr>
        </p:nvGraphicFramePr>
        <p:xfrm>
          <a:off x="3701450" y="3375275"/>
          <a:ext cx="5400050" cy="146812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5400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@Inject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ServicioCatalogo servicioCatalogo;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@Inject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ServicioConversion servicioConversion;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@Inject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RespuestaMapeador mapeador;</a:t>
                      </a:r>
                      <a:endParaRPr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97" name="Google Shape;197;p25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2402100" cy="39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509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Font typeface="Cambria"/>
              <a:buChar char="∙"/>
            </a:pPr>
            <a:r>
              <a:rPr lang="es-MX" sz="1677">
                <a:latin typeface="Cambria"/>
                <a:ea typeface="Cambria"/>
                <a:cs typeface="Cambria"/>
                <a:sym typeface="Cambria"/>
              </a:rPr>
              <a:t>4. Se crean las operaciones de catálogo y conversión; el token viaja en la cabecera SOAP (header = true).</a:t>
            </a: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90"/>
              <a:buNone/>
            </a:pPr>
            <a:endParaRPr sz="159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98" name="Google Shape;198;p2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199" name="Google Shape;199;p25"/>
          <p:cNvGraphicFramePr/>
          <p:nvPr>
            <p:extLst>
              <p:ext uri="{D42A27DB-BD31-4B8C-83A1-F6EECF244321}">
                <p14:modId xmlns:p14="http://schemas.microsoft.com/office/powerpoint/2010/main" val="3726363556"/>
              </p:ext>
            </p:extLst>
          </p:nvPr>
        </p:nvGraphicFramePr>
        <p:xfrm>
          <a:off x="3917100" y="1928900"/>
          <a:ext cx="4894525" cy="4533675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4894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5336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@WebMethod(operationName = "consultarCatalogo")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RespuestaDto consultarCatalogo(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@WebParam(name = "token", header = true) String token)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mapeador.deCatalogo(servicioCatalogo.categorias());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0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@WebMethod(operationName = "consultarUnidades")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RespuestaDto consultarUnidades(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@WebParam(name = "token", header = true) String token,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@WebParam(name = "categoria") String categoria) throws ExcepcionServicio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mapeador.deUnidades(servicioCatalogo.unidades(categoria));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0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@WebMethod(operationName = "convertirLongitud")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RespuestaDto convertirLongitud(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@WebParam(name = "token", header = true) String token,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@WebParam(name = "solicitud") SolicitudConversionDto solicitud) throws ExcepcionServicio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convertir(Categoria.LONGITUD, solicitud);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  <a:endParaRPr sz="10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13" name="Google Shape;213;p27"/>
          <p:cNvSpPr txBox="1">
            <a:spLocks noGrp="1"/>
          </p:cNvSpPr>
          <p:nvPr>
            <p:ph type="body" idx="1"/>
          </p:nvPr>
        </p:nvSpPr>
        <p:spPr>
          <a:xfrm>
            <a:off x="581200" y="2018775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1.2.4 	Autenticación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2385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6"/>
              <a:buFont typeface="Cambria"/>
              <a:buChar char="∙"/>
            </a:pPr>
            <a:r>
              <a:rPr lang="es-ES" sz="1500">
                <a:latin typeface="Cambria"/>
                <a:ea typeface="Cambria"/>
                <a:cs typeface="Cambria"/>
                <a:sym typeface="Cambria"/>
              </a:rPr>
              <a:t>Una clase importante a mencionar es el ManejadorAutenticacion.java, que sirve como un middleware en servicios SOAP con el fin de autenticar debidamente antes de permitir el paso a los métodos del WebService. Esta clase se crea en Web Services &gt; Message Handler.</a:t>
            </a:r>
            <a:endParaRPr sz="1500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14" name="Google Shape;214;p2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7CCF490-5985-75C4-5E7D-6D0231B2FD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923" y="3853815"/>
            <a:ext cx="7363853" cy="194337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21" name="Google Shape;221;p28"/>
          <p:cNvSpPr txBox="1">
            <a:spLocks noGrp="1"/>
          </p:cNvSpPr>
          <p:nvPr>
            <p:ph type="body" idx="1"/>
          </p:nvPr>
        </p:nvSpPr>
        <p:spPr>
          <a:xfrm>
            <a:off x="581192" y="1876272"/>
            <a:ext cx="8589300" cy="12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Esta clase se apoya en GestorToken, que valida las credenciales y administra en memoria los tokens; el usuario (MONSTER), la clave (MONSTER9) y la duración del token (30 minutos) se leen de microprofile-config.properties.</a:t>
            </a:r>
            <a:endParaRPr sz="120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Es fundamental crear el archivo ConversionUnidadesWS_handler.xml dentro de los recursos, que mapea la clase para que el servicio ejecute el handler mediante @HandlerChain.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22" name="Google Shape;222;p2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224" name="Google Shape;224;p28"/>
          <p:cNvGraphicFramePr/>
          <p:nvPr>
            <p:extLst>
              <p:ext uri="{D42A27DB-BD31-4B8C-83A1-F6EECF244321}">
                <p14:modId xmlns:p14="http://schemas.microsoft.com/office/powerpoint/2010/main" val="593359223"/>
              </p:ext>
            </p:extLst>
          </p:nvPr>
        </p:nvGraphicFramePr>
        <p:xfrm>
          <a:off x="4024925" y="4574350"/>
          <a:ext cx="4894525" cy="22153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4894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15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# Duracion del token de acceso en minutos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token.minutos=30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MX" sz="10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# Credenciales iniciales (al reiniciar el servidor se vuelve a estas)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usuario.nombre=MONSTER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usuario.clave=MONSTER9</a:t>
                      </a:r>
                      <a:endParaRPr sz="10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4" name="Imagen 3">
            <a:extLst>
              <a:ext uri="{FF2B5EF4-FFF2-40B4-BE49-F238E27FC236}">
                <a16:creationId xmlns:a16="http://schemas.microsoft.com/office/drawing/2014/main" id="{7E5FB891-6E73-79A2-8476-A3B63A40BF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92" y="3010308"/>
            <a:ext cx="5189605" cy="144564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30" name="Google Shape;230;p29"/>
          <p:cNvSpPr txBox="1">
            <a:spLocks noGrp="1"/>
          </p:cNvSpPr>
          <p:nvPr>
            <p:ph type="body" idx="1"/>
          </p:nvPr>
        </p:nvSpPr>
        <p:spPr>
          <a:xfrm>
            <a:off x="581200" y="1876275"/>
            <a:ext cx="2132400" cy="47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El método handleMessage lee el token de la cabecera SOAP, lo valida con GestorToken y, si no es válido, responde un SOAPFault (AUTH-001 o AUTH-002).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31" name="Google Shape;231;p2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232" name="Google Shape;232;p29"/>
          <p:cNvGraphicFramePr/>
          <p:nvPr>
            <p:extLst>
              <p:ext uri="{D42A27DB-BD31-4B8C-83A1-F6EECF244321}">
                <p14:modId xmlns:p14="http://schemas.microsoft.com/office/powerpoint/2010/main" val="3308180263"/>
              </p:ext>
            </p:extLst>
          </p:nvPr>
        </p:nvGraphicFramePr>
        <p:xfrm>
          <a:off x="2964625" y="1876275"/>
          <a:ext cx="6062675" cy="33020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06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02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class ManejadorAutenticacion implements SOAPHandler&lt;SOAPMessageContext&gt;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static final String PROPIEDAD_USUARIO = "usuario";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static final String ELEMENTO_TOKEN = "token";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@Inject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GestorToken gestorToken;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@Override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boolean handleMessage(SOAPMessageContext contexto)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if ((Boolean) contexto.get(MessageContext.MESSAGE_OUTBOUND_PROPERTY))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return true;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try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String usuario = gestorToken.validar(leerToken(contexto));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contexto.put(PROPIEDAD_USUARIO, usuario);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contexto.setScope(PROPIEDAD_USUARIO, MessageContext.Scope.APPLICATION);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return true;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} catch (ExcepcionServicio e)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throw new SOAPFaultException(crearFault(e.getFaultInfo()));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46" name="Google Shape;246;p31"/>
          <p:cNvSpPr txBox="1">
            <a:spLocks noGrp="1"/>
          </p:cNvSpPr>
          <p:nvPr>
            <p:ph type="body" idx="1"/>
          </p:nvPr>
        </p:nvSpPr>
        <p:spPr>
          <a:xfrm>
            <a:off x="581200" y="3037175"/>
            <a:ext cx="2132400" cy="26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 lnSpcReduction="10000"/>
          </a:bodyPr>
          <a:lstStyle/>
          <a:p>
            <a:pPr marL="34290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1.2.5	Lógica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Ahora se procede a completar el resto de la lógica, donde </a:t>
            </a: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los conversores exponen la lógica</a:t>
            </a: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 (utilizando factores de conversión y fórmulas) como se puede ver en las tablas aplicando una interfaz con el fin de hacer que los servicios puedan inyectar cualquier tipo de conversión sin limitarse a uno en concreto como se puede ver en la Tabla del Servicio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47" name="Google Shape;247;p3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248" name="Google Shape;248;p31"/>
          <p:cNvGraphicFramePr/>
          <p:nvPr>
            <p:extLst>
              <p:ext uri="{D42A27DB-BD31-4B8C-83A1-F6EECF244321}">
                <p14:modId xmlns:p14="http://schemas.microsoft.com/office/powerpoint/2010/main" val="2033648469"/>
              </p:ext>
            </p:extLst>
          </p:nvPr>
        </p:nvGraphicFramePr>
        <p:xfrm>
          <a:off x="3017313" y="3676500"/>
          <a:ext cx="6062675" cy="213868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06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609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package ec.edu.monster.servicios.conversores;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2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import ec.edu.monster.modelo.Categoria;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import ec.edu.monster.modelo.Unidad;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2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interface Conversor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2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boolean soporta(Categoria categoria);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2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double convertir(double valor, Unidad origen, Unidad destino);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54" name="Google Shape;254;p32"/>
          <p:cNvSpPr txBox="1">
            <a:spLocks noGrp="1"/>
          </p:cNvSpPr>
          <p:nvPr>
            <p:ph type="body" idx="1"/>
          </p:nvPr>
        </p:nvSpPr>
        <p:spPr>
          <a:xfrm>
            <a:off x="581200" y="3037175"/>
            <a:ext cx="2132400" cy="26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Ahora se procede a completar el resto de la lógica, donde </a:t>
            </a: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los conversores exponen la lógica</a:t>
            </a: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 (utilizando factores de conversión y fórmulas) como se puede ver en las tablas aplicando una interfaz con el fin de hacer que los servicios puedan inyectar cualquier tipo de conversión sin limitarse a uno en concreto como se puede ver en la Tabla del Servicio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5" name="Google Shape;255;p3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256" name="Google Shape;256;p32"/>
          <p:cNvGraphicFramePr/>
          <p:nvPr>
            <p:extLst>
              <p:ext uri="{D42A27DB-BD31-4B8C-83A1-F6EECF244321}">
                <p14:modId xmlns:p14="http://schemas.microsoft.com/office/powerpoint/2010/main" val="1429408231"/>
              </p:ext>
            </p:extLst>
          </p:nvPr>
        </p:nvGraphicFramePr>
        <p:xfrm>
          <a:off x="3017313" y="1838175"/>
          <a:ext cx="6062675" cy="30226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06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609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package ec.edu.monster.servicios.conversores;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0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import ec.edu.monster.modelo.Categoria;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import ec.edu.monster.modelo.Unidad;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import jakarta.enterprise.context.ApplicationScoped;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0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@ApplicationScoped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class ConversorLineal implements Conversor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0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@Override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boolean soporta(Categoria categoria)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categoria == Categoria.LONGITUD || categoria == Categoria.MASA;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0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@Override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double convertir(double valor, Unidad origen, Unidad destino)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valor * origen.getFactor() / destino.getFactor();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  <a:endParaRPr sz="10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70" name="Google Shape;270;p34"/>
          <p:cNvSpPr txBox="1">
            <a:spLocks noGrp="1"/>
          </p:cNvSpPr>
          <p:nvPr>
            <p:ph type="body" idx="1"/>
          </p:nvPr>
        </p:nvSpPr>
        <p:spPr>
          <a:xfrm>
            <a:off x="581200" y="3037175"/>
            <a:ext cx="2132400" cy="26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Ahora se procede a completar el resto de la lógica, donde </a:t>
            </a: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los conversores exponen la lógica</a:t>
            </a: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 (utilizando factores de conversión y fórmulas) como se puede ver en las tablas aplicando una interfaz con el fin de hacer que los servicios puedan inyectar cualquier tipo de conversión sin limitarse a uno en concreto como se puede ver en la Tabla del Servicio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71" name="Google Shape;271;p34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272" name="Google Shape;272;p34"/>
          <p:cNvGraphicFramePr/>
          <p:nvPr>
            <p:extLst>
              <p:ext uri="{D42A27DB-BD31-4B8C-83A1-F6EECF244321}">
                <p14:modId xmlns:p14="http://schemas.microsoft.com/office/powerpoint/2010/main" val="4090042235"/>
              </p:ext>
            </p:extLst>
          </p:nvPr>
        </p:nvGraphicFramePr>
        <p:xfrm>
          <a:off x="2891513" y="2209650"/>
          <a:ext cx="6062675" cy="451612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06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609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@ApplicationScoped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class ConversorTemperatura implements Conversor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2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@Override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boolean soporta(Categoria categoria)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categoria == Categoria.TEMPERATURA;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2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@Override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double convertir(double valor, Unidad origen, Unidad destino)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desdeCelsius(aCelsius(valor, origen), destino);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2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static double aCelsius(double v, Unidad unidad)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switch (unidad)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case C -&gt; v;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case K -&gt; v - 273.15;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case F -&gt; (v - 32) * 5 / 9;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case N -&gt; v * 100 / 33;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case RE -&gt; v * 5 / 4;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default -&gt; throw new IllegalArgumentException("No es unidad de temperatura: " + unidad);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};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  <a:endParaRPr sz="10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86" name="Google Shape;286;p36"/>
          <p:cNvSpPr txBox="1">
            <a:spLocks noGrp="1"/>
          </p:cNvSpPr>
          <p:nvPr>
            <p:ph type="body" idx="1"/>
          </p:nvPr>
        </p:nvSpPr>
        <p:spPr>
          <a:xfrm>
            <a:off x="581200" y="3037175"/>
            <a:ext cx="2132400" cy="26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latin typeface="Cambria"/>
                <a:ea typeface="Cambria"/>
                <a:cs typeface="Cambria"/>
                <a:sym typeface="Cambria"/>
              </a:rPr>
              <a:t>Aplicando una interfaz con el fin de hacer que el servicio pueda inyectar cualquier tipo de conversión sin limitarse a uno en concreto como se puede ver en la Tabla del Servicio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87" name="Google Shape;287;p3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288" name="Google Shape;288;p36"/>
          <p:cNvGraphicFramePr/>
          <p:nvPr>
            <p:extLst>
              <p:ext uri="{D42A27DB-BD31-4B8C-83A1-F6EECF244321}">
                <p14:modId xmlns:p14="http://schemas.microsoft.com/office/powerpoint/2010/main" val="3572223093"/>
              </p:ext>
            </p:extLst>
          </p:nvPr>
        </p:nvGraphicFramePr>
        <p:xfrm>
          <a:off x="2891513" y="2557313"/>
          <a:ext cx="6062675" cy="37846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06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609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@ApplicationScoped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class ServicioConversion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2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@Inject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ServicioValidacion validacion;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2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@Inject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Instance&lt;Conversor&gt; conversores;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2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ResultadoConversion convertir(Categoria categoria, Double valor, String origen, String destino)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throws ExcepcionServicio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Unidad[] unidades = validacion.validarConversion(categoria, valor, origen, destino);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Conversor conversor = conversores.stream()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.filter(c -&gt; c.soporta(categoria))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.findFirst()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.orElseThrow(() -&gt; new ExcepcionServicio(CodigoError.DATA_001));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double resultado = conversor.convertir(valor, unidades[0], unidades[1]);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new ResultadoConversion(redondear(resultado), unidades[0], unidades[1]);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  <a:endParaRPr sz="12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94" name="Google Shape;294;p37"/>
          <p:cNvSpPr txBox="1">
            <a:spLocks noGrp="1"/>
          </p:cNvSpPr>
          <p:nvPr>
            <p:ph type="body" idx="1"/>
          </p:nvPr>
        </p:nvSpPr>
        <p:spPr>
          <a:xfrm>
            <a:off x="581200" y="2018775"/>
            <a:ext cx="2685600" cy="455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1.2.6 	Ejecución en Servidor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2385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6"/>
              <a:buFont typeface="Cambria"/>
              <a:buChar char="∙"/>
            </a:pPr>
            <a:r>
              <a:rPr lang="es-ES" sz="1500">
                <a:latin typeface="Cambria"/>
                <a:ea typeface="Cambria"/>
                <a:cs typeface="Cambria"/>
                <a:sym typeface="Cambria"/>
              </a:rPr>
              <a:t>Se ejecuta el programa corriendo en nuestro servidor payara y se comprueba que el contrato WSDL esté correcto en la ruta (Dejamos anteriormente que Payara corra por defecto en 8080): http://localhost:8080/WS_CON_UNI_JAVA_SOAP/ConversionUnidadesWS?wsdl (igual para AutenticacionWS)</a:t>
            </a:r>
            <a:endParaRPr sz="1500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95" name="Google Shape;295;p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F22B9C6-991D-FAC4-8D99-0C2B21F8452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7085"/>
          <a:stretch/>
        </p:blipFill>
        <p:spPr>
          <a:xfrm>
            <a:off x="3616890" y="2674374"/>
            <a:ext cx="5575567" cy="355029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3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3" name="Google Shape;303;p38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581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70332"/>
              <a:buFont typeface="Arial"/>
              <a:buNone/>
            </a:pPr>
            <a:r>
              <a:rPr lang="es-ES" sz="1564" b="1" dirty="0">
                <a:latin typeface="Cambria"/>
                <a:ea typeface="Cambria"/>
                <a:cs typeface="Cambria"/>
                <a:sym typeface="Cambria"/>
              </a:rPr>
              <a:t>1.3 	CREACIÓN DEL PROYECTO CLIENTE CONSOLA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70332"/>
              <a:buFont typeface="Arial"/>
              <a:buNone/>
            </a:pPr>
            <a:endParaRPr sz="1564" b="1" dirty="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2052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64"/>
              <a:buFont typeface="Cambria"/>
              <a:buChar char="◼"/>
            </a:pP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Para el cliente consola se usó NetBeans: se crea un nuevo proyecto con la categoría Java </a:t>
            </a:r>
            <a:r>
              <a:rPr lang="es-MX" sz="1564" dirty="0" err="1">
                <a:latin typeface="Cambria"/>
                <a:ea typeface="Cambria"/>
                <a:cs typeface="Cambria"/>
                <a:sym typeface="Cambria"/>
              </a:rPr>
              <a:t>with</a:t>
            </a: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 Maven y el tipo de proyecto Java </a:t>
            </a:r>
            <a:r>
              <a:rPr lang="es-MX" sz="1564" dirty="0" err="1">
                <a:latin typeface="Cambria"/>
                <a:ea typeface="Cambria"/>
                <a:cs typeface="Cambria"/>
                <a:sym typeface="Cambria"/>
              </a:rPr>
              <a:t>Application</a:t>
            </a: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.</a:t>
            </a:r>
            <a:endParaRPr sz="1564" dirty="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2046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ambria"/>
              <a:buChar char="◼"/>
            </a:pP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Se asigna el nombre ConUni_ClienteConsola_GR3, se selecciona como ubicación la carpeta 04. CLICON y se configura el </a:t>
            </a:r>
            <a:r>
              <a:rPr lang="es-MX" sz="1564" dirty="0" err="1">
                <a:latin typeface="Cambria"/>
                <a:ea typeface="Cambria"/>
                <a:cs typeface="Cambria"/>
                <a:sym typeface="Cambria"/>
              </a:rPr>
              <a:t>Group</a:t>
            </a: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 Id </a:t>
            </a:r>
            <a:r>
              <a:rPr lang="es-MX" sz="1564" dirty="0" err="1">
                <a:latin typeface="Cambria"/>
                <a:ea typeface="Cambria"/>
                <a:cs typeface="Cambria"/>
                <a:sym typeface="Cambria"/>
              </a:rPr>
              <a:t>ec.edu.monster</a:t>
            </a: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.</a:t>
            </a:r>
            <a:endParaRPr sz="1564" dirty="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ct val="99162"/>
              <a:buNone/>
            </a:pPr>
            <a:endParaRPr sz="1670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D2909B7-B4FE-214A-C55E-9EB2486740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0418" y="3803274"/>
            <a:ext cx="3845397" cy="2633076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544B1942-FD4A-4343-6E76-76E9161200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341" y="3803274"/>
            <a:ext cx="3705672" cy="263405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3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2" name="Google Shape;312;p39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581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1.3 	CREACIÓN DEL PROYECTO CLIENTE CONSOLA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Una vez creado el proyecto se generan los paquetes donde se colocarán los archivos con código fuente: client.ws (acceso al servicio SOAP), ec.edu.monster.modelo, ec.edu.monster.vista, ec.edu.monster.controlador y ec.edu.monster.util.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656"/>
              <a:buNone/>
            </a:pP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5356F7B-4F3D-2F39-15E3-85AD18BE28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2587" y="4006344"/>
            <a:ext cx="3463065" cy="245741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4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9" name="Google Shape;319;p40"/>
          <p:cNvSpPr txBox="1">
            <a:spLocks noGrp="1"/>
          </p:cNvSpPr>
          <p:nvPr>
            <p:ph type="body" idx="1"/>
          </p:nvPr>
        </p:nvSpPr>
        <p:spPr>
          <a:xfrm>
            <a:off x="581200" y="1876275"/>
            <a:ext cx="2132400" cy="47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20" name="Google Shape;320;p4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321" name="Google Shape;321;p40"/>
          <p:cNvGraphicFramePr/>
          <p:nvPr>
            <p:extLst>
              <p:ext uri="{D42A27DB-BD31-4B8C-83A1-F6EECF244321}">
                <p14:modId xmlns:p14="http://schemas.microsoft.com/office/powerpoint/2010/main" val="3563822675"/>
              </p:ext>
            </p:extLst>
          </p:nvPr>
        </p:nvGraphicFramePr>
        <p:xfrm>
          <a:off x="2964625" y="1876275"/>
          <a:ext cx="6062675" cy="47013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06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01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@WebService(name = "ConversionUnidadesWS", targetNamespace = "http://wservicios.controladores.monster.edu.ec/")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@SOAPBinding(parameterStyle = SOAPBinding.ParameterStyle.WRAPPED)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interface ContratoWSConversor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 lang="es-ES"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@WebMethod(operationName = "consultarCatalogo")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@WebResult(name = "return")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Respuesta consultarCatalogo();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 lang="es-ES"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@WebMethod(operationName = "consultarUnidades")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@WebResult(name = "return")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Respuesta consultarUnidades(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@WebParam(name = "categoria") String categoria);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 lang="es-ES"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@WebMethod(operationName = "convertirLongitud")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@WebResult(name = "return")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Respuesta convertirLongitud(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@WebParam(name = "solicitud") Solicitud solicitud);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4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27" name="Google Shape;327;p41"/>
          <p:cNvSpPr txBox="1">
            <a:spLocks noGrp="1"/>
          </p:cNvSpPr>
          <p:nvPr>
            <p:ph type="body" idx="1"/>
          </p:nvPr>
        </p:nvSpPr>
        <p:spPr>
          <a:xfrm>
            <a:off x="581200" y="1876275"/>
            <a:ext cx="2132400" cy="47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28" name="Google Shape;328;p4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329" name="Google Shape;329;p41"/>
          <p:cNvGraphicFramePr/>
          <p:nvPr>
            <p:extLst>
              <p:ext uri="{D42A27DB-BD31-4B8C-83A1-F6EECF244321}">
                <p14:modId xmlns:p14="http://schemas.microsoft.com/office/powerpoint/2010/main" val="1691244129"/>
              </p:ext>
            </p:extLst>
          </p:nvPr>
        </p:nvGraphicFramePr>
        <p:xfrm>
          <a:off x="2964625" y="1876275"/>
          <a:ext cx="6062675" cy="47013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06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01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class ClienteWSConversor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static final String ESPACIO_NOMBRES = "http://wservicios.controladores.monster.edu.ec/";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static final String PROPIEDAD_BASE_WS = "ws.base.url";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static final String VARIABLE_BASE_WS = "WS_BASE_URL";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static final QName QNOMBRE_SERVICIO = new QName(ESPACIO_NOMBRES, "ConversionUnidadesWS");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static final QName QNOMBRE_PUERTO = new QName(ESPACIO_NOMBRES, "ConversionUnidadesWSPort");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static final QName QNOMBRE_SERVICIO_LOGIN = new QName(ESPACIO_NOMBRES, "AutenticacionWS");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static final QName QNOMBRE_PUERTO_LOGIN = new QName(ESPACIO_NOMBRES, "AutenticacionWSPort");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static final List&lt;String&gt; BASES_URL_POR_DEFECTO = List.of(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"http://localhost:8080/WS_CON_UNI_JAVA_SOAP"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);</a:t>
                      </a:r>
                      <a:endParaRPr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35" name="Google Shape;335;p42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36" name="Google Shape;336;p4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337" name="Google Shape;337;p42"/>
          <p:cNvGraphicFramePr/>
          <p:nvPr>
            <p:extLst>
              <p:ext uri="{D42A27DB-BD31-4B8C-83A1-F6EECF244321}">
                <p14:modId xmlns:p14="http://schemas.microsoft.com/office/powerpoint/2010/main" val="185177279"/>
              </p:ext>
            </p:extLst>
          </p:nvPr>
        </p:nvGraphicFramePr>
        <p:xfrm>
          <a:off x="2278500" y="1818850"/>
          <a:ext cx="5439425" cy="47013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543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01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String token = proveedorToken.get();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if (token == null || token.isBlank())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throw new RuntimeException("No hay sesion activa. Debe autenticarse primero.");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try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var mensaje = contexto.getMessage();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SOAPEnvelope sobre = mensaje.getSOAPPart().getEnvelope();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SOAPHeader encabezado = mensaje.getSOAPHeader();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if (encabezado == null)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encabezado = sobre.addHeader();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QName nombreToken = new QName("http://wservicios.controladores.monster.edu.ec/", "token", "ws");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encabezado.addHeaderElement(nombreToken).addTextNode(token);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mensaje.saveChanges();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return true;</a:t>
                      </a:r>
                      <a:endParaRPr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4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70" name="Google Shape;370;p46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MX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 puede verificar que el cliente funciona de forma correcta, se levanta y tiene comunicación (usuario MONSTER, clave MONSTER9)</a:t>
            </a: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 b="1">
              <a:solidFill>
                <a:srgbClr val="17365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∙"/>
            </a:pP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71" name="Google Shape;371;p4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E034273-3D07-2BC2-50DA-D4D35DC048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9052" y="2899463"/>
            <a:ext cx="6394309" cy="237102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3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3" name="Google Shape;303;p38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581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70332"/>
              <a:buFont typeface="Arial"/>
              <a:buNone/>
            </a:pPr>
            <a:r>
              <a:rPr lang="es-MX" sz="1564" b="1">
                <a:latin typeface="Cambria"/>
                <a:ea typeface="Cambria"/>
                <a:cs typeface="Cambria"/>
                <a:sym typeface="Cambria"/>
              </a:rPr>
              <a:t>1.4 	CREACIÓN DEL PROYECTO CLIENTE ESCRITORIO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70332"/>
              <a:buFont typeface="Arial"/>
              <a:buNone/>
            </a:pP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2052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En NetBeans se crea un proyecto Java with Maven de tipo Java Application con el nombre Convertidor_CLIESC; el proyecto utiliza Java 25 y Java Swing para las ventanas.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2046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Con New &gt; Web Service Client se agregan los WSDL de AutenticacionWS y ConversionUnidadesWS; el plugin jaxws-maven-plugin (wsimport) genera las clases cliente en ec.edu.monster.servicio.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ct val="99162"/>
              <a:buNone/>
            </a:pP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" name="Google Shape;545;p67">
            <a:extLst>
              <a:ext uri="{FF2B5EF4-FFF2-40B4-BE49-F238E27FC236}">
                <a16:creationId xmlns:a16="http://schemas.microsoft.com/office/drawing/2014/main" id="{2D48339E-B716-3532-1E20-D2619FA1F2E7}"/>
              </a:ext>
            </a:extLst>
          </p:cNvPr>
          <p:cNvSpPr/>
          <p:nvPr/>
        </p:nvSpPr>
        <p:spPr>
          <a:xfrm>
            <a:off x="9383649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DE9C3DE-61CE-D319-487F-B869653ED7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5305" y="4399644"/>
            <a:ext cx="4199446" cy="1698103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D946BACB-8924-D8DC-8424-3FBDD3D13C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912" y="3998687"/>
            <a:ext cx="3392277" cy="2382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7805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3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2" name="Google Shape;312;p39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581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MX" sz="1564" b="1">
                <a:latin typeface="Cambria"/>
                <a:ea typeface="Cambria"/>
                <a:cs typeface="Cambria"/>
                <a:sym typeface="Cambria"/>
              </a:rPr>
              <a:t>1.4 	CREACIÓN DEL PROYECTO CLIENTE ESCRITORIO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En src/main/java se crean los paquetes ec.edu.monster.controlador, ec.edu.monster.modelo, ec.edu.monster.servicio y ec.edu.monster.vista. Las llamadas SOAP se ejecutan en segundo plano con SwingWorker para no bloquear la interfaz.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656"/>
              <a:buNone/>
            </a:pP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" name="Google Shape;545;p67">
            <a:extLst>
              <a:ext uri="{FF2B5EF4-FFF2-40B4-BE49-F238E27FC236}">
                <a16:creationId xmlns:a16="http://schemas.microsoft.com/office/drawing/2014/main" id="{78AF3447-0EDB-8137-D7FE-3F1A22A43530}"/>
              </a:ext>
            </a:extLst>
          </p:cNvPr>
          <p:cNvSpPr/>
          <p:nvPr/>
        </p:nvSpPr>
        <p:spPr>
          <a:xfrm>
            <a:off x="9383649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3325F15-8B0B-5CE8-843F-69DFC883B6B6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668905" y="4274820"/>
            <a:ext cx="3743325" cy="1762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3450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6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45" name="Google Shape;545;p67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546" name="Google Shape;546;p67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  <p:graphicFrame>
        <p:nvGraphicFramePr>
          <p:cNvPr id="547" name="Google Shape;547;p67"/>
          <p:cNvGraphicFramePr/>
          <p:nvPr>
            <p:extLst>
              <p:ext uri="{D42A27DB-BD31-4B8C-83A1-F6EECF244321}">
                <p14:modId xmlns:p14="http://schemas.microsoft.com/office/powerpoint/2010/main" val="2570164878"/>
              </p:ext>
            </p:extLst>
          </p:nvPr>
        </p:nvGraphicFramePr>
        <p:xfrm>
          <a:off x="2332838" y="2136238"/>
          <a:ext cx="6484300" cy="40239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48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0239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chemeClr val="dk1"/>
                          </a:solidFill>
                        </a:rPr>
                        <a:t>public class AutenticacionSoapService {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chemeClr val="dk1"/>
                          </a:solidFill>
                        </a:rPr>
                        <a:t>    private final String endpoint;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C" sz="1100">
                        <a:solidFill>
                          <a:schemeClr val="dk1"/>
                        </a:solidFill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chemeClr val="dk1"/>
                          </a:solidFill>
                        </a:rPr>
                        <a:t>    public AutenticacionSoapService() {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chemeClr val="dk1"/>
                          </a:solidFill>
                        </a:rPr>
                        <a:t>        String baseUrl = System.getProperty("monster.soap.baseUrl", "http://localhost:8080/WS_CON_UNI_JAVA_SOAP");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chemeClr val="dk1"/>
                          </a:solidFill>
                        </a:rPr>
                        <a:t>        this.endpoint = baseUrl.replaceAll("/$", "") + "/AutenticacionWS";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chemeClr val="dk1"/>
                          </a:solidFill>
                        </a:rPr>
                        <a:t>    }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C" sz="1100">
                        <a:solidFill>
                          <a:schemeClr val="dk1"/>
                        </a:solidFill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chemeClr val="dk1"/>
                          </a:solidFill>
                        </a:rPr>
                        <a:t>    public SesionUsuario iniciarSesion(String usuario, String clave) throws Exception {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chemeClr val="dk1"/>
                          </a:solidFill>
                        </a:rPr>
                        <a:t>        AutenticacionWS_Service service = new AutenticacionWS_Service();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chemeClr val="dk1"/>
                          </a:solidFill>
                        </a:rPr>
                        <a:t>        AutenticacionWS port = service.getAutenticacionWSPort();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chemeClr val="dk1"/>
                          </a:solidFill>
                        </a:rPr>
                        <a:t>        jakarta.xml.ws.BindingProvider binding = (jakarta.xml.ws.BindingProvider) port;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chemeClr val="dk1"/>
                          </a:solidFill>
                        </a:rPr>
                        <a:t>        binding.getRequestContext().put(jakarta.xml.ws.BindingProvider.ENDPOINT_ADDRESS_PROPERTY, endpoint);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C" sz="1100">
                        <a:solidFill>
                          <a:schemeClr val="dk1"/>
                        </a:solidFill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chemeClr val="dk1"/>
                          </a:solidFill>
                        </a:rPr>
                        <a:t>        Respuesta respuesta = port.login(usuario, clave);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6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53" name="Google Shape;553;p68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554" name="Google Shape;554;p68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  <p:graphicFrame>
        <p:nvGraphicFramePr>
          <p:cNvPr id="555" name="Google Shape;555;p68"/>
          <p:cNvGraphicFramePr/>
          <p:nvPr>
            <p:extLst>
              <p:ext uri="{D42A27DB-BD31-4B8C-83A1-F6EECF244321}">
                <p14:modId xmlns:p14="http://schemas.microsoft.com/office/powerpoint/2010/main" val="4069206928"/>
              </p:ext>
            </p:extLst>
          </p:nvPr>
        </p:nvGraphicFramePr>
        <p:xfrm>
          <a:off x="2332838" y="2136238"/>
          <a:ext cx="6484300" cy="40239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48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0239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chemeClr val="dk1"/>
                          </a:solidFill>
                        </a:rPr>
                        <a:t>new SwingWorker&lt;SesionUsuario, Void&gt;() {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chemeClr val="dk1"/>
                          </a:solidFill>
                        </a:rPr>
                        <a:t>            @Override protected SesionUsuario doInBackground() throws Exception {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chemeClr val="dk1"/>
                          </a:solidFill>
                        </a:rPr>
                        <a:t>                return autenticacion.iniciarSesion(usuario, clave);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chemeClr val="dk1"/>
                          </a:solidFill>
                        </a:rPr>
                        <a:t>            }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C" sz="1100">
                        <a:solidFill>
                          <a:schemeClr val="dk1"/>
                        </a:solidFill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chemeClr val="dk1"/>
                          </a:solidFill>
                        </a:rPr>
                        <a:t>            @Override protected void done() {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chemeClr val="dk1"/>
                          </a:solidFill>
                        </a:rPr>
                        <a:t>                vista.setProcesando(false);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chemeClr val="dk1"/>
                          </a:solidFill>
                        </a:rPr>
                        <a:t>                try {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chemeClr val="dk1"/>
                          </a:solidFill>
                        </a:rPr>
                        <a:t>                    SesionUsuario sesion = get();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chemeClr val="dk1"/>
                          </a:solidFill>
                        </a:rPr>
                        <a:t>                    MenuView menu = new MenuView(sesion);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chemeClr val="dk1"/>
                          </a:solidFill>
                        </a:rPr>
                        <a:t>                    new MenuController(menu);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chemeClr val="dk1"/>
                          </a:solidFill>
                        </a:rPr>
                        <a:t>                    vista.dispose();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1100">
                          <a:solidFill>
                            <a:schemeClr val="dk1"/>
                          </a:solidFill>
                        </a:rPr>
                        <a:t>                    menu.setVisible(true);</a:t>
                      </a:r>
                      <a:endParaRPr sz="1100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7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69" name="Google Shape;569;p70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dirty="0"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dirty="0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dirty="0"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dirty="0"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dirty="0"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 dirty="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dirty="0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dirty="0"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dirty="0"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 dirty="0"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dirty="0"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dirty="0"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dirty="0"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dirty="0"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dirty="0"/>
          </a:p>
        </p:txBody>
      </p:sp>
      <p:sp>
        <p:nvSpPr>
          <p:cNvPr id="571" name="Google Shape;571;p70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login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DE0BDF2-0D5D-9CB4-4B9A-EC179901AC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6180" y="2582765"/>
            <a:ext cx="6735097" cy="3573079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7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77" name="Google Shape;577;p71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578" name="Google Shape;578;p71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conversor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C4DF151-D432-D7F7-AD07-E9F728BBFF18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955800" y="2794000"/>
            <a:ext cx="5734050" cy="292354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7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85" name="Google Shape;585;p72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586" name="Google Shape;586;p72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catálogo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E61E0E9-3334-D6C8-9113-DEC25A0AFCB3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955800" y="2794000"/>
            <a:ext cx="5734050" cy="293497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3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3" name="Google Shape;303;p38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581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70332"/>
              <a:buFont typeface="Arial"/>
              <a:buNone/>
            </a:pPr>
            <a:r>
              <a:rPr lang="es-MX" sz="1564" b="1">
                <a:latin typeface="Cambria"/>
                <a:ea typeface="Cambria"/>
                <a:cs typeface="Cambria"/>
                <a:sym typeface="Cambria"/>
              </a:rPr>
              <a:t>1.5 	CREACIÓN DEL PROYECTO CLIENTE WEB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70332"/>
              <a:buFont typeface="Arial"/>
              <a:buNone/>
            </a:pP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2052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En NetBeans se crea un proyecto Java with Maven de tipo Web Application con el nombre WS_CON_UNI_JAVA_SOAP_CLIWEB, el Group Id ec.edu.monster, el servidor Payara y Jakarta EE 11 Web.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2046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Igual que en el escritorio, con New &gt; Web Service Client se agregan los dos WSDL y el plugin jaxws-maven-plugin genera las clases cliente en ec.edu.monster.servicio.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ct val="99162"/>
              <a:buNone/>
            </a:pP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" name="Google Shape;602;p74">
            <a:extLst>
              <a:ext uri="{FF2B5EF4-FFF2-40B4-BE49-F238E27FC236}">
                <a16:creationId xmlns:a16="http://schemas.microsoft.com/office/drawing/2014/main" id="{7CC866AA-A9AB-B3FD-D13F-23BE19DEF7A5}"/>
              </a:ext>
            </a:extLst>
          </p:cNvPr>
          <p:cNvSpPr/>
          <p:nvPr/>
        </p:nvSpPr>
        <p:spPr>
          <a:xfrm>
            <a:off x="9383649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17F0387-9146-5077-8E5E-F16638F714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8825" y="3872174"/>
            <a:ext cx="3625504" cy="2528951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678C4757-04E1-6184-F12F-0EB37910AF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122" y="3872174"/>
            <a:ext cx="3647920" cy="252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2227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3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2" name="Google Shape;312;p39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581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MX" sz="1564" b="1">
                <a:latin typeface="Cambria"/>
                <a:ea typeface="Cambria"/>
                <a:cs typeface="Cambria"/>
                <a:sym typeface="Cambria"/>
              </a:rPr>
              <a:t>1.5 	CREACIÓN DEL PROYECTO CLIENTE WEB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Se crean los paquetes ec.edu.monster.controlador (servlets), ec.edu.monster.modelo y ec.edu.monster.servicio, la carpeta WEB-INF/vista para las páginas JSP y la carpeta css para la hoja de estilos.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656"/>
              <a:buNone/>
            </a:pP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BF3CE21-B6C5-EC3C-9DF7-1DB1A3AB946E}"/>
              </a:ext>
            </a:extLst>
          </p:cNvPr>
          <p:cNvSpPr/>
          <p:nvPr/>
        </p:nvSpPr>
        <p:spPr>
          <a:xfrm>
            <a:off x="2668905" y="3950589"/>
            <a:ext cx="3743325" cy="2409825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[Insertar captura: paquetes y carpetas WEB-INF/vista y css del proyecto WS_CON_UNI_JAVA_SOAP_CLIWEB]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Google Shape;602;p74">
            <a:extLst>
              <a:ext uri="{FF2B5EF4-FFF2-40B4-BE49-F238E27FC236}">
                <a16:creationId xmlns:a16="http://schemas.microsoft.com/office/drawing/2014/main" id="{27573CE4-8302-AFD8-7152-370A169E6D85}"/>
              </a:ext>
            </a:extLst>
          </p:cNvPr>
          <p:cNvSpPr/>
          <p:nvPr/>
        </p:nvSpPr>
        <p:spPr>
          <a:xfrm>
            <a:off x="9383649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415A05E-C0B2-F182-8A0B-79E100BF27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9037" y="3840867"/>
            <a:ext cx="4363059" cy="2629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13252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p7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02" name="Google Shape;602;p74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603" name="Google Shape;603;p74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  <p:graphicFrame>
        <p:nvGraphicFramePr>
          <p:cNvPr id="604" name="Google Shape;604;p74"/>
          <p:cNvGraphicFramePr/>
          <p:nvPr>
            <p:extLst>
              <p:ext uri="{D42A27DB-BD31-4B8C-83A1-F6EECF244321}">
                <p14:modId xmlns:p14="http://schemas.microsoft.com/office/powerpoint/2010/main" val="3573961125"/>
              </p:ext>
            </p:extLst>
          </p:nvPr>
        </p:nvGraphicFramePr>
        <p:xfrm>
          <a:off x="2332838" y="2061838"/>
          <a:ext cx="6484300" cy="4465025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48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465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/** Las vistas que requieren sesión redirigen al login si no hay usuario autenticado. */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@WebFilter({"/menu", "/conversion", "/catalogo"})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class FiltroSesion extends HttpFilter 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C"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@Override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protected void doFilter(HttpServletRequest req, HttpServletResponse resp, FilterChain cadena)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throws IOException, ServletException 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HttpSession sesion = req.getSession(false);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if (sesion == null || sesion.getAttribute(ControladorBase.ATRIBUTO_SESION) == null) 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resp.sendRedirect(req.getContextPath() + "/login");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return;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}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cadena.doFilter(req, resp);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C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7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10" name="Google Shape;610;p75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611" name="Google Shape;611;p75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  <p:graphicFrame>
        <p:nvGraphicFramePr>
          <p:cNvPr id="612" name="Google Shape;612;p75"/>
          <p:cNvGraphicFramePr/>
          <p:nvPr>
            <p:extLst>
              <p:ext uri="{D42A27DB-BD31-4B8C-83A1-F6EECF244321}">
                <p14:modId xmlns:p14="http://schemas.microsoft.com/office/powerpoint/2010/main" val="2160126426"/>
              </p:ext>
            </p:extLst>
          </p:nvPr>
        </p:nvGraphicFramePr>
        <p:xfrm>
          <a:off x="2332825" y="1795025"/>
          <a:ext cx="6484300" cy="4465025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48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465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private void convertir(HttpServletRequest req, String token, Categoria categoria, Unidad origen, Unidad destino)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throws Exception 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if (categoria == null || origen == null || destino == null) 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mostrarEstado(req, "No hay categoría o unidades disponibles.", true);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return;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}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final double valor;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try 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valor = Double.parseDouble(req.getParameter("valor").trim().replace(',', '.'));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if (!Double.isFinite(valor)) throw new NumberFormatException();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} catch (NumberFormatException | NullPointerException ex) 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mostrarEstado(req, "Ingresa un valor numérico válido.", true);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return;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}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Respuesta respuesta = servicio.convertir(token, categoria.getCodigo(), valor,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origen.getCodigo(), destino.getCodigo());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if (respuesta.getResultado() == null) 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mostrarEstado(req, "El servidor no devolvió un resultado.", true);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return;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}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String resultado = formatear(respuesta.getResultado());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historial(req).add(0, new RegistroConversion(LocalDateTime.now().format(FORMATO_FECHA),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formatear(valor) + " " + origen.getSimbolo() + " → " + resultado + " " + destino.getSimbolo()));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mostrarEstado(req, "Resultado: " + resultado + " " + destino.getSimbolo(), false);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7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18" name="Google Shape;618;p76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620" name="Google Shape;620;p76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login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02C7D61-203B-43DA-9DA2-D9EFBCD60A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8697" y="2621219"/>
            <a:ext cx="7281724" cy="3671425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7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26" name="Google Shape;626;p77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627" name="Google Shape;627;p77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conversor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6A17A22-ED59-7095-C755-BC00CFF4CD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09" y="2610549"/>
            <a:ext cx="7565682" cy="3808765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7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34" name="Google Shape;634;p78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635" name="Google Shape;635;p78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catálogo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FC5F6A7-9B66-49B9-0E31-75C96A1744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126" y="2763042"/>
            <a:ext cx="6879648" cy="3474277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3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3" name="Google Shape;303;p38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581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70332"/>
              <a:buFont typeface="Arial"/>
              <a:buNone/>
            </a:pPr>
            <a:r>
              <a:rPr lang="es-MX" sz="1564" b="1">
                <a:latin typeface="Cambria"/>
                <a:ea typeface="Cambria"/>
                <a:cs typeface="Cambria"/>
                <a:sym typeface="Cambria"/>
              </a:rPr>
              <a:t>1.6 	CREACIÓN DEL PROYECTO CLIENTE MÓVIL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70332"/>
              <a:buFont typeface="Arial"/>
              <a:buNone/>
            </a:pP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2052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En Android Studio se selecciona File &gt; New &gt; New Project y la plantilla Empty Activity, que utiliza Jetpack Compose.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2046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Se configura el nombre ConUni_ClienteMovil_GR3, el paquete ec.edu.monster, el SDK mínimo API 24 y Kotlin DSL (build.gradle.kts) para la compilación.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ct val="99162"/>
              <a:buNone/>
            </a:pP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" name="Google Shape;653;p80">
            <a:extLst>
              <a:ext uri="{FF2B5EF4-FFF2-40B4-BE49-F238E27FC236}">
                <a16:creationId xmlns:a16="http://schemas.microsoft.com/office/drawing/2014/main" id="{EF7896BA-4D91-E7F6-7BBA-77B96C680E52}"/>
              </a:ext>
            </a:extLst>
          </p:cNvPr>
          <p:cNvSpPr/>
          <p:nvPr/>
        </p:nvSpPr>
        <p:spPr>
          <a:xfrm>
            <a:off x="9383649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rgbClr val="FFFF00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923064EC-945B-9097-2AF1-2A02CFD4A2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378" y="3844648"/>
            <a:ext cx="3468467" cy="2593594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375F6BCB-02B4-1701-688C-A3818717D1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4688" y="3844648"/>
            <a:ext cx="4655169" cy="2593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2979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3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2" name="Google Shape;312;p39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581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MX" sz="1564" b="1">
                <a:latin typeface="Cambria"/>
                <a:ea typeface="Cambria"/>
                <a:cs typeface="Cambria"/>
                <a:sym typeface="Cambria"/>
              </a:rPr>
              <a:t>1.6 	CREACIÓN DEL PROYECTO CLIENTE MÓVIL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Dentro de ec.edu.monster se crean los paquetes del patrón MVC: modelo, servicio y controlador en Java, y vista con las pantallas en Kotlin y Jetpack Compose.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656"/>
              <a:buNone/>
            </a:pP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" name="Google Shape;653;p80">
            <a:extLst>
              <a:ext uri="{FF2B5EF4-FFF2-40B4-BE49-F238E27FC236}">
                <a16:creationId xmlns:a16="http://schemas.microsoft.com/office/drawing/2014/main" id="{6EFF0863-DD8D-55CB-DE9E-3F43F27B61EB}"/>
              </a:ext>
            </a:extLst>
          </p:cNvPr>
          <p:cNvSpPr/>
          <p:nvPr/>
        </p:nvSpPr>
        <p:spPr>
          <a:xfrm>
            <a:off x="9383649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rgbClr val="FFFF00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B667F71-A5ED-C337-685C-01BCD3A7E06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4722"/>
          <a:stretch/>
        </p:blipFill>
        <p:spPr>
          <a:xfrm>
            <a:off x="3127710" y="3640860"/>
            <a:ext cx="2808300" cy="2930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7746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51" name="Google Shape;651;p80"/>
          <p:cNvGraphicFramePr/>
          <p:nvPr>
            <p:extLst>
              <p:ext uri="{D42A27DB-BD31-4B8C-83A1-F6EECF244321}">
                <p14:modId xmlns:p14="http://schemas.microsoft.com/office/powerpoint/2010/main" val="1948563579"/>
              </p:ext>
            </p:extLst>
          </p:nvPr>
        </p:nvGraphicFramePr>
        <p:xfrm>
          <a:off x="2332838" y="2061638"/>
          <a:ext cx="6484300" cy="44930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48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493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private static String construirSobre(String operacion, String token, String parametros) 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StringBuilder sobre = new StringBuilder()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.append("&lt;soapenv:Envelope xmlns:soapenv=\"http://schemas.xmlsoap.org/soap/envelope/\"")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.append(" xmlns:ws=\"").append(ESPACIO_NOMBRES).append("\"&gt;");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if (token != null) 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sobre.append("&lt;soapenv:Header&gt;&lt;ws:token&gt;").append(escapar(token)).append("&lt;/ws:token&gt;&lt;/soapenv:Header&gt;");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}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sobre.append("&lt;soapenv:Body&gt;&lt;ws:").append(operacion).append('&gt;')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.append(parametros == null ? "" : parametros)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.append("&lt;/ws:").append(operacion).append("&gt;&lt;/soapenv:Body&gt;&lt;/soapenv:Envelope&gt;")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.toString();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52" name="Google Shape;652;p8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53" name="Google Shape;653;p8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rgbClr val="FFFF00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654" name="Google Shape;654;p80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59" name="Google Shape;659;p81"/>
          <p:cNvGraphicFramePr/>
          <p:nvPr>
            <p:extLst>
              <p:ext uri="{D42A27DB-BD31-4B8C-83A1-F6EECF244321}">
                <p14:modId xmlns:p14="http://schemas.microsoft.com/office/powerpoint/2010/main" val="729514929"/>
              </p:ext>
            </p:extLst>
          </p:nvPr>
        </p:nvGraphicFramePr>
        <p:xfrm>
          <a:off x="2332825" y="1795025"/>
          <a:ext cx="6484300" cy="43180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48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18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android 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// Mismo paquete base que los clientes de consola y escritorio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namespace = "ec.edu.monster"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compileSdk 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version = release(37)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defaultConfig 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applicationId = "ec.edu.monster.cliente_movil"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minSdk = 24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targetSdk = 37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versionCode = 1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versionName = "1.0"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// URL del servidor SOAP: se cambia en gradle.properties (servidor.url)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val urlServidor = providers.gradleProperty("servidor.url")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.getOrElse("http://10.0.2.2:8080/WS_CON_UNI_JAVA_SOAP")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buildConfigField("String", "URL_SERVIDOR", "\"$urlServidor\"")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60" name="Google Shape;660;p8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61" name="Google Shape;661;p8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rgbClr val="FFFF00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662" name="Google Shape;662;p81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p8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68" name="Google Shape;668;p82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rgbClr val="FFFF00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669" name="Google Shape;669;p82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login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5ED9350-E67D-1C0D-667E-4283A511A9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1127" y="1907015"/>
            <a:ext cx="2185045" cy="4774173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8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76" name="Google Shape;676;p83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rgbClr val="FFFF00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677" name="Google Shape;677;p83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conversor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F81933B-D4B2-28CA-759D-6AC55CD49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231" y="1868297"/>
            <a:ext cx="2210037" cy="4826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p8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84" name="Google Shape;684;p84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rgbClr val="FFFF00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685" name="Google Shape;685;p84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catálogo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30B6DF7-5FA5-1C56-FC7B-FF0E28E26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816" y="1858850"/>
            <a:ext cx="2248867" cy="4835447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8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692" name="Google Shape;692;p85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MX" sz="1900">
                <a:latin typeface="Cambria"/>
                <a:ea typeface="Cambria"/>
                <a:cs typeface="Cambria"/>
                <a:sym typeface="Cambria"/>
              </a:rPr>
              <a:t>El proyecto implementó un backend SOAP en Java sin base de datos, desplegado en Payara Server con JAX-WS, que ofrece la consulta de seis categorías y la conversión de longitud, masa y temperatura, protegiendo el catálogo y las conversiones con token. Los cuatro clientes consumen el mismo contrato WSDL con técnicas distintas: la consola, el escritorio y la web usan JAX-WS (Metro), mientras que la aplicación Android arma y lee los sobres SOAP directamente, lo que confirma la interoperabilidad del servicio y mantiene centralizadas en el servidor las reglas y los cálculos.</a:t>
            </a:r>
            <a:endParaRPr sz="1900"/>
          </a:p>
        </p:txBody>
      </p:sp>
      <p:sp>
        <p:nvSpPr>
          <p:cNvPr id="693" name="Google Shape;693;p8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p8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699" name="Google Shape;699;p86"/>
          <p:cNvSpPr txBox="1">
            <a:spLocks noGrp="1"/>
          </p:cNvSpPr>
          <p:nvPr>
            <p:ph type="body" idx="1"/>
          </p:nvPr>
        </p:nvSpPr>
        <p:spPr>
          <a:xfrm>
            <a:off x="581200" y="2025325"/>
            <a:ext cx="8500800" cy="42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900">
                <a:latin typeface="Cambria"/>
                <a:ea typeface="Cambria"/>
                <a:cs typeface="Cambria"/>
                <a:sym typeface="Cambria"/>
              </a:rPr>
              <a:t>Verificar la dirección del servidor configurada en cada cliente antes de ejecutarlo: ws.base.url o WS_BASE_URL en la consola, monster.soap.baseUrl en el escritorio y la web, y servidor.url en el cliente móvil.</a:t>
            </a:r>
            <a:endParaRPr sz="190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90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900">
                <a:latin typeface="Cambria"/>
                <a:ea typeface="Cambria"/>
                <a:cs typeface="Cambria"/>
                <a:sym typeface="Cambria"/>
              </a:rPr>
              <a:t>Mantener sincronizados el contrato WSDL y los cuatro clientes cuando cambien operaciones o parámetros, e implementar en una segunda fase las conversiones de volumen, tiempo y área, que por ahora solo están disponibles para consulta.</a:t>
            </a: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 </a:t>
            </a:r>
            <a:endParaRPr sz="190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 </a:t>
            </a:r>
            <a:endParaRPr sz="190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900">
                <a:latin typeface="Cambria"/>
                <a:ea typeface="Cambria"/>
                <a:cs typeface="Cambria"/>
                <a:sym typeface="Cambria"/>
              </a:rPr>
              <a:t>Considerar como trabajo futuro la persistencia y el refuerzo de seguridad, y publicar el servicio mediante HTTPS en un entorno productivo; el cliente móvil solo admite HTTP hacia direcciones locales durante el desarrollo.</a:t>
            </a:r>
            <a:endParaRPr sz="19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00" name="Google Shape;700;p8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5641</Words>
  <Application>Microsoft Office PowerPoint</Application>
  <PresentationFormat>Panorámica</PresentationFormat>
  <Paragraphs>982</Paragraphs>
  <Slides>50</Slides>
  <Notes>50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50</vt:i4>
      </vt:variant>
    </vt:vector>
  </HeadingPairs>
  <TitlesOfParts>
    <vt:vector size="56" baseType="lpstr">
      <vt:lpstr>Calibri</vt:lpstr>
      <vt:lpstr>Arial</vt:lpstr>
      <vt:lpstr>Noto Sans Symbols</vt:lpstr>
      <vt:lpstr>Gill Sans</vt:lpstr>
      <vt:lpstr>Cambria</vt:lpstr>
      <vt:lpstr>Dividendo</vt:lpstr>
      <vt:lpstr>MANUAL CONVERSIÓN UNIDADES SOAP JAVA</vt:lpstr>
      <vt:lpstr>Presentación de PowerPoint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revil</dc:creator>
  <cp:lastModifiedBy>Antonio Revilla</cp:lastModifiedBy>
  <cp:revision>13</cp:revision>
  <dcterms:modified xsi:type="dcterms:W3CDTF">2026-10-28T23:20:09Z</dcterms:modified>
</cp:coreProperties>
</file>