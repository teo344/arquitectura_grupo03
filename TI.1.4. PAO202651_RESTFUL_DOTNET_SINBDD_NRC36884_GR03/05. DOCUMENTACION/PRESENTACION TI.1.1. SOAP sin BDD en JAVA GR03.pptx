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6858000" cx="12192000"/>
  <p:notesSz cx="6858000" cy="9144000"/>
  <p:embeddedFontLst>
    <p:embeddedFont>
      <p:font typeface="Gill Sans"/>
      <p:regular r:id="rId80"/>
      <p:bold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136021-7255-42B7-A7E7-87A8D8FFE9CA}">
  <a:tblStyle styleId="{BF136021-7255-42B7-A7E7-87A8D8FFE9C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GillSans-regular.fntdata"/><Relationship Id="rId81" Type="http://schemas.openxmlformats.org/officeDocument/2006/relationships/font" Target="fonts/Gill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8526227be_0_4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a8526227be_0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8526227be_0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a8526227be_0_4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8526227be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a8526227be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8526227be_0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a8526227be_0_4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8526227be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g3a8526227be_0_4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8526227be_0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3a8526227be_0_4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526227be_0_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a8526227be_0_4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8526227be_0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a8526227be_0_4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8526227be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a8526227be_0_4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8526227be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a8526227be_0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8526227be_0_4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a8526227be_0_4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526227be_0_5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a8526227be_0_5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8526227be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a8526227be_0_5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8526227be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a8526227be_0_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8526227be_0_5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3a8526227be_0_5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8526227be_0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3a8526227be_0_5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8526227be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a8526227be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8526227be_0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a8526227be_0_5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8526227be_0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a8526227be_0_5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8526227be_0_5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a8526227be_0_5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8526227be_0_5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a8526227be_0_5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8526227be_0_5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a8526227be_0_5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8526227be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a8526227be_0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8526227be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a8526227be_0_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854632a9a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a854632a9a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854632a9a_2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3a854632a9a_2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854632a9a_2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a854632a9a_2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854632a9a_2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a854632a9a_2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854632a9a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3a854632a9a_2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854632a9a_2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g3a854632a9a_2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854632a9a_2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a854632a9a_2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a854632a9a_2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g3a854632a9a_2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8526227be_0_5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g3a8526227be_0_5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854632a9a_2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a854632a9a_2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854632a9a_2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3a854632a9a_2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854632a9a_2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g3a854632a9a_2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854632a9a_2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g3a854632a9a_2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a854632a9a_2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g3a854632a9a_2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a854632a9a_2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g3a854632a9a_2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a854632a9a_2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6" name="Google Shape;436;g3a854632a9a_2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854632a9a_2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a854632a9a_2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854632a9a_2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g3a854632a9a_2_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854632a9a_2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g3a854632a9a_2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854632a9a_2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a854632a9a_2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a854632a9a_2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a854632a9a_2_3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a854632a9a_2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g3a854632a9a_2_3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a854632a9a_2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g3a854632a9a_2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a854632a9a_2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3a854632a9a_2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854632a9a_2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g3a854632a9a_2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a854632a9a_2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3a854632a9a_2_3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854632a9a_2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g3a854632a9a_2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a854632a9a_2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g3a854632a9a_2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a854632a9a_2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g3a854632a9a_2_2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854632a9a_2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0" name="Google Shape;550;g3a854632a9a_2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854632a9a_2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g3a854632a9a_2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854632a9a_2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g3a854632a9a_2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854632a9a_2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g3a854632a9a_2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854632a9a_2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g3a854632a9a_2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854632a9a_2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0" name="Google Shape;590;g3a854632a9a_2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a854632a9a_2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9" name="Google Shape;599;g3a854632a9a_2_2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a854632a9a_2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7" name="Google Shape;607;g3a854632a9a_2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854632a9a_2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g3a854632a9a_2_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854632a9a_2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3" name="Google Shape;623;g3a854632a9a_2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854632a9a_2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1" name="Google Shape;631;g3a854632a9a_2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8526227be_0_6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9" name="Google Shape;639;g3a8526227be_0_6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854632a9a_2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9" name="Google Shape;649;g3a854632a9a_2_3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854632a9a_2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7" name="Google Shape;657;g3a854632a9a_2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a854632a9a_2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5" name="Google Shape;665;g3a854632a9a_2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a854632a9a_2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g3a854632a9a_2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a854632a9a_2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1" name="Google Shape;681;g3a854632a9a_2_3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a8526227be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g3a8526227be_0_6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8526227be_0_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6" name="Google Shape;696;g3a8526227be_0_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4"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18" name="Google Shape;18;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25" name="Google Shape;25;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32" name="Google Shape;32;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9" name="Google Shape;39;p5"/>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0" name="Google Shape;40;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7" name="Google Shape;47;p6"/>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8" name="Google Shape;48;p6"/>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9" name="Google Shape;49;p6"/>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0" name="Google Shape;50;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D58AC"/>
              </a:buClr>
              <a:buSzPts val="2000"/>
              <a:buFont typeface="Gill Sans"/>
              <a:buNone/>
              <a:defRPr b="0" sz="200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lnSpc>
                <a:spcPct val="100000"/>
              </a:lnSpc>
              <a:spcBef>
                <a:spcPts val="400"/>
              </a:spcBef>
              <a:spcAft>
                <a:spcPts val="0"/>
              </a:spcAft>
              <a:buSzPts val="1840"/>
              <a:buChar char="◼"/>
              <a:defRPr sz="2000">
                <a:solidFill>
                  <a:schemeClr val="dk2"/>
                </a:solidFill>
              </a:defRPr>
            </a:lvl1pPr>
            <a:lvl2pPr indent="-333756" lvl="1" marL="914400" algn="l">
              <a:lnSpc>
                <a:spcPct val="100000"/>
              </a:lnSpc>
              <a:spcBef>
                <a:spcPts val="600"/>
              </a:spcBef>
              <a:spcAft>
                <a:spcPts val="0"/>
              </a:spcAft>
              <a:buSzPts val="1656"/>
              <a:buChar char="◼"/>
              <a:defRPr sz="1800">
                <a:solidFill>
                  <a:schemeClr val="dk2"/>
                </a:solidFill>
              </a:defRPr>
            </a:lvl2pPr>
            <a:lvl3pPr indent="-322072" lvl="2" marL="1371600" algn="l">
              <a:lnSpc>
                <a:spcPct val="100000"/>
              </a:lnSpc>
              <a:spcBef>
                <a:spcPts val="600"/>
              </a:spcBef>
              <a:spcAft>
                <a:spcPts val="0"/>
              </a:spcAft>
              <a:buSzPts val="1472"/>
              <a:buChar char="◼"/>
              <a:defRPr sz="1600">
                <a:solidFill>
                  <a:schemeClr val="dk2"/>
                </a:solidFill>
              </a:defRPr>
            </a:lvl3pPr>
            <a:lvl4pPr indent="-310388" lvl="3" marL="1828800" algn="l">
              <a:lnSpc>
                <a:spcPct val="100000"/>
              </a:lnSpc>
              <a:spcBef>
                <a:spcPts val="600"/>
              </a:spcBef>
              <a:spcAft>
                <a:spcPts val="0"/>
              </a:spcAft>
              <a:buSzPts val="1288"/>
              <a:buChar char="◼"/>
              <a:defRPr sz="1400">
                <a:solidFill>
                  <a:schemeClr val="dk2"/>
                </a:solidFill>
              </a:defRPr>
            </a:lvl4pPr>
            <a:lvl5pPr indent="-310388" lvl="4" marL="2286000" algn="l">
              <a:lnSpc>
                <a:spcPct val="100000"/>
              </a:lnSpc>
              <a:spcBef>
                <a:spcPts val="600"/>
              </a:spcBef>
              <a:spcAft>
                <a:spcPts val="0"/>
              </a:spcAft>
              <a:buSzPts val="1288"/>
              <a:buChar char="◼"/>
              <a:defRPr sz="14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67" name="Google Shape;67;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220"/>
              </a:spcBef>
              <a:spcAft>
                <a:spcPts val="0"/>
              </a:spcAft>
              <a:buSzPts val="1012"/>
              <a:buNone/>
              <a:defRPr sz="11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68" name="Google Shape;68;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Gill Sans"/>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p:nvPr>
            <p:ph idx="2" type="pic"/>
          </p:nvPr>
        </p:nvSpPr>
        <p:spPr>
          <a:xfrm>
            <a:off x="447817" y="599725"/>
            <a:ext cx="11290859" cy="3557252"/>
          </a:xfrm>
          <a:prstGeom prst="rect">
            <a:avLst/>
          </a:prstGeom>
          <a:noFill/>
          <a:ln>
            <a:noFill/>
          </a:ln>
        </p:spPr>
      </p:sp>
      <p:sp>
        <p:nvSpPr>
          <p:cNvPr id="74" name="Google Shape;74;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104"/>
              <a:buNone/>
              <a:defRPr sz="12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5" name="Google Shape;75;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8"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22072" lvl="1" marL="914400" algn="l">
              <a:lnSpc>
                <a:spcPct val="100000"/>
              </a:lnSpc>
              <a:spcBef>
                <a:spcPts val="600"/>
              </a:spcBef>
              <a:spcAft>
                <a:spcPts val="0"/>
              </a:spcAft>
              <a:buSzPts val="1472"/>
              <a:buChar char="◼"/>
              <a:defRPr/>
            </a:lvl2pPr>
            <a:lvl3pPr indent="-310388" lvl="2" marL="1371600" algn="l">
              <a:lnSpc>
                <a:spcPct val="100000"/>
              </a:lnSpc>
              <a:spcBef>
                <a:spcPts val="600"/>
              </a:spcBef>
              <a:spcAft>
                <a:spcPts val="0"/>
              </a:spcAft>
              <a:buSzPts val="1288"/>
              <a:buChar char="◼"/>
              <a:defRPr/>
            </a:lvl3pPr>
            <a:lvl4pPr indent="-298704" lvl="3" marL="1828800" algn="l">
              <a:lnSpc>
                <a:spcPct val="100000"/>
              </a:lnSpc>
              <a:spcBef>
                <a:spcPts val="600"/>
              </a:spcBef>
              <a:spcAft>
                <a:spcPts val="0"/>
              </a:spcAft>
              <a:buSzPts val="1104"/>
              <a:buChar char="◼"/>
              <a:defRPr/>
            </a:lvl4pPr>
            <a:lvl5pPr indent="-298704" lvl="4" marL="2286000" algn="l">
              <a:lnSpc>
                <a:spcPct val="100000"/>
              </a:lnSpc>
              <a:spcBef>
                <a:spcPts val="600"/>
              </a:spcBef>
              <a:spcAft>
                <a:spcPts val="0"/>
              </a:spcAft>
              <a:buSzPts val="1104"/>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2" name="Google Shape;82;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9" name="Google Shape;89;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4"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4"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4"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8" name="Google Shape;8;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9" name="Google Shape;9;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0" name="Google Shape;10;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ec.edu" TargetMode="External"/><Relationship Id="rId4" Type="http://schemas.openxmlformats.org/officeDocument/2006/relationships/image" Target="../media/image8.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599226" y="3158569"/>
            <a:ext cx="10993549" cy="1578409"/>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CONVERSIÓN UNIDADES </a:t>
            </a:r>
            <a:r>
              <a:rPr lang="es-ES">
                <a:solidFill>
                  <a:schemeClr val="lt1"/>
                </a:solidFill>
              </a:rPr>
              <a:t>SOAP JAVA</a:t>
            </a:r>
            <a:endParaRPr/>
          </a:p>
        </p:txBody>
      </p:sp>
      <p:sp>
        <p:nvSpPr>
          <p:cNvPr id="97" name="Google Shape;97;p13"/>
          <p:cNvSpPr txBox="1"/>
          <p:nvPr>
            <p:ph idx="1" type="subTitle"/>
          </p:nvPr>
        </p:nvSpPr>
        <p:spPr>
          <a:xfrm>
            <a:off x="599226" y="4572000"/>
            <a:ext cx="4261531" cy="181275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72"/>
              <a:buNone/>
            </a:pPr>
            <a:r>
              <a:t/>
            </a:r>
            <a:endParaRPr b="1">
              <a:solidFill>
                <a:schemeClr val="lt1"/>
              </a:solidFill>
            </a:endParaRPr>
          </a:p>
          <a:p>
            <a:pPr indent="0" lvl="0" marL="0" rtl="0" algn="l">
              <a:lnSpc>
                <a:spcPct val="100000"/>
              </a:lnSpc>
              <a:spcBef>
                <a:spcPts val="920"/>
              </a:spcBef>
              <a:spcAft>
                <a:spcPts val="0"/>
              </a:spcAft>
              <a:buSzPts val="1472"/>
              <a:buNone/>
            </a:pPr>
            <a:r>
              <a:rPr b="1" lang="es-ES">
                <a:solidFill>
                  <a:schemeClr val="lt1"/>
                </a:solidFill>
              </a:rPr>
              <a:t>INTEGRANTES:</a:t>
            </a:r>
            <a:r>
              <a:rPr lang="es-ES">
                <a:solidFill>
                  <a:schemeClr val="lt1"/>
                </a:solidFill>
              </a:rPr>
              <a:t> 	BENAVIDES RUBEN					GUEVARA ARIEL			         	MUNARCO JHON</a:t>
            </a:r>
            <a:endParaRPr>
              <a:solidFill>
                <a:schemeClr val="lt1"/>
              </a:solidFill>
            </a:endParaRPr>
          </a:p>
        </p:txBody>
      </p:sp>
      <p:pic>
        <p:nvPicPr>
          <p:cNvPr descr="Resultado de imagen para espe" id="98" name="Google Shape;98;p13"/>
          <p:cNvPicPr preferRelativeResize="0"/>
          <p:nvPr/>
        </p:nvPicPr>
        <p:blipFill rotWithShape="1">
          <a:blip r:embed="rId3">
            <a:alphaModFix/>
          </a:blip>
          <a:srcRect b="0" l="0" r="0" t="0"/>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FECHA:  </a:t>
            </a:r>
            <a:r>
              <a:rPr b="1" lang="es-ES" sz="1600">
                <a:solidFill>
                  <a:srgbClr val="FFFFFF"/>
                </a:solidFill>
                <a:latin typeface="Gill Sans"/>
                <a:ea typeface="Gill Sans"/>
                <a:cs typeface="Gill Sans"/>
                <a:sym typeface="Gill Sans"/>
              </a:rPr>
              <a:t>13/05/2025</a:t>
            </a:r>
            <a:endParaRPr b="0" i="0" sz="1600" u="none" cap="none" strike="noStrike">
              <a:solidFill>
                <a:srgbClr val="FFFFFF"/>
              </a:solidFill>
              <a:latin typeface="Gill Sans"/>
              <a:ea typeface="Gill Sans"/>
              <a:cs typeface="Gill Sans"/>
              <a:sym typeface="Gill Sans"/>
            </a:endParaRPr>
          </a:p>
          <a:p>
            <a:pPr indent="0" lvl="0" marL="0" marR="0" rtl="0" algn="l">
              <a:lnSpc>
                <a:spcPct val="100000"/>
              </a:lnSpc>
              <a:spcBef>
                <a:spcPts val="92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ING: </a:t>
            </a:r>
            <a:r>
              <a:rPr b="0" i="0" lang="es-ES" sz="1600" u="none" cap="none" strike="noStrike">
                <a:solidFill>
                  <a:srgbClr val="FFFFFF"/>
                </a:solidFill>
                <a:latin typeface="Gill Sans"/>
                <a:ea typeface="Gill Sans"/>
                <a:cs typeface="Gill Sans"/>
                <a:sym typeface="Gill Sans"/>
              </a:rPr>
              <a:t>CAMPAÑA MAURICIO</a:t>
            </a:r>
            <a:endParaRPr b="1" i="0" sz="1600" u="none" cap="none" strike="noStrike">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7" name="Google Shape;107;p14"/>
          <p:cNvSpPr txBox="1"/>
          <p:nvPr>
            <p:ph idx="1" type="body"/>
          </p:nvPr>
        </p:nvSpPr>
        <p:spPr>
          <a:xfrm>
            <a:off x="596348" y="701336"/>
            <a:ext cx="3389726" cy="5424255"/>
          </a:xfrm>
          <a:prstGeom prst="rect">
            <a:avLst/>
          </a:prstGeom>
          <a:noFill/>
          <a:ln>
            <a:noFill/>
          </a:ln>
        </p:spPr>
        <p:txBody>
          <a:bodyPr anchorCtr="0" anchor="ctr" bIns="45700" lIns="91425" spcFirstLastPara="1" rIns="91425" wrap="square" tIns="45700">
            <a:normAutofit lnSpcReduction="10000"/>
          </a:bodyPr>
          <a:lstStyle/>
          <a:p>
            <a:pPr indent="-306000" lvl="0" marL="306000" rtl="0" algn="l">
              <a:lnSpc>
                <a:spcPct val="100000"/>
              </a:lnSpc>
              <a:spcBef>
                <a:spcPts val="0"/>
              </a:spcBef>
              <a:spcAft>
                <a:spcPts val="0"/>
              </a:spcAft>
              <a:buSzPts val="1656"/>
              <a:buChar char="◼"/>
            </a:pPr>
            <a:r>
              <a:rPr lang="es-ES">
                <a:solidFill>
                  <a:schemeClr val="lt1"/>
                </a:solidFill>
              </a:rPr>
              <a:t>DESARROLLO</a:t>
            </a:r>
            <a:endParaRPr/>
          </a:p>
          <a:p>
            <a:pPr indent="-320020" lvl="1" marL="630000" rtl="0" algn="l">
              <a:lnSpc>
                <a:spcPct val="100000"/>
              </a:lnSpc>
              <a:spcBef>
                <a:spcPts val="872"/>
              </a:spcBef>
              <a:spcAft>
                <a:spcPts val="0"/>
              </a:spcAft>
              <a:buSzPts val="1472"/>
              <a:buChar char="◼"/>
            </a:pPr>
            <a:r>
              <a:rPr lang="es-ES">
                <a:solidFill>
                  <a:schemeClr val="lt1"/>
                </a:solidFill>
              </a:rPr>
              <a:t>OBJETIVO</a:t>
            </a:r>
            <a:endParaRPr/>
          </a:p>
          <a:p>
            <a:pPr indent="-320020" lvl="1" marL="630000" rtl="0" algn="l">
              <a:lnSpc>
                <a:spcPct val="100000"/>
              </a:lnSpc>
              <a:spcBef>
                <a:spcPts val="872"/>
              </a:spcBef>
              <a:spcAft>
                <a:spcPts val="0"/>
              </a:spcAft>
              <a:buSzPts val="1472"/>
              <a:buChar char="◼"/>
            </a:pPr>
            <a:r>
              <a:rPr lang="es-ES">
                <a:solidFill>
                  <a:schemeClr val="lt1"/>
                </a:solidFill>
              </a:rPr>
              <a:t>CREACIÓN DEL SERVIDOR SOAP EN JAVA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CONSOLA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ESCRITORIO</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WEB</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MÓVIL</a:t>
            </a:r>
            <a:endParaRPr/>
          </a:p>
          <a:p>
            <a:pPr indent="-306000" lvl="0" marL="306000" marR="0" rtl="0" algn="l">
              <a:lnSpc>
                <a:spcPct val="100000"/>
              </a:lnSpc>
              <a:spcBef>
                <a:spcPts val="906"/>
              </a:spcBef>
              <a:spcAft>
                <a:spcPts val="0"/>
              </a:spcAft>
              <a:buSzPts val="1656"/>
              <a:buChar char="◼"/>
            </a:pPr>
            <a:r>
              <a:rPr lang="es-ES">
                <a:solidFill>
                  <a:schemeClr val="lt1"/>
                </a:solidFill>
              </a:rPr>
              <a:t>CONCLUSIONES</a:t>
            </a:r>
            <a:endParaRPr/>
          </a:p>
          <a:p>
            <a:pPr indent="-306000" lvl="0" marL="306000" marR="0" rtl="0" algn="l">
              <a:lnSpc>
                <a:spcPct val="100000"/>
              </a:lnSpc>
              <a:spcBef>
                <a:spcPts val="906"/>
              </a:spcBef>
              <a:spcAft>
                <a:spcPts val="0"/>
              </a:spcAft>
              <a:buSzPts val="1656"/>
              <a:buChar char="◼"/>
            </a:pPr>
            <a:r>
              <a:rPr lang="es-ES">
                <a:solidFill>
                  <a:schemeClr val="lt1"/>
                </a:solidFill>
              </a:rPr>
              <a:t>RECOMENDACIONES</a:t>
            </a:r>
            <a:endParaRPr/>
          </a:p>
        </p:txBody>
      </p:sp>
      <p:pic>
        <p:nvPicPr>
          <p:cNvPr descr="Resultado de imagen para AGENDA PNG" id="108" name="Google Shape;108;p14"/>
          <p:cNvPicPr preferRelativeResize="0"/>
          <p:nvPr/>
        </p:nvPicPr>
        <p:blipFill rotWithShape="1">
          <a:blip r:embed="rId3">
            <a:alphaModFix/>
          </a:blip>
          <a:srcRect b="0" l="0" r="0" t="0"/>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Char char="∙"/>
            </a:pPr>
            <a:r>
              <a:rPr b="1" lang="es-ES">
                <a:latin typeface="Cambria"/>
                <a:ea typeface="Cambria"/>
                <a:cs typeface="Cambria"/>
                <a:sym typeface="Cambria"/>
              </a:rPr>
              <a:t>1</a:t>
            </a:r>
            <a:r>
              <a:rPr b="1" lang="es-ES" sz="1800">
                <a:latin typeface="Cambria"/>
                <a:ea typeface="Cambria"/>
                <a:cs typeface="Cambria"/>
                <a:sym typeface="Cambria"/>
              </a:rPr>
              <a:t>.1	OBJETIVO</a:t>
            </a:r>
            <a:endParaRPr b="1"/>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SOAP mediante JAVA para realizar conversiones de unidades.</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OBJETIVO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1" i="0" sz="1200" u="none" cap="none" strike="noStrike">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1.2.1 	Servidor Payara</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NetBeans 29, en la sección de Servicios se crea un servidor, específicamente Payara.</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24" name="Google Shape;124;p16"/>
          <p:cNvPicPr preferRelativeResize="0"/>
          <p:nvPr/>
        </p:nvPicPr>
        <p:blipFill>
          <a:blip r:embed="rId3">
            <a:alphaModFix/>
          </a:blip>
          <a:stretch>
            <a:fillRect/>
          </a:stretch>
        </p:blipFill>
        <p:spPr>
          <a:xfrm>
            <a:off x="2594613" y="3539075"/>
            <a:ext cx="4562475" cy="314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p:nvPr>
            <p:ph idx="1" type="body"/>
          </p:nvPr>
        </p:nvSpPr>
        <p:spPr>
          <a:xfrm>
            <a:off x="581200" y="1781575"/>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la versión 7.2026.4, se aceptan los términos de condiciones y se selecciona un directorio donde instalar el servidor.</a:t>
            </a: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32" name="Google Shape;132;p17"/>
          <p:cNvPicPr preferRelativeResize="0"/>
          <p:nvPr/>
        </p:nvPicPr>
        <p:blipFill>
          <a:blip r:embed="rId3">
            <a:alphaModFix/>
          </a:blip>
          <a:stretch>
            <a:fillRect/>
          </a:stretch>
        </p:blipFill>
        <p:spPr>
          <a:xfrm>
            <a:off x="2542225" y="3200392"/>
            <a:ext cx="4667250" cy="325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p:nvPr>
            <p:ph idx="1" type="body"/>
          </p:nvPr>
        </p:nvSpPr>
        <p:spPr>
          <a:xfrm>
            <a:off x="581192" y="2180497"/>
            <a:ext cx="8589300" cy="1248600"/>
          </a:xfrm>
          <a:prstGeom prst="rect">
            <a:avLst/>
          </a:prstGeom>
          <a:noFill/>
          <a:ln>
            <a:noFill/>
          </a:ln>
        </p:spPr>
        <p:txBody>
          <a:bodyPr anchorCtr="0" anchor="ctr" bIns="45700" lIns="91425" spcFirstLastPara="1" rIns="91425" wrap="square" tIns="45700">
            <a:normAutofit/>
          </a:bodyPr>
          <a:lstStyle/>
          <a:p>
            <a:pPr indent="-333756" lvl="0" marL="457200" rtl="0" algn="just">
              <a:lnSpc>
                <a:spcPct val="107000"/>
              </a:lnSpc>
              <a:spcBef>
                <a:spcPts val="0"/>
              </a:spcBef>
              <a:spcAft>
                <a:spcPts val="0"/>
              </a:spcAft>
              <a:buSzPts val="1656"/>
              <a:buChar char="∙"/>
            </a:pPr>
            <a:r>
              <a:rPr lang="es-ES" sz="1300">
                <a:latin typeface="Cambria"/>
                <a:ea typeface="Cambria"/>
                <a:cs typeface="Cambria"/>
                <a:sym typeface="Cambria"/>
              </a:rPr>
              <a:t>Para terminar la configuración del servidor de payara se configura un nombre de dominio, un host (en nuestro caso, loopback) y se cambian los puertos si se desea.</a:t>
            </a:r>
            <a:endParaRPr sz="1300">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40" name="Google Shape;140;p18"/>
          <p:cNvPicPr preferRelativeResize="0"/>
          <p:nvPr/>
        </p:nvPicPr>
        <p:blipFill>
          <a:blip r:embed="rId3">
            <a:alphaModFix/>
          </a:blip>
          <a:stretch>
            <a:fillRect/>
          </a:stretch>
        </p:blipFill>
        <p:spPr>
          <a:xfrm>
            <a:off x="2623250" y="3171650"/>
            <a:ext cx="4505325" cy="349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1.2.2 	Creación del Proyecto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creado el servidor, se crea un proyecto Java, Web Application </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48" name="Google Shape;148;p19"/>
          <p:cNvPicPr preferRelativeResize="0"/>
          <p:nvPr/>
        </p:nvPicPr>
        <p:blipFill>
          <a:blip r:embed="rId3">
            <a:alphaModFix/>
          </a:blip>
          <a:stretch>
            <a:fillRect/>
          </a:stretch>
        </p:blipFill>
        <p:spPr>
          <a:xfrm>
            <a:off x="2537463" y="3549050"/>
            <a:ext cx="4676775" cy="320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p:nvPr>
            <p:ph idx="1" type="body"/>
          </p:nvPr>
        </p:nvSpPr>
        <p:spPr>
          <a:xfrm>
            <a:off x="581192" y="1948172"/>
            <a:ext cx="8589300" cy="1248600"/>
          </a:xfrm>
          <a:prstGeom prst="rect">
            <a:avLst/>
          </a:prstGeom>
          <a:noFill/>
          <a:ln>
            <a:noFill/>
          </a:ln>
        </p:spPr>
        <p:txBody>
          <a:bodyPr anchorCtr="0" anchor="ctr" bIns="45700" lIns="91425" spcFirstLastPara="1" rIns="91425" wrap="square" tIns="45700">
            <a:normAutofit/>
          </a:bodyPr>
          <a:lstStyle/>
          <a:p>
            <a:pPr indent="-333756" lvl="0" marL="457200" rtl="0" algn="just">
              <a:lnSpc>
                <a:spcPct val="107000"/>
              </a:lnSpc>
              <a:spcBef>
                <a:spcPts val="0"/>
              </a:spcBef>
              <a:spcAft>
                <a:spcPts val="0"/>
              </a:spcAft>
              <a:buSzPts val="1656"/>
              <a:buChar char="∙"/>
            </a:pPr>
            <a:r>
              <a:rPr lang="es-ES" sz="1300">
                <a:latin typeface="Cambria"/>
                <a:ea typeface="Cambria"/>
                <a:cs typeface="Cambria"/>
                <a:sym typeface="Cambria"/>
              </a:rPr>
              <a:t>Se aplica el nombre del proyecto como ‘WS_CON_UNI_JAVA_SOAP’, y se configura el grupo como ‘</a:t>
            </a:r>
            <a:r>
              <a:rPr lang="es-ES" sz="1300" u="sng">
                <a:solidFill>
                  <a:schemeClr val="hlink"/>
                </a:solidFill>
                <a:latin typeface="Cambria"/>
                <a:ea typeface="Cambria"/>
                <a:cs typeface="Cambria"/>
                <a:sym typeface="Cambria"/>
                <a:hlinkClick r:id="rId3"/>
              </a:rPr>
              <a:t>ec.edu</a:t>
            </a:r>
            <a:r>
              <a:rPr lang="es-ES" sz="1300">
                <a:latin typeface="Cambria"/>
                <a:ea typeface="Cambria"/>
                <a:cs typeface="Cambria"/>
                <a:sym typeface="Cambria"/>
              </a:rPr>
              <a:t>.monster’</a:t>
            </a:r>
            <a:endParaRPr sz="1300">
              <a:latin typeface="Cambria"/>
              <a:ea typeface="Cambria"/>
              <a:cs typeface="Cambria"/>
              <a:sym typeface="Cambria"/>
            </a:endParaRPr>
          </a:p>
          <a:p>
            <a:pPr indent="-311150" lvl="0" marL="457200" rtl="0" algn="just">
              <a:lnSpc>
                <a:spcPct val="107000"/>
              </a:lnSpc>
              <a:spcBef>
                <a:spcPts val="0"/>
              </a:spcBef>
              <a:spcAft>
                <a:spcPts val="0"/>
              </a:spcAft>
              <a:buSzPts val="1300"/>
              <a:buFont typeface="Cambria"/>
              <a:buChar char="∙"/>
            </a:pPr>
            <a:r>
              <a:rPr lang="es-ES" sz="1300">
                <a:latin typeface="Cambria"/>
                <a:ea typeface="Cambria"/>
                <a:cs typeface="Cambria"/>
                <a:sym typeface="Cambria"/>
              </a:rPr>
              <a:t>Se selecciona nuestro Servidor Payara creado y Jakarta EE 11 como conjunto de desarrollo de aplicaciones Java.</a:t>
            </a:r>
            <a:endParaRPr sz="130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56" name="Google Shape;156;p20"/>
          <p:cNvPicPr preferRelativeResize="0"/>
          <p:nvPr/>
        </p:nvPicPr>
        <p:blipFill>
          <a:blip r:embed="rId4">
            <a:alphaModFix/>
          </a:blip>
          <a:stretch>
            <a:fillRect/>
          </a:stretch>
        </p:blipFill>
        <p:spPr>
          <a:xfrm>
            <a:off x="581200" y="3429100"/>
            <a:ext cx="4105699" cy="2807825"/>
          </a:xfrm>
          <a:prstGeom prst="rect">
            <a:avLst/>
          </a:prstGeom>
          <a:noFill/>
          <a:ln>
            <a:noFill/>
          </a:ln>
        </p:spPr>
      </p:pic>
      <p:pic>
        <p:nvPicPr>
          <p:cNvPr id="157" name="Google Shape;157;p20"/>
          <p:cNvPicPr preferRelativeResize="0"/>
          <p:nvPr/>
        </p:nvPicPr>
        <p:blipFill>
          <a:blip r:embed="rId5">
            <a:alphaModFix/>
          </a:blip>
          <a:stretch>
            <a:fillRect/>
          </a:stretch>
        </p:blipFill>
        <p:spPr>
          <a:xfrm>
            <a:off x="4686900" y="3251850"/>
            <a:ext cx="4600575" cy="3162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p:nvPr>
            <p:ph idx="1" type="body"/>
          </p:nvPr>
        </p:nvSpPr>
        <p:spPr>
          <a:xfrm>
            <a:off x="581200" y="2180500"/>
            <a:ext cx="4557900" cy="387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77"/>
              <a:buChar char="∙"/>
            </a:pPr>
            <a:r>
              <a:rPr b="1" lang="es-ES" sz="1677">
                <a:latin typeface="Cambria"/>
                <a:ea typeface="Cambria"/>
                <a:cs typeface="Cambria"/>
                <a:sym typeface="Cambria"/>
              </a:rPr>
              <a:t>ESTRUCTURA MVC</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b="1"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Aplicando un patrón arquitectónico MVC junto a otras capas se configuran los paquetes principales.</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65" name="Google Shape;165;p21"/>
          <p:cNvPicPr preferRelativeResize="0"/>
          <p:nvPr/>
        </p:nvPicPr>
        <p:blipFill>
          <a:blip r:embed="rId3">
            <a:alphaModFix/>
          </a:blip>
          <a:stretch>
            <a:fillRect/>
          </a:stretch>
        </p:blipFill>
        <p:spPr>
          <a:xfrm>
            <a:off x="5651675" y="2696275"/>
            <a:ext cx="3219450" cy="2838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1.2.3 	Creación del WebService</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Dentro del paquete controladores.ws se crea un webservice.</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Cambria"/>
              <a:buChar char="∙"/>
            </a:pPr>
            <a:r>
              <a:rPr lang="es-ES">
                <a:latin typeface="Cambria"/>
                <a:ea typeface="Cambria"/>
                <a:cs typeface="Cambria"/>
                <a:sym typeface="Cambria"/>
              </a:rPr>
              <a:t>Se configura el web service con su nombre WSConversorUnidades.</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73" name="Google Shape;173;p22"/>
          <p:cNvPicPr preferRelativeResize="0"/>
          <p:nvPr/>
        </p:nvPicPr>
        <p:blipFill>
          <a:blip r:embed="rId3">
            <a:alphaModFix/>
          </a:blip>
          <a:stretch>
            <a:fillRect/>
          </a:stretch>
        </p:blipFill>
        <p:spPr>
          <a:xfrm>
            <a:off x="958600" y="3499338"/>
            <a:ext cx="3280200" cy="3261975"/>
          </a:xfrm>
          <a:prstGeom prst="rect">
            <a:avLst/>
          </a:prstGeom>
          <a:noFill/>
          <a:ln>
            <a:noFill/>
          </a:ln>
        </p:spPr>
      </p:pic>
      <p:pic>
        <p:nvPicPr>
          <p:cNvPr id="174" name="Google Shape;174;p22"/>
          <p:cNvPicPr preferRelativeResize="0"/>
          <p:nvPr/>
        </p:nvPicPr>
        <p:blipFill>
          <a:blip r:embed="rId4">
            <a:alphaModFix/>
          </a:blip>
          <a:stretch>
            <a:fillRect/>
          </a:stretch>
        </p:blipFill>
        <p:spPr>
          <a:xfrm>
            <a:off x="5103225" y="3844438"/>
            <a:ext cx="3810000" cy="257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lnSpcReduction="20000"/>
          </a:bodyPr>
          <a:lstStyle/>
          <a:p>
            <a:pPr indent="-335090" lvl="0" marL="457200" rtl="0" algn="just">
              <a:lnSpc>
                <a:spcPct val="107000"/>
              </a:lnSpc>
              <a:spcBef>
                <a:spcPts val="0"/>
              </a:spcBef>
              <a:spcAft>
                <a:spcPts val="0"/>
              </a:spcAft>
              <a:buSzPts val="1677"/>
              <a:buFont typeface="Cambria"/>
              <a:buChar char="∙"/>
            </a:pPr>
            <a:r>
              <a:rPr b="1" lang="es-ES" sz="1677">
                <a:latin typeface="Cambria"/>
                <a:ea typeface="Cambria"/>
                <a:cs typeface="Cambria"/>
                <a:sym typeface="Cambria"/>
              </a:rPr>
              <a:t>Se codifica el webservice bajo los siguientes lineamientos</a:t>
            </a:r>
            <a:endParaRPr b="1" sz="1677">
              <a:latin typeface="Cambria"/>
              <a:ea typeface="Cambria"/>
              <a:cs typeface="Cambria"/>
              <a:sym typeface="Cambria"/>
            </a:endParaRPr>
          </a:p>
          <a:p>
            <a:pPr indent="0" lvl="0" marL="457200" rtl="0" algn="just">
              <a:lnSpc>
                <a:spcPct val="107000"/>
              </a:lnSpc>
              <a:spcBef>
                <a:spcPts val="0"/>
              </a:spcBef>
              <a:spcAft>
                <a:spcPts val="0"/>
              </a:spcAft>
              <a:buNone/>
            </a:pPr>
            <a:r>
              <a:t/>
            </a:r>
            <a:endParaRPr b="1"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1. Se dejan preparadas las siguientes importaciones que se encargarán de gestionar toda la lógica.</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82" name="Google Shape;182;p23"/>
          <p:cNvGraphicFramePr/>
          <p:nvPr/>
        </p:nvGraphicFramePr>
        <p:xfrm>
          <a:off x="3395925" y="2866125"/>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ec.edu.monster.controladores.ws;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ec.edu.monster.servicios.ServicioConversor;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ec.edu.monster.modelos.utilidades.mapeadores.UnidadMapper;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ec.edu.monster.seguridad.AdministradorCredenciales;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ec.edu.monster.seguridad.AdministradorTokens;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2. Se configura el endpoint de nuestro servicio web.</a:t>
            </a:r>
            <a:endParaRPr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3. Se crean los atributos respectivos.</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90" name="Google Shape;190;p24"/>
          <p:cNvGraphicFramePr/>
          <p:nvPr/>
        </p:nvGraphicFramePr>
        <p:xfrm>
          <a:off x="3701450" y="2180500"/>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@WebService(serviceName =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WSConversorUnidades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191" name="Google Shape;191;p24"/>
          <p:cNvGraphicFramePr/>
          <p:nvPr/>
        </p:nvGraphicFramePr>
        <p:xfrm>
          <a:off x="3701450" y="3375275"/>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private final ServicioConversor&lt;UnidadLongitud&gt; servicioLongitud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ServicioConversor&lt;UnidadMasa&gt; servicioMasa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ServicioConversor&lt;UnidadTemperatura&gt; servicioTemperatura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ConversorTemperatura());</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99" name="Google Shape;199;p25"/>
          <p:cNvGraphicFramePr/>
          <p:nvPr/>
        </p:nvGraphicFramePr>
        <p:xfrm>
          <a:off x="3917100" y="1928900"/>
          <a:ext cx="3000000" cy="3000000"/>
        </p:xfrm>
        <a:graphic>
          <a:graphicData uri="http://schemas.openxmlformats.org/drawingml/2006/table">
            <a:tbl>
              <a:tblPr>
                <a:noFill/>
                <a:tableStyleId>{BF136021-7255-42B7-A7E7-87A8D8FFE9CA}</a:tableStyleId>
              </a:tblPr>
              <a:tblGrid>
                <a:gridCol w="4894525"/>
              </a:tblGrid>
              <a:tr h="4533675">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@WebMethod(operationName = "login")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String login(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"usuario") String usuario,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 String contrasenia)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(AdministradorCredenciales.validarCredenciales(usuario, contrasenia))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AdministradorTokens.generarToken();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RuntimeException("Credenciales incorrectas");</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"cambiarContrasenia")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String cambiarContrasenia(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"contraseniaActual") String contraseniaActual,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"contraseniaNueva") String contraseniaNueva)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AdministradorCredenciales.cambiarContrasenia(contraseniaActual, contraseniaNueva);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"Contrasenia actualizada correctamente";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"convertirLongitud")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 origen = UnidadMapper.toLongitud(unidadInicial);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 destino = UnidadMapper.toLongitud(unidadFinal);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servicioLongitud.convertir(valor,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graphicFrame>
        <p:nvGraphicFramePr>
          <p:cNvPr id="204" name="Google Shape;204;p26"/>
          <p:cNvGraphicFramePr/>
          <p:nvPr/>
        </p:nvGraphicFramePr>
        <p:xfrm>
          <a:off x="3881150" y="2291900"/>
          <a:ext cx="3000000" cy="3000000"/>
        </p:xfrm>
        <a:graphic>
          <a:graphicData uri="http://schemas.openxmlformats.org/drawingml/2006/table">
            <a:tbl>
              <a:tblPr>
                <a:noFill/>
                <a:tableStyleId>{BF136021-7255-42B7-A7E7-87A8D8FFE9CA}</a:tableStyleId>
              </a:tblPr>
              <a:tblGrid>
                <a:gridCol w="4894525"/>
              </a:tblGrid>
              <a:tr h="3742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@WebMethod(operationName = "convertirMasa")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 origen = UnidadMapper.toMasa(unidadInicial);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 destino = UnidadMapper.toMasa(unidadFinal);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servicioMasa.convertir(valor,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"convertirTemperatura")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convertirTemperatura(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UnidadTemperatura origen = UnidadMapper.toTemperatura(unidadInicial);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UnidadTemperatura destino = UnidadMapper.toTemperatura(unidadFinal);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servicioTemperatura.convertir(valor,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T="63500" marB="63500" marR="63500" marL="63500"/>
                </a:tc>
              </a:tr>
            </a:tbl>
          </a:graphicData>
        </a:graphic>
      </p:graphicFrame>
      <p:sp>
        <p:nvSpPr>
          <p:cNvPr id="205" name="Google Shape;205;p2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p:nvPr>
            <p:ph idx="1" type="body"/>
          </p:nvPr>
        </p:nvSpPr>
        <p:spPr>
          <a:xfrm>
            <a:off x="581200" y="2018775"/>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1.2.4 	Autenticación</a:t>
            </a:r>
            <a:endParaRPr>
              <a:latin typeface="Cambria"/>
              <a:ea typeface="Cambria"/>
              <a:cs typeface="Cambria"/>
              <a:sym typeface="Cambria"/>
            </a:endParaRPr>
          </a:p>
          <a:p>
            <a:pPr indent="-323850" lvl="0" marL="342900" marR="0" rtl="0" algn="just">
              <a:lnSpc>
                <a:spcPct val="107000"/>
              </a:lnSpc>
              <a:spcBef>
                <a:spcPts val="0"/>
              </a:spcBef>
              <a:spcAft>
                <a:spcPts val="0"/>
              </a:spcAft>
              <a:buSzPts val="1356"/>
              <a:buFont typeface="Cambria"/>
              <a:buChar char="∙"/>
            </a:pPr>
            <a:r>
              <a:rPr lang="es-ES" sz="1500">
                <a:latin typeface="Cambria"/>
                <a:ea typeface="Cambria"/>
                <a:cs typeface="Cambria"/>
                <a:sym typeface="Cambria"/>
              </a:rPr>
              <a:t>Una clase importante a mencionar es el ManejadorAutenticacion.java, que sirve como un middleware en servicios SOAP con el fin de autenticar debidamente antes de permitir el paso a los métodos del WebService. Esta clase se crea en Web Services &gt; Message Handler.</a:t>
            </a:r>
            <a:endParaRPr sz="1500">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14" name="Google Shape;214;p2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15" name="Google Shape;215;p27"/>
          <p:cNvPicPr preferRelativeResize="0"/>
          <p:nvPr/>
        </p:nvPicPr>
        <p:blipFill>
          <a:blip r:embed="rId3">
            <a:alphaModFix/>
          </a:blip>
          <a:stretch>
            <a:fillRect/>
          </a:stretch>
        </p:blipFill>
        <p:spPr>
          <a:xfrm>
            <a:off x="2589850" y="3549050"/>
            <a:ext cx="4572000" cy="312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p:nvPr>
            <p:ph idx="1" type="body"/>
          </p:nvPr>
        </p:nvSpPr>
        <p:spPr>
          <a:xfrm>
            <a:off x="581192" y="1876272"/>
            <a:ext cx="8589300" cy="12486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 (Usuario: Monster, Contraseña: Monster9)</a:t>
            </a:r>
            <a:endParaRPr sz="1200">
              <a:latin typeface="Cambria"/>
              <a:ea typeface="Cambria"/>
              <a:cs typeface="Cambria"/>
              <a:sym typeface="Cambria"/>
            </a:endParaRPr>
          </a:p>
          <a:p>
            <a:pPr indent="-304800" lvl="0" marL="457200" rtl="0" algn="just">
              <a:lnSpc>
                <a:spcPct val="107000"/>
              </a:lnSpc>
              <a:spcBef>
                <a:spcPts val="0"/>
              </a:spcBef>
              <a:spcAft>
                <a:spcPts val="0"/>
              </a:spcAft>
              <a:buSzPts val="1200"/>
              <a:buFont typeface="Cambria"/>
              <a:buChar char="∙"/>
            </a:pPr>
            <a:r>
              <a:rPr lang="es-ES" sz="1200">
                <a:latin typeface="Cambria"/>
                <a:ea typeface="Cambria"/>
                <a:cs typeface="Cambria"/>
                <a:sym typeface="Cambria"/>
              </a:rPr>
              <a:t>es fundamental mencionar que se debe crear un xml dentro de los recursos que mapee a la clase para que el proyecto pueda poner en ejecución el handler.</a:t>
            </a:r>
            <a:endParaRPr sz="1300">
              <a:latin typeface="Cambria"/>
              <a:ea typeface="Cambria"/>
              <a:cs typeface="Cambria"/>
              <a:sym typeface="Cambria"/>
            </a:endParaRPr>
          </a:p>
        </p:txBody>
      </p:sp>
      <p:sp>
        <p:nvSpPr>
          <p:cNvPr id="222" name="Google Shape;222;p2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23" name="Google Shape;223;p28"/>
          <p:cNvPicPr preferRelativeResize="0"/>
          <p:nvPr/>
        </p:nvPicPr>
        <p:blipFill>
          <a:blip r:embed="rId3">
            <a:alphaModFix/>
          </a:blip>
          <a:stretch>
            <a:fillRect/>
          </a:stretch>
        </p:blipFill>
        <p:spPr>
          <a:xfrm>
            <a:off x="653100" y="3013525"/>
            <a:ext cx="5734050" cy="1381125"/>
          </a:xfrm>
          <a:prstGeom prst="rect">
            <a:avLst/>
          </a:prstGeom>
          <a:noFill/>
          <a:ln>
            <a:noFill/>
          </a:ln>
        </p:spPr>
      </p:pic>
      <p:graphicFrame>
        <p:nvGraphicFramePr>
          <p:cNvPr id="224" name="Google Shape;224;p28"/>
          <p:cNvGraphicFramePr/>
          <p:nvPr/>
        </p:nvGraphicFramePr>
        <p:xfrm>
          <a:off x="4024925" y="4574350"/>
          <a:ext cx="3000000" cy="3000000"/>
        </p:xfrm>
        <a:graphic>
          <a:graphicData uri="http://schemas.openxmlformats.org/drawingml/2006/table">
            <a:tbl>
              <a:tblPr>
                <a:noFill/>
                <a:tableStyleId>{BF136021-7255-42B7-A7E7-87A8D8FFE9CA}</a:tableStyleId>
              </a:tblPr>
              <a:tblGrid>
                <a:gridCol w="4894525"/>
              </a:tblGrid>
              <a:tr h="22153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ec.edu.monster.controladores.manejadoresws;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ec.edu.monster.seguridad.AdministradorTokens;</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jakarta.xml.ws.handler.soap.SOAPHandler;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jakarta.xml.ws.handler.soap.SOAPMessageContext;</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jakarta.xml.ws.handler.MessageContext;</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javax.xml.namespace.QName;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org.w3c.dom.NodeList;</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java.util.Set;</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ManejadorAutenticacion implements SOAPHandler&lt;SOAPMessageContext&gt;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boolean handleMessage(SOAPMessageContext contexto)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Boolean esSalida = (Boolean) contexto.get(MessageContext.MESSAGE_OUTBOUND_PROPERTY);</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(!esSalida)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QName operacion = (QName) contexto.get(MessageContext.WSDL_OPERATION);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(operacion != null &amp;&amp; "login".equals(operacion.getLocalPart()))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return true;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mensajeSOAP = contexto.getMessage();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encabezado = mensajeSOAP.getSOAPHeader();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(encabezado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Se requiere encabezado SOAP con el token de seguridad.");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NodeList nodosToken = encabezado.getElementsByTagNameNS("*",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(nodosToken.getLength() == 0)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No se encontró el token. Inicie sesión primero.");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String token = nodosToken.item(0).getTextContent();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(!AdministradorTokens.validarToken(token))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Token inválido o expirado.");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catch (Exception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RuntimeException(e.getMessage());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return 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40" name="Google Shape;240;p30"/>
          <p:cNvGraphicFramePr/>
          <p:nvPr/>
        </p:nvGraphicFramePr>
        <p:xfrm>
          <a:off x="3064663" y="2920413"/>
          <a:ext cx="3000000" cy="3000000"/>
        </p:xfrm>
        <a:graphic>
          <a:graphicData uri="http://schemas.openxmlformats.org/drawingml/2006/table">
            <a:tbl>
              <a:tblPr>
                <a:noFill/>
                <a:tableStyleId>{BF136021-7255-42B7-A7E7-87A8D8FFE9CA}</a:tableStyleId>
              </a:tblPr>
              <a:tblGrid>
                <a:gridCol w="6062675"/>
              </a:tblGrid>
              <a:tr h="1951625">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Set&lt;QName&gt; getHeaders()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null;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boolean handleFault(SOAPMessageContext contexto)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true;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void close(MessageContext contexto)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20000"/>
          </a:bodyPr>
          <a:lstStyle/>
          <a:p>
            <a:pPr indent="-342900" lvl="0" marL="342900" rtl="0" algn="just">
              <a:lnSpc>
                <a:spcPct val="107000"/>
              </a:lnSpc>
              <a:spcBef>
                <a:spcPts val="0"/>
              </a:spcBef>
              <a:spcAft>
                <a:spcPts val="0"/>
              </a:spcAft>
              <a:buSzPts val="1785"/>
              <a:buChar char="∙"/>
            </a:pPr>
            <a:r>
              <a:rPr b="1" lang="es-ES" sz="1929">
                <a:latin typeface="Cambria"/>
                <a:ea typeface="Cambria"/>
                <a:cs typeface="Cambria"/>
                <a:sym typeface="Cambria"/>
              </a:rPr>
              <a:t>1.2.5	Lógica</a:t>
            </a:r>
            <a:endParaRPr>
              <a:latin typeface="Cambria"/>
              <a:ea typeface="Cambria"/>
              <a:cs typeface="Cambria"/>
              <a:sym typeface="Cambria"/>
            </a:endParaRPr>
          </a:p>
          <a:p>
            <a:pPr indent="0" lvl="0" marL="0" rtl="0" algn="just">
              <a:lnSpc>
                <a:spcPct val="107000"/>
              </a:lnSpc>
              <a:spcBef>
                <a:spcPts val="0"/>
              </a:spcBef>
              <a:spcAft>
                <a:spcPts val="0"/>
              </a:spcAft>
              <a:buNone/>
            </a:pPr>
            <a:r>
              <a:t/>
            </a:r>
            <a:endParaRPr sz="1200">
              <a:latin typeface="Cambria"/>
              <a:ea typeface="Cambria"/>
              <a:cs typeface="Cambria"/>
              <a:sym typeface="Cambria"/>
            </a:endParaRPr>
          </a:p>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48" name="Google Shape;248;p31"/>
          <p:cNvGraphicFramePr/>
          <p:nvPr/>
        </p:nvGraphicFramePr>
        <p:xfrm>
          <a:off x="3017313" y="3676500"/>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interface IConversor&lt;T&gt;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T unidadInicial, T unidadFinal);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56" name="Google Shape;256;p32"/>
          <p:cNvGraphicFramePr/>
          <p:nvPr/>
        </p:nvGraphicFramePr>
        <p:xfrm>
          <a:off x="30173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ec.edu.monster.modelos.utilidades.enums.UnidadLongitud;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ConversorLongitud implements IConversor&lt;UnidadLongitud&gt;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private final Map&lt;UnidadLongitud, Double&gt; factores = Map.of(</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UnidadLongitud.MILIMETRO, 0.001,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UnidadLongitud.CENTIMETRO, 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UnidadLongitud.METRO, 1.0,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UnidadLongitud.KILOMETRO, 1000.0,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UnidadLongitud.YARDA, 0.9144</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ConversorLongitud()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convertir(double valor, UnidadLongitud unidadOrigen, UnidadLongitud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64" name="Google Shape;264;p33"/>
          <p:cNvGraphicFramePr/>
          <p:nvPr/>
        </p:nvGraphicFramePr>
        <p:xfrm>
          <a:off x="30173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ec.edu.monster.modelos.utilidades.enums.UnidadMasa;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ConversorMasa implements IConversor&lt;UnidadMasa&gt;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private final Map&lt;UnidadMasa, Double&gt; factores = Map.of(</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UnidadMasa.MILIGRAMO, 0.001,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UnidadMasa.GRAMO, 1.0,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UnidadMasa.KILOGRAMO, 1000.0,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UnidadMasa.TONELADA, 1_000_000.0,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UnidadMasa.ONZA, 28.3495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ConversorMasa()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convertir(double valor, UnidadMasa unidadOrigen, UnidadMasa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72" name="Google Shape;272;p34"/>
          <p:cNvGraphicFramePr/>
          <p:nvPr/>
        </p:nvGraphicFramePr>
        <p:xfrm>
          <a:off x="2891513" y="2209650"/>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ec.edu.monster.modelos.utilidades.enums.UnidadTemperatura;</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ec.edu.monster.modelos.utilidades.enums.UnidadTemperatura.CELSIUS;</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ec.edu.monster.modelos.utilidades.enums.UnidadTemperatura.FAHRENHEIT;</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ec.edu.monster.modelos.utilidades.enums.UnidadTemperatura.KELVIN;</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ec.edu.monster.modelos.utilidades.enums.UnidadTemperatura.RANKINE;</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class ConversorTemperatura implements IConversor&lt;UnidadTemperatura&gt;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ConversorTemperatura()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UnidadTemperatura origen, UnidadTemperatura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(origen == null || destino == null)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throw new IllegalArgumentException("Las unidades no pueden ser null");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(origen ==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valor;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80" name="Google Shape;280;p35"/>
          <p:cNvGraphicFramePr/>
          <p:nvPr/>
        </p:nvGraphicFramePr>
        <p:xfrm>
          <a:off x="28915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return switch (origen)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9 / 5) + 32;</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+ 273.15) * 9 / 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- 32)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- 32) * 5 / 9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+ 459.67;</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- 273.15) * 9 / 5 + 32;</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9 / 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- 491.67)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- 459.67;</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8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20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30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88" name="Google Shape;288;p36"/>
          <p:cNvGraphicFramePr/>
          <p:nvPr/>
        </p:nvGraphicFramePr>
        <p:xfrm>
          <a:off x="2891513" y="2557313"/>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ec.edu.monster.servicios;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ec.edu.monster.modelos.utilidades.IConversor;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class ServicioConversor&lt;T&gt;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private final IConversor&lt;T&gt;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ServicioConversor(IConversor&lt;T&gt; conversor)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this.conversor =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T origen, T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(conversor == null)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throw new IllegalStateException("No se ha inyectado un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conversor.convertir(valor, origen, destino);</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p:nvPr>
            <p:ph idx="1" type="body"/>
          </p:nvPr>
        </p:nvSpPr>
        <p:spPr>
          <a:xfrm>
            <a:off x="581200" y="2018775"/>
            <a:ext cx="2685600" cy="45588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1.2.6 	Ejecución en Servidor</a:t>
            </a:r>
            <a:endParaRPr>
              <a:latin typeface="Cambria"/>
              <a:ea typeface="Cambria"/>
              <a:cs typeface="Cambria"/>
              <a:sym typeface="Cambria"/>
            </a:endParaRPr>
          </a:p>
          <a:p>
            <a:pPr indent="-323850" lvl="0" marL="342900" marR="0" rtl="0" algn="just">
              <a:lnSpc>
                <a:spcPct val="107000"/>
              </a:lnSpc>
              <a:spcBef>
                <a:spcPts val="0"/>
              </a:spcBef>
              <a:spcAft>
                <a:spcPts val="0"/>
              </a:spcAft>
              <a:buSzPts val="1356"/>
              <a:buFont typeface="Cambria"/>
              <a:buChar char="∙"/>
            </a:pPr>
            <a:r>
              <a:rPr lang="es-ES" sz="1500">
                <a:latin typeface="Cambria"/>
                <a:ea typeface="Cambria"/>
                <a:cs typeface="Cambria"/>
                <a:sym typeface="Cambria"/>
              </a:rPr>
              <a:t>Se ejecuta el programa corriendo en nuestro servidor payara y se comprueba que el contrato WSDL esté correcto en la ruta (Dejamos anteriormente que Payara corra por defecto en 8080): http://localhost:8080/WS_ConUni_Java_SOAP/WSConversorUnidades?wsdl</a:t>
            </a:r>
            <a:endParaRPr sz="1500">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96" name="Google Shape;296;p37"/>
          <p:cNvPicPr preferRelativeResize="0"/>
          <p:nvPr/>
        </p:nvPicPr>
        <p:blipFill>
          <a:blip r:embed="rId3">
            <a:alphaModFix/>
          </a:blip>
          <a:stretch>
            <a:fillRect/>
          </a:stretch>
        </p:blipFill>
        <p:spPr>
          <a:xfrm>
            <a:off x="3728750" y="1878563"/>
            <a:ext cx="5192894" cy="4839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03" name="Google Shape;303;p38"/>
          <p:cNvSpPr txBox="1"/>
          <p:nvPr>
            <p:ph idx="1" type="body"/>
          </p:nvPr>
        </p:nvSpPr>
        <p:spPr>
          <a:xfrm>
            <a:off x="581200" y="1983000"/>
            <a:ext cx="8581500" cy="2149500"/>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115000"/>
              </a:lnSpc>
              <a:spcBef>
                <a:spcPts val="1200"/>
              </a:spcBef>
              <a:spcAft>
                <a:spcPts val="0"/>
              </a:spcAft>
              <a:buClr>
                <a:schemeClr val="dk1"/>
              </a:buClr>
              <a:buSzPct val="70332"/>
              <a:buFont typeface="Arial"/>
              <a:buNone/>
            </a:pPr>
            <a:r>
              <a:rPr b="1" lang="es-ES" sz="1564">
                <a:latin typeface="Cambria"/>
                <a:ea typeface="Cambria"/>
                <a:cs typeface="Cambria"/>
                <a:sym typeface="Cambria"/>
              </a:rPr>
              <a:t>1.3 	CREACIÓN DEL PROYECTO CLIENTE CONSOLA</a:t>
            </a:r>
            <a:endParaRPr b="1" sz="1564">
              <a:latin typeface="Cambria"/>
              <a:ea typeface="Cambria"/>
              <a:cs typeface="Cambria"/>
              <a:sym typeface="Cambria"/>
            </a:endParaRPr>
          </a:p>
          <a:p>
            <a:pPr indent="0" lvl="0" marL="0" rtl="0" algn="l">
              <a:lnSpc>
                <a:spcPct val="115000"/>
              </a:lnSpc>
              <a:spcBef>
                <a:spcPts val="1200"/>
              </a:spcBef>
              <a:spcAft>
                <a:spcPts val="0"/>
              </a:spcAft>
              <a:buClr>
                <a:schemeClr val="dk1"/>
              </a:buClr>
              <a:buSzPct val="70332"/>
              <a:buFont typeface="Arial"/>
              <a:buNone/>
            </a:pPr>
            <a:r>
              <a:t/>
            </a:r>
            <a:endParaRPr b="1" sz="1564">
              <a:latin typeface="Cambria"/>
              <a:ea typeface="Cambria"/>
              <a:cs typeface="Cambria"/>
              <a:sym typeface="Cambria"/>
            </a:endParaRPr>
          </a:p>
          <a:p>
            <a:pPr indent="-320524" lvl="0" marL="45720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el cliente consola se uso NetBeans en el cual se debe crear un nuevo proyecto para ello se seleccionó el gestor de proyectos Java with Maven, el tipo de aplicativo que se usa es Java </a:t>
            </a:r>
            <a:r>
              <a:rPr lang="es-ES" sz="1564">
                <a:latin typeface="Cambria"/>
                <a:ea typeface="Cambria"/>
                <a:cs typeface="Cambria"/>
                <a:sym typeface="Cambria"/>
              </a:rPr>
              <a:t>Application</a:t>
            </a:r>
            <a:r>
              <a:rPr lang="es-ES" sz="1564">
                <a:latin typeface="Cambria"/>
                <a:ea typeface="Cambria"/>
                <a:cs typeface="Cambria"/>
                <a:sym typeface="Cambria"/>
              </a:rPr>
              <a:t>.</a:t>
            </a:r>
            <a:endParaRPr sz="1564">
              <a:latin typeface="Cambria"/>
              <a:ea typeface="Cambria"/>
              <a:cs typeface="Cambria"/>
              <a:sym typeface="Cambria"/>
            </a:endParaRPr>
          </a:p>
          <a:p>
            <a:pPr indent="-320465" lvl="0" marL="457200" rtl="0" algn="l">
              <a:lnSpc>
                <a:spcPct val="115000"/>
              </a:lnSpc>
              <a:spcBef>
                <a:spcPts val="0"/>
              </a:spcBef>
              <a:spcAft>
                <a:spcPts val="0"/>
              </a:spcAft>
              <a:buSzPct val="100000"/>
              <a:buFont typeface="Cambria"/>
              <a:buChar char="◼"/>
            </a:pPr>
            <a:r>
              <a:rPr lang="es-ES" sz="1564">
                <a:latin typeface="Cambria"/>
                <a:ea typeface="Cambria"/>
                <a:cs typeface="Cambria"/>
                <a:sym typeface="Cambria"/>
              </a:rPr>
              <a:t>Se asigna un nombre al proyecto, se da una ubicacion, y se configura el group id con el que se quiere nombrar.</a:t>
            </a:r>
            <a:endParaRPr sz="1564">
              <a:latin typeface="Cambria"/>
              <a:ea typeface="Cambria"/>
              <a:cs typeface="Cambria"/>
              <a:sym typeface="Cambria"/>
            </a:endParaRPr>
          </a:p>
          <a:p>
            <a:pPr indent="0" lvl="0" marL="0" rtl="0" algn="l">
              <a:lnSpc>
                <a:spcPct val="115000"/>
              </a:lnSpc>
              <a:spcBef>
                <a:spcPts val="1200"/>
              </a:spcBef>
              <a:spcAft>
                <a:spcPts val="1200"/>
              </a:spcAft>
              <a:buSzPct val="99162"/>
              <a:buNone/>
            </a:pPr>
            <a:r>
              <a:t/>
            </a:r>
            <a:endParaRPr sz="1670">
              <a:latin typeface="Cambria"/>
              <a:ea typeface="Cambria"/>
              <a:cs typeface="Cambria"/>
              <a:sym typeface="Cambria"/>
            </a:endParaRPr>
          </a:p>
        </p:txBody>
      </p:sp>
      <p:pic>
        <p:nvPicPr>
          <p:cNvPr id="304" name="Google Shape;304;p38"/>
          <p:cNvPicPr preferRelativeResize="0"/>
          <p:nvPr/>
        </p:nvPicPr>
        <p:blipFill>
          <a:blip r:embed="rId3">
            <a:alphaModFix/>
          </a:blip>
          <a:stretch>
            <a:fillRect/>
          </a:stretch>
        </p:blipFill>
        <p:spPr>
          <a:xfrm>
            <a:off x="581200" y="3907425"/>
            <a:ext cx="3704150" cy="2528925"/>
          </a:xfrm>
          <a:prstGeom prst="rect">
            <a:avLst/>
          </a:prstGeom>
          <a:noFill/>
          <a:ln>
            <a:noFill/>
          </a:ln>
        </p:spPr>
      </p:pic>
      <p:pic>
        <p:nvPicPr>
          <p:cNvPr id="305" name="Google Shape;305;p38"/>
          <p:cNvPicPr preferRelativeResize="0"/>
          <p:nvPr/>
        </p:nvPicPr>
        <p:blipFill>
          <a:blip r:embed="rId4">
            <a:alphaModFix/>
          </a:blip>
          <a:stretch>
            <a:fillRect/>
          </a:stretch>
        </p:blipFill>
        <p:spPr>
          <a:xfrm>
            <a:off x="4900125" y="3765892"/>
            <a:ext cx="3704150" cy="259360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p:nvPr>
            <p:ph idx="1" type="body"/>
          </p:nvPr>
        </p:nvSpPr>
        <p:spPr>
          <a:xfrm>
            <a:off x="581200" y="1983000"/>
            <a:ext cx="8581500" cy="21495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s-ES" sz="1564">
                <a:latin typeface="Cambria"/>
                <a:ea typeface="Cambria"/>
                <a:cs typeface="Cambria"/>
                <a:sym typeface="Cambria"/>
              </a:rPr>
              <a:t>1.3 	CREACIÓN DEL PROYECTO CLIENTE CONSOLA</a:t>
            </a:r>
            <a:endParaRPr b="1" sz="1564">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t/>
            </a:r>
            <a:endParaRPr b="1" sz="1564">
              <a:latin typeface="Cambria"/>
              <a:ea typeface="Cambria"/>
              <a:cs typeface="Cambria"/>
              <a:sym typeface="Cambria"/>
            </a:endParaRPr>
          </a:p>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Una vez que se creó el proyecto se debe generar los diferentes paquetes, donde se colocarán los archivos con código fuente.</a:t>
            </a:r>
            <a:endParaRPr sz="1564">
              <a:latin typeface="Cambria"/>
              <a:ea typeface="Cambria"/>
              <a:cs typeface="Cambria"/>
              <a:sym typeface="Cambria"/>
            </a:endParaRPr>
          </a:p>
          <a:p>
            <a:pPr indent="0" lvl="0" marL="0" rtl="0" algn="l">
              <a:lnSpc>
                <a:spcPct val="115000"/>
              </a:lnSpc>
              <a:spcBef>
                <a:spcPts val="1200"/>
              </a:spcBef>
              <a:spcAft>
                <a:spcPts val="1200"/>
              </a:spcAft>
              <a:buSzPts val="1656"/>
              <a:buNone/>
            </a:pPr>
            <a:r>
              <a:t/>
            </a:r>
            <a:endParaRPr sz="1670">
              <a:latin typeface="Cambria"/>
              <a:ea typeface="Cambria"/>
              <a:cs typeface="Cambria"/>
              <a:sym typeface="Cambria"/>
            </a:endParaRPr>
          </a:p>
        </p:txBody>
      </p:sp>
      <p:pic>
        <p:nvPicPr>
          <p:cNvPr id="313" name="Google Shape;313;p39"/>
          <p:cNvPicPr preferRelativeResize="0"/>
          <p:nvPr/>
        </p:nvPicPr>
        <p:blipFill>
          <a:blip r:embed="rId3">
            <a:alphaModFix/>
          </a:blip>
          <a:stretch>
            <a:fillRect/>
          </a:stretch>
        </p:blipFill>
        <p:spPr>
          <a:xfrm>
            <a:off x="2668875" y="3950625"/>
            <a:ext cx="3743325" cy="2409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1" name="Google Shape;321;p40"/>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jakarta.jws.WebResult;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jakarta.jws.soap.SOAPBinding;</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@WebService(name = "WSConversorUnidades", targetNamespace = "http://ws.controladores.monster.edu.ec/")</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@SOAPBinding(parameterStyle = SOAPBinding.ParameterStyle.WRAPPED)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interface ContratoWSConversor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"usuario") String usuario,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"contrasenia") String contrasenia);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"convertirLongitud")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27" name="Google Shape;327;p41"/>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8" name="Google Shape;328;p4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9" name="Google Shape;329;p41"/>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@WebMethod(operationName = "convertirMasa")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double convertirMasa(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@WebMethod(operationName = "convertirTemperatura")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double convertirTemperatura(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35" name="Google Shape;335;p4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36" name="Google Shape;336;p4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37" name="Google Shape;337;p42"/>
          <p:cNvGraphicFramePr/>
          <p:nvPr/>
        </p:nvGraphicFramePr>
        <p:xfrm>
          <a:off x="2278500" y="1818850"/>
          <a:ext cx="3000000" cy="3000000"/>
        </p:xfrm>
        <a:graphic>
          <a:graphicData uri="http://schemas.openxmlformats.org/drawingml/2006/table">
            <a:tbl>
              <a:tblPr>
                <a:noFill/>
                <a:tableStyleId>{BF136021-7255-42B7-A7E7-87A8D8FFE9CA}</a:tableStyleId>
              </a:tblPr>
              <a:tblGrid>
                <a:gridCol w="543942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jakarta.xml.ws.BindingProvider;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jakarta.xml.ws.Service;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jakarta.xml.ws.handler.Handler;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java.net.URL;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java.util.ArrayList;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javax.xml.namespace.QName;</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ESPACIO_NOMBRES = "http://ws.controladores.monster.edu.ec/";</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PROPIEDAD_BASE_WS = "ws.base.url";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VARIABLE_BASE_WS = "WS_BASE_URL";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QNOMBRE_SERVICIO = new QName(ESPACIO_NOMBRES,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QNOMBRE_PUERTO = new QName(ESPACIO_NOMBRES, "WSConversorUnidadesPort");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List&lt;String&gt; BASES_URL_POR_DEFECTO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"http://localhost:8080/04.SERVIDOR",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"http://localhost:8080/WS_ConUni_Java_GR5-1.0-SNAPSHOT"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45" name="Google Shape;345;p43"/>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ContratoWSConversor 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this.puerto = inicializarPuerto();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ContratoWSConversor inicializarPuerto()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construirBasesUrl();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wsdlsIntentados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baseUrl : 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endpoint = baseUrl +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wsdlsCandidatos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46" name="Google Shape;346;p43"/>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for (String wsdl : wsdlsCandidatos)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Service servicio = Service.create(new URL(wsdl), QNOMBRE_SERVICIO);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ContratoWSConversor puertoTemporal = servicio.getPort(QNOMBRE_PUERTO, ContratoWSConversor.class);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BindingProvider proveedor = (BindingProvider)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proveedor.getRequestContext().put(BindingProvider.ENDPOINT_ADDRESS_PROPERTY,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configurarManejadorToken(proveedor);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this.endpointActivo =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catch (Exception ex)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wsdlsIntentados.add(wsdl);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52" name="Google Shape;352;p4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53" name="Google Shape;353;p4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54" name="Google Shape;354;p44"/>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throw new IllegalStateException(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"No fue posible inicializar el cliente SOAP.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"No se encontro el WSDL en ninguna URL candidata: " + String.join(", ", wsdlsIntentados)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 Verifique que 04. SERVIDOR este desplegado y activo en Payara."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List&lt;String&gt; construirBasesUrl()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baseConfigurada = obtenerBaseConfigurada();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(baseConfigurada != null &amp;&amp; !baseConfigurada.isBlank())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basesUrl.add(normalizarBase(baseConfigurada));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baseDefecto : BASES_URL_POR_DEFECTO)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(!basesUrl.contains(baseDefecto))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basesUrl.add(baseDefecto);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55" name="Google Shape;355;p44"/>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obtenerBaseConfigurada()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desdePropiedad = System.getProperty(PROPIEDAD_BASE_WS);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(desdePropiedad != null &amp;&amp; !desdePropiedad.isBlank())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desdePropiedad;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desdeVariable = System.getenv(VARIABLE_BASE_WS);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(desdeVariable != null &amp;&amp; !desdeVariable.isBlank())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desdeVariable;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normalizarBase(String base)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baseNormalizada = base.trim();</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while (baseNormalizada.endsWith("/"))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baseNormalizada = baseNormalizada.substring(0, baseNormalizada.length() - 1);</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baseNormalizada;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61" name="Google Shape;361;p4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62" name="Google Shape;362;p4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63" name="Google Shape;363;p45"/>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void configurarManejadorToken(BindingProvider proveedor)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 enlace = proveedor.getBinding();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List&lt;Handler&gt; cadenaManejadores = new ArrayList&lt;&gt;(enlace.getHandlerChain());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cadenaManejadores.add(new ManejadorTokenSOAP(() -&gt;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enlace.setHandlerChain(cadenaManejadores);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login(String usuario, String contrasenia)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puerto.login(usuario, contrasenia);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this.tokenSesion;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convertirLongitud(double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puerto.convertirLongitud(valor,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convertirMasa(double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puerto.convertirMasa(valor,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64" name="Google Shape;364;p45"/>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public double convertirTemperatura(double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puerto.convertirTemperatura(valor,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getTokenSesion()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getEndpointActivo()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void cerrarSesion()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Se puede verificar que el cliente funciona de forma correcta, se levanta y tiene comunicación </a:t>
            </a:r>
            <a:endParaRPr b="1" sz="1400">
              <a:solidFill>
                <a:srgbClr val="17365D"/>
              </a:solidFill>
              <a:latin typeface="Calibri"/>
              <a:ea typeface="Calibri"/>
              <a:cs typeface="Calibri"/>
              <a:sym typeface="Calibri"/>
            </a:endParaRPr>
          </a:p>
          <a:p>
            <a:pPr indent="-298450" lvl="0" marL="457200" rtl="0" algn="l">
              <a:lnSpc>
                <a:spcPct val="150000"/>
              </a:lnSpc>
              <a:spcBef>
                <a:spcPts val="0"/>
              </a:spcBef>
              <a:spcAft>
                <a:spcPts val="0"/>
              </a:spcAft>
              <a:buClr>
                <a:schemeClr val="dk1"/>
              </a:buClr>
              <a:buSzPts val="1100"/>
              <a:buFont typeface="Calibri"/>
              <a:buChar char="∙"/>
            </a:pPr>
            <a:r>
              <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372" name="Google Shape;372;p46"/>
          <p:cNvPicPr preferRelativeResize="0"/>
          <p:nvPr/>
        </p:nvPicPr>
        <p:blipFill>
          <a:blip r:embed="rId3">
            <a:alphaModFix/>
          </a:blip>
          <a:stretch>
            <a:fillRect/>
          </a:stretch>
        </p:blipFill>
        <p:spPr>
          <a:xfrm>
            <a:off x="3228913" y="2794000"/>
            <a:ext cx="5734050" cy="2505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78" name="Google Shape;378;p4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379" name="Google Shape;379;p47"/>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fontScale="92500"/>
          </a:bodyPr>
          <a:lstStyle/>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este caso, para poder optimizar el tiempo se optó por usar el framework de MAUI el cual permite crear un proyecto central el cual después puede adaptarse a las distintas plataformas(web, mobile y Desktop)</a:t>
            </a:r>
            <a:endParaRPr sz="1564">
              <a:latin typeface="Cambria"/>
              <a:ea typeface="Cambria"/>
              <a:cs typeface="Cambria"/>
              <a:sym typeface="Cambria"/>
            </a:endParaRPr>
          </a:p>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empezar se debe crear el proyecto en visual studio, para ello se selecciona una </a:t>
            </a:r>
            <a:r>
              <a:rPr lang="es-ES" sz="1564">
                <a:latin typeface="Cambria"/>
                <a:ea typeface="Cambria"/>
                <a:cs typeface="Cambria"/>
                <a:sym typeface="Cambria"/>
              </a:rPr>
              <a:t>solución</a:t>
            </a:r>
            <a:r>
              <a:rPr lang="es-ES" sz="1564">
                <a:latin typeface="Cambria"/>
                <a:ea typeface="Cambria"/>
                <a:cs typeface="Cambria"/>
                <a:sym typeface="Cambria"/>
              </a:rPr>
              <a:t> en blanco.</a:t>
            </a:r>
            <a:endParaRPr sz="1564">
              <a:latin typeface="Cambria"/>
              <a:ea typeface="Cambria"/>
              <a:cs typeface="Cambria"/>
              <a:sym typeface="Cambria"/>
            </a:endParaRPr>
          </a:p>
        </p:txBody>
      </p:sp>
      <p:pic>
        <p:nvPicPr>
          <p:cNvPr id="380" name="Google Shape;380;p47"/>
          <p:cNvPicPr preferRelativeResize="0"/>
          <p:nvPr/>
        </p:nvPicPr>
        <p:blipFill>
          <a:blip r:embed="rId3">
            <a:alphaModFix/>
          </a:blip>
          <a:stretch>
            <a:fillRect/>
          </a:stretch>
        </p:blipFill>
        <p:spPr>
          <a:xfrm>
            <a:off x="2087175" y="3158725"/>
            <a:ext cx="5734050" cy="35909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86" name="Google Shape;386;p4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387" name="Google Shape;387;p48"/>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27978" lvl="0" marL="457200" marR="0" rtl="0" algn="l">
              <a:lnSpc>
                <a:spcPct val="115000"/>
              </a:lnSpc>
              <a:spcBef>
                <a:spcPts val="0"/>
              </a:spcBef>
              <a:spcAft>
                <a:spcPts val="0"/>
              </a:spcAft>
              <a:buSzPts val="1565"/>
              <a:buFont typeface="Cambria"/>
              <a:buChar char="◼"/>
            </a:pPr>
            <a:r>
              <a:rPr lang="es-ES" sz="1564">
                <a:latin typeface="Cambria"/>
                <a:ea typeface="Cambria"/>
                <a:cs typeface="Cambria"/>
                <a:sym typeface="Cambria"/>
              </a:rPr>
              <a:t>Se debe asignar un nombre al proyecto y asignarle un directorio donde se va a guardar el mismo, y solo queda dar clic en crear</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la solución en blanco vamos a ir agregando los diferentes proyectos necesarios para todos los tipos de clientes, primero se debe agregar un nuevo proyecto. </a:t>
            </a:r>
            <a:endParaRPr sz="1564">
              <a:latin typeface="Cambria"/>
              <a:ea typeface="Cambria"/>
              <a:cs typeface="Cambria"/>
              <a:sym typeface="Cambria"/>
            </a:endParaRPr>
          </a:p>
        </p:txBody>
      </p:sp>
      <p:pic>
        <p:nvPicPr>
          <p:cNvPr id="388" name="Google Shape;388;p48"/>
          <p:cNvPicPr preferRelativeResize="0"/>
          <p:nvPr/>
        </p:nvPicPr>
        <p:blipFill>
          <a:blip r:embed="rId3">
            <a:alphaModFix/>
          </a:blip>
          <a:stretch>
            <a:fillRect/>
          </a:stretch>
        </p:blipFill>
        <p:spPr>
          <a:xfrm>
            <a:off x="226825" y="3803100"/>
            <a:ext cx="4002875" cy="2581000"/>
          </a:xfrm>
          <a:prstGeom prst="rect">
            <a:avLst/>
          </a:prstGeom>
          <a:noFill/>
          <a:ln>
            <a:noFill/>
          </a:ln>
        </p:spPr>
      </p:pic>
      <p:pic>
        <p:nvPicPr>
          <p:cNvPr id="389" name="Google Shape;389;p48"/>
          <p:cNvPicPr preferRelativeResize="0"/>
          <p:nvPr/>
        </p:nvPicPr>
        <p:blipFill>
          <a:blip r:embed="rId4">
            <a:alphaModFix/>
          </a:blip>
          <a:stretch>
            <a:fillRect/>
          </a:stretch>
        </p:blipFill>
        <p:spPr>
          <a:xfrm>
            <a:off x="4423175" y="4002275"/>
            <a:ext cx="4747325" cy="189407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9"/>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95" name="Google Shape;395;p49"/>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396" name="Google Shape;396;p49"/>
          <p:cNvPicPr preferRelativeResize="0"/>
          <p:nvPr/>
        </p:nvPicPr>
        <p:blipFill>
          <a:blip r:embed="rId3">
            <a:alphaModFix/>
          </a:blip>
          <a:stretch>
            <a:fillRect/>
          </a:stretch>
        </p:blipFill>
        <p:spPr>
          <a:xfrm>
            <a:off x="66975" y="3452938"/>
            <a:ext cx="4507325" cy="2874750"/>
          </a:xfrm>
          <a:prstGeom prst="rect">
            <a:avLst/>
          </a:prstGeom>
          <a:noFill/>
          <a:ln>
            <a:noFill/>
          </a:ln>
        </p:spPr>
      </p:pic>
      <p:pic>
        <p:nvPicPr>
          <p:cNvPr id="397" name="Google Shape;397;p49"/>
          <p:cNvPicPr preferRelativeResize="0"/>
          <p:nvPr/>
        </p:nvPicPr>
        <p:blipFill>
          <a:blip r:embed="rId4">
            <a:alphaModFix/>
          </a:blip>
          <a:stretch>
            <a:fillRect/>
          </a:stretch>
        </p:blipFill>
        <p:spPr>
          <a:xfrm>
            <a:off x="4772900" y="3452950"/>
            <a:ext cx="4460247" cy="2874725"/>
          </a:xfrm>
          <a:prstGeom prst="rect">
            <a:avLst/>
          </a:prstGeom>
          <a:noFill/>
          <a:ln>
            <a:noFill/>
          </a:ln>
        </p:spPr>
      </p:pic>
      <p:sp>
        <p:nvSpPr>
          <p:cNvPr id="398" name="Google Shape;398;p49"/>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Pero para este caso en la plantilla se debe seleccionar Aplicación web de Blazor </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fin de poder identificar el proyecto este terminara con .web y su ubicacion sera en el directorio correspondiente a ese cliente</a:t>
            </a:r>
            <a:endParaRPr sz="1564">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04" name="Google Shape;404;p50"/>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05" name="Google Shape;405;p50"/>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De igual manera se usara .Net 10.0 como versión del framework, este proyecto generar 2 el .web que definimos y no .web.client.</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Para el caso de clientes mobile y desktop se va a crear un proyecto afín para estas plataformas, por lo que una vez más es necesario agregar un nuevo proyecto.</a:t>
            </a:r>
            <a:endParaRPr sz="1564">
              <a:latin typeface="Cambria"/>
              <a:ea typeface="Cambria"/>
              <a:cs typeface="Cambria"/>
              <a:sym typeface="Cambria"/>
            </a:endParaRPr>
          </a:p>
        </p:txBody>
      </p:sp>
      <p:pic>
        <p:nvPicPr>
          <p:cNvPr id="406" name="Google Shape;406;p50"/>
          <p:cNvPicPr preferRelativeResize="0"/>
          <p:nvPr/>
        </p:nvPicPr>
        <p:blipFill>
          <a:blip r:embed="rId3">
            <a:alphaModFix/>
          </a:blip>
          <a:stretch>
            <a:fillRect/>
          </a:stretch>
        </p:blipFill>
        <p:spPr>
          <a:xfrm>
            <a:off x="256575" y="3246650"/>
            <a:ext cx="3705225" cy="3581400"/>
          </a:xfrm>
          <a:prstGeom prst="rect">
            <a:avLst/>
          </a:prstGeom>
          <a:noFill/>
          <a:ln>
            <a:noFill/>
          </a:ln>
        </p:spPr>
      </p:pic>
      <p:pic>
        <p:nvPicPr>
          <p:cNvPr id="407" name="Google Shape;407;p50"/>
          <p:cNvPicPr preferRelativeResize="0"/>
          <p:nvPr/>
        </p:nvPicPr>
        <p:blipFill>
          <a:blip r:embed="rId4">
            <a:alphaModFix/>
          </a:blip>
          <a:stretch>
            <a:fillRect/>
          </a:stretch>
        </p:blipFill>
        <p:spPr>
          <a:xfrm>
            <a:off x="4326425" y="3793250"/>
            <a:ext cx="4625675" cy="1845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1"/>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13" name="Google Shape;413;p51"/>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14" name="Google Shape;414;p51"/>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la plantilla para este caso es la de aplicación de .NET MAUI Blazor Hybrid la cual permite fusionar la plataforma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esta plantilla colocaremos un nombre que finalice .Maui</a:t>
            </a:r>
            <a:endParaRPr sz="1564">
              <a:latin typeface="Cambria"/>
              <a:ea typeface="Cambria"/>
              <a:cs typeface="Cambria"/>
              <a:sym typeface="Cambria"/>
            </a:endParaRPr>
          </a:p>
        </p:txBody>
      </p:sp>
      <p:pic>
        <p:nvPicPr>
          <p:cNvPr id="415" name="Google Shape;415;p51"/>
          <p:cNvPicPr preferRelativeResize="0"/>
          <p:nvPr/>
        </p:nvPicPr>
        <p:blipFill>
          <a:blip r:embed="rId3">
            <a:alphaModFix/>
          </a:blip>
          <a:stretch>
            <a:fillRect/>
          </a:stretch>
        </p:blipFill>
        <p:spPr>
          <a:xfrm>
            <a:off x="107750" y="3471275"/>
            <a:ext cx="4476750" cy="2895600"/>
          </a:xfrm>
          <a:prstGeom prst="rect">
            <a:avLst/>
          </a:prstGeom>
          <a:noFill/>
          <a:ln>
            <a:noFill/>
          </a:ln>
        </p:spPr>
      </p:pic>
      <p:pic>
        <p:nvPicPr>
          <p:cNvPr id="416" name="Google Shape;416;p51"/>
          <p:cNvPicPr preferRelativeResize="0"/>
          <p:nvPr/>
        </p:nvPicPr>
        <p:blipFill>
          <a:blip r:embed="rId4">
            <a:alphaModFix/>
          </a:blip>
          <a:stretch>
            <a:fillRect/>
          </a:stretch>
        </p:blipFill>
        <p:spPr>
          <a:xfrm>
            <a:off x="4823813" y="3471275"/>
            <a:ext cx="4253601" cy="2705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22" name="Google Shape;422;p52"/>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23" name="Google Shape;423;p52"/>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Se debe referenciar el proyecto central a los proyectos que se acaban de crear esto tanto para el proyecto web como para que es para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esto se debe buscar el proyecto shared(proyecto central) para que los proyectos adyacentes sepan a donde apuntar</a:t>
            </a:r>
            <a:endParaRPr sz="1564">
              <a:latin typeface="Cambria"/>
              <a:ea typeface="Cambria"/>
              <a:cs typeface="Cambria"/>
              <a:sym typeface="Cambria"/>
            </a:endParaRPr>
          </a:p>
        </p:txBody>
      </p:sp>
      <p:pic>
        <p:nvPicPr>
          <p:cNvPr id="424" name="Google Shape;424;p52"/>
          <p:cNvPicPr preferRelativeResize="0"/>
          <p:nvPr/>
        </p:nvPicPr>
        <p:blipFill>
          <a:blip r:embed="rId3">
            <a:alphaModFix/>
          </a:blip>
          <a:stretch>
            <a:fillRect/>
          </a:stretch>
        </p:blipFill>
        <p:spPr>
          <a:xfrm>
            <a:off x="167300" y="3910850"/>
            <a:ext cx="4107051" cy="1826175"/>
          </a:xfrm>
          <a:prstGeom prst="rect">
            <a:avLst/>
          </a:prstGeom>
          <a:noFill/>
          <a:ln>
            <a:noFill/>
          </a:ln>
        </p:spPr>
      </p:pic>
      <p:pic>
        <p:nvPicPr>
          <p:cNvPr id="425" name="Google Shape;425;p52"/>
          <p:cNvPicPr preferRelativeResize="0"/>
          <p:nvPr/>
        </p:nvPicPr>
        <p:blipFill>
          <a:blip r:embed="rId4">
            <a:alphaModFix/>
          </a:blip>
          <a:stretch>
            <a:fillRect/>
          </a:stretch>
        </p:blipFill>
        <p:spPr>
          <a:xfrm>
            <a:off x="4429438" y="3317241"/>
            <a:ext cx="4732200" cy="333298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31" name="Google Shape;431;p53"/>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32" name="Google Shape;432;p53"/>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Lo que sigue es ir creando los diferentes paquetes que se van a usar.</a:t>
            </a:r>
            <a:endParaRPr sz="1564">
              <a:latin typeface="Cambria"/>
              <a:ea typeface="Cambria"/>
              <a:cs typeface="Cambria"/>
              <a:sym typeface="Cambria"/>
            </a:endParaRPr>
          </a:p>
        </p:txBody>
      </p:sp>
      <p:pic>
        <p:nvPicPr>
          <p:cNvPr id="433" name="Google Shape;433;p53"/>
          <p:cNvPicPr preferRelativeResize="0"/>
          <p:nvPr/>
        </p:nvPicPr>
        <p:blipFill>
          <a:blip r:embed="rId3">
            <a:alphaModFix/>
          </a:blip>
          <a:stretch>
            <a:fillRect/>
          </a:stretch>
        </p:blipFill>
        <p:spPr>
          <a:xfrm>
            <a:off x="1164400" y="2905725"/>
            <a:ext cx="5611251" cy="37677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39" name="Google Shape;439;p5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40" name="Google Shape;440;p5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41" name="Google Shape;441;p54"/>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ec.edu.monster.Modelos;</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static class ConstantesRed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"192.168.18.9";</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"localhost";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UrlJavaSoap = $"http://{IP_WEB_SERVICES}:8080/04.SERVIDOR/WSConversorUnidades";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UrlDotNetSoap = $"http://{IP_WEB_SERVICES}:50774/WSConversorUnidades.svc";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UrlDotNetRest = $"http://{IP_WEB_SERVICES}:52100/api";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UrlJavaRest = $"http://{IP_WEB_SERVICES}:8080/04.SERVIDOR/api";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47" name="Google Shape;447;p5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48" name="Google Shape;448;p5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49" name="Google Shape;449;p55"/>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namespace ec.edu.monster.Servicios;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IEnumerable&lt;IAdaptadorConversion&gt; _adaptadoresConversion;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IEnumerable&lt;IAdaptadorAutenticacion&gt; _adaptadoresAutenticacion;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IEnumerable&lt;IAdaptadorConversion&gt;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IEnumerable&lt;IAdaptadorAutenticacion&gt;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 =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 =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IAdaptadorConversion ObtenerAdaptadorConversion(TipoBackend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conversión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IAdaptadorAutenticacion ObtenerAdaptadorAutenticacion(TipoBackend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autenticación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55" name="Google Shape;455;p5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56" name="Google Shape;456;p5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57" name="Google Shape;457;p56"/>
          <p:cNvGraphicFramePr/>
          <p:nvPr/>
        </p:nvGraphicFramePr>
        <p:xfrm>
          <a:off x="2385650" y="2264513"/>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@page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ec.edu.monster.Servicios.EstadoAplicacion EstadoApp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ec.edu.monster.Servicios.FabricaEstrategiaBackend Fabrica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NavigationManager NavManager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 class="espe-background"&gt;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class="espe-card" style="width: 800px;"&gt;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class="row g-0"&gt;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style="background-color: #f8f9fa;"&gt;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&lt;img src="/sullivan_computer.jpg" class="img-fluid" style="height: 100%; object-fit: cover;" alt="Imagen Login"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p-5 d-flex flex-column justify-content-center"&gt;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&lt;h4 style="color: #0F4770;"&gt;Sistema de Conversión de Unidades&lt;/h4&gt;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class="text-secondary"&gt;GRUPO #5&lt;/small&gt;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63" name="Google Shape;463;p5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64" name="Google Shape;464;p5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65" name="Google Shape;465;p57"/>
          <p:cNvGraphicFramePr/>
          <p:nvPr/>
        </p:nvGraphicFramePr>
        <p:xfrm>
          <a:off x="2445175" y="202638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 p-3 rounded" style="background-color: #e0f2f1; border-left: 4px solid #0F4770;"&gt;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 class="fw-bold text-secondary mb-1" style="font-size: 0.85rem;"&gt;ENTORNO DE CONEXIÓN&lt;/label&gt;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 class="form-select espe-form-control bg-transparent border-0 border-bottom fw-bold"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style="color: #0F4770; box-shadow: none;"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@bind:get="EstadoApp.BackendActual"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@bind:set="(value) =&gt; EstadoApp.EstablecerBackend(value)"&gt;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@foreach (var backend in Enum.GetValues&lt;ec.edu.monster.Modelos.TipoBackend&gt;())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&lt;option value="@backend"&gt;@backend.ToString()&lt;/option&gt;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class="mb-3"&gt;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&lt;label&gt;Usuario&lt;/label&gt;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type="text" class="form-control espe-form-control" @bind="usuario"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&lt;label&gt;Contraseña&lt;/label&gt;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type="password" class="form-control espe-form-control" @bind="contrasenia"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&lt;button class="btn espe-btn-primary w-100" @onclick="HacerLogin"&gt;Iniciar sesión&lt;/button&gt;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alert-success mt-3 p-2 text-center" style="font-size: 0.8em; overflow-wrap: break-word;"&gt;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Token obtenido correctamente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1" name="Google Shape;471;p5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72" name="Google Shape;472;p5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73" name="Google Shape;473;p58"/>
          <p:cNvGraphicFramePr/>
          <p:nvPr/>
        </p:nvGraphicFramePr>
        <p:xfrm>
          <a:off x="2332838" y="1771213"/>
          <a:ext cx="3000000" cy="3000000"/>
        </p:xfrm>
        <a:graphic>
          <a:graphicData uri="http://schemas.openxmlformats.org/drawingml/2006/table">
            <a:tbl>
              <a:tblPr>
                <a:noFill/>
                <a:tableStyleId>{BF136021-7255-42B7-A7E7-87A8D8FFE9CA}</a:tableStyleId>
              </a:tblPr>
              <a:tblGrid>
                <a:gridCol w="6484300"/>
              </a:tblGrid>
              <a:tr h="4509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(!string.IsNullOrEmpty(mensajeErrorLogin))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alert-danger mt-3 p-2 text-center" style="font-size: 0.8em;"&gt;@mensajeErrorLogin&lt;/div&gt;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mt-4"&gt;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class="text-info" style="font-size: 0.8rem;"&gt;Servidor web listo para conexiones.&lt;/small&gt;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@code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usuario = "Monster";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contrasenia = "Monster9";</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async Task HacerLogin()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try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patrón Strategy: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adaptadorAuth = Fabrica.ObtenerAdaptadorAutenticacion(EstadoApp.BackendActual);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EstadoApp.TokenActual = await adaptadorAuth.IniciarSesionAsync(usuario, contrasenia);</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NavManager.NavigateTo("/conversor");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catch (Exception ex)</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ex.Message;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9" name="Google Shape;479;p5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0" name="Google Shape;480;p5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1" name="Google Shape;481;p59"/>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AdaptadorAutenticacionJavaSoap : IAdaptadorAutenticacion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AdaptadorAutenticacionJavaSoap(HttpClient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IniciarSesionAsync(string usuario, string contrasenia)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87" name="Google Shape;487;p6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8" name="Google Shape;488;p6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9" name="Google Shape;489;p60"/>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(Envelope)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Nota: El namespace "http://ws.monster.edu.ec/" es el que Java genera por defecto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&lt;usuario&gt;{usuario}&lt;/usuario&gt;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&lt;contrasenia&gt;{contrasenia}&lt;/contrasenia&gt;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 a Payara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HTTP: {response.StatusCode}");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Leer e interpretar la respuesta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95" name="Google Shape;495;p6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96" name="Google Shape;496;p6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97" name="Google Shape;497;p61"/>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Buscamos la etiqueta &lt;return&gt; que contiene el token (comportamiento estándar de JAX-WS)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tokenElement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(tokenElement == null)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encontró el token en la respuesta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tokenElement.Value;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CambiarContraseniaAsync(string contraseniaActual, string contraseniaNueva,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Construimos el XML respetando los @WebParam de tu Java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&lt;contraseniaActual&gt;{contraseniaActual}&lt;/contraseniaActual&gt;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&lt;contraseniaNueva&gt;{contraseniaNueva}&lt;/contraseniaNueva&gt;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request = new HttpRequestMessage(HttpMethod.Post, ConstantesRed.UrlJavaSoap)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Content = new StringContent(soapXml, System.Text.Encoding.UTF8,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03" name="Google Shape;503;p6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04" name="Google Shape;504;p6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05" name="Google Shape;505;p62"/>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r>
                        <a:rPr lang="es-ES" sz="900">
                          <a:solidFill>
                            <a:srgbClr val="4F81BD"/>
                          </a:solidFill>
                          <a:latin typeface="Calibri"/>
                          <a:ea typeface="Calibri"/>
                          <a:cs typeface="Calibri"/>
                          <a:sym typeface="Calibri"/>
                        </a:rPr>
                        <a:t>request.Headers.ExpectContinue = false;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request.Headers.Add("SOAPAction",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_httpClient.SendAsync(request);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{faultString ?? "No se pudo cambiar la contraseña"}");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resultElement?.Value ?? "Contraseña actualizada correctamente";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1" name="Google Shape;511;p6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12" name="Google Shape;512;p6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13" name="Google Shape;513;p63"/>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System.Globalization;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AdaptadorConversionJavaSoap : IAdaptadorConversion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AdaptadorConversionJavaSoap(HttpClient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Task&lt;double&gt; ConvertirAsync(PeticionConversion peticion,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Determinamos qué método llamar en el Web Service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metodoWs = peticion.TipoConversion switch</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"Masa" =&gt; "convertirMasa",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"Temperatura" =&gt; "convertirTemperatura",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 =&gt; "convertirLongitud"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9" name="Google Shape;519;p6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0" name="Google Shape;520;p6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1" name="Google Shape;521;p64"/>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string valorFormateado = peticion.Valor.ToString(CultureInfo.InvariantCulture);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incluyendo el Token en el Header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&lt;ws:token&gt;{token}&lt;/ws:token&gt;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&lt;valor&gt;{valorFormateado}&lt;/valor&gt;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&lt;unidadInicial&gt;{peticion.UnidadOrigen}&lt;/unidadInicial&gt;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&lt;unidadFinal&gt;{peticion.UnidadDestino}&lt;/unidadFinal&gt;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Si el token es inválido o hay un error, Java SOAP suele devolver HTTP 500 con un &lt;soapenv:Fault&gt;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27" name="Google Shape;527;p6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8" name="Google Shape;528;p6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9" name="Google Shape;529;p65"/>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del servidor SOAP: {faultString ?? response.StatusCode.ToString()}");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Extraer el resultado double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(resultElement != null &amp;&amp; double.TryParse(resultElement.Value, NumberStyles.Any, CultureInfo.InvariantCulture, out double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pudo parsear el resultado matemático del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36" name="Google Shape;536;p66"/>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desktop se debe crear la instancia que llame al codigo que esta en el proyecto .shared, por lo que el codigo se ve asi, es el mismo que el de movil, sol cambiará la adaptación de la plataforma que se llame</a:t>
            </a:r>
            <a:endParaRPr>
              <a:latin typeface="Cambria"/>
              <a:ea typeface="Cambria"/>
              <a:cs typeface="Cambria"/>
              <a:sym typeface="Cambria"/>
            </a:endParaRPr>
          </a:p>
        </p:txBody>
      </p:sp>
      <p:sp>
        <p:nvSpPr>
          <p:cNvPr id="537" name="Google Shape;537;p6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38" name="Google Shape;538;p66"/>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tblGrid>
              <a:tr h="3453000">
                <a:tc>
                  <a:txBody>
                    <a:bodyPr/>
                    <a:lstStyle/>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539" name="Google Shape;539;p66"/>
          <p:cNvSpPr txBox="1"/>
          <p:nvPr/>
        </p:nvSpPr>
        <p:spPr>
          <a:xfrm>
            <a:off x="122575" y="1715850"/>
            <a:ext cx="7232400" cy="758100"/>
          </a:xfrm>
          <a:prstGeom prst="rect">
            <a:avLst/>
          </a:prstGeom>
          <a:noFill/>
          <a:ln>
            <a:noFill/>
          </a:ln>
        </p:spPr>
        <p:txBody>
          <a:bodyPr anchorCtr="0" anchor="t" bIns="91425" lIns="91425" spcFirstLastPara="1" rIns="91425" wrap="square" tIns="91425">
            <a:spAutoFit/>
          </a:bodyPr>
          <a:lstStyle/>
          <a:p>
            <a:pPr indent="0" lvl="0" marL="0" rtl="0" algn="just">
              <a:lnSpc>
                <a:spcPct val="107000"/>
              </a:lnSpc>
              <a:spcBef>
                <a:spcPts val="0"/>
              </a:spcBef>
              <a:spcAft>
                <a:spcPts val="0"/>
              </a:spcAft>
              <a:buNone/>
            </a:pPr>
            <a:r>
              <a:rPr b="1" lang="es-ES" sz="1800">
                <a:solidFill>
                  <a:schemeClr val="dk2"/>
                </a:solidFill>
                <a:latin typeface="Cambria"/>
                <a:ea typeface="Cambria"/>
                <a:cs typeface="Cambria"/>
                <a:sym typeface="Cambria"/>
              </a:rPr>
              <a:t>1.6 	CREACIÓN DEL PROYECTO – CLIENTE ESCRITORIO</a:t>
            </a:r>
            <a:br>
              <a:rPr b="1" lang="es-ES" sz="1800">
                <a:solidFill>
                  <a:schemeClr val="dk2"/>
                </a:solidFill>
                <a:latin typeface="Cambria"/>
                <a:ea typeface="Cambria"/>
                <a:cs typeface="Cambria"/>
                <a:sym typeface="Cambria"/>
              </a:rPr>
            </a:br>
            <a:endParaRPr sz="1800">
              <a:solidFill>
                <a:schemeClr val="dk2"/>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46" name="Google Shape;546;p6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47" name="Google Shape;547;p67"/>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2. SERVICIOS CORE</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54" name="Google Shape;554;p6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55" name="Google Shape;555;p68"/>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1100">
                        <a:solidFill>
                          <a:schemeClr val="dk1"/>
                        </a:solidFill>
                      </a:endParaRPr>
                    </a:p>
                  </a:txBody>
                  <a:tcPr marT="63500" marB="63500" marR="63500" marL="63500"/>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62" name="Google Shape;562;p6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63" name="Google Shape;563;p69"/>
          <p:cNvGraphicFramePr/>
          <p:nvPr/>
        </p:nvGraphicFramePr>
        <p:xfrm>
          <a:off x="2332825" y="191408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a:t>
                      </a:r>
                      <a:endParaRPr sz="1100">
                        <a:solidFill>
                          <a:schemeClr val="dk1"/>
                        </a:solidFill>
                      </a:endParaRPr>
                    </a:p>
                  </a:txBody>
                  <a:tcPr marT="63500" marB="63500" marR="63500" marL="63500"/>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570" name="Google Shape;570;p70"/>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571" name="Google Shape;571;p70"/>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78" name="Google Shape;578;p71"/>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79" name="Google Shape;579;p71"/>
          <p:cNvPicPr preferRelativeResize="0"/>
          <p:nvPr/>
        </p:nvPicPr>
        <p:blipFill>
          <a:blip r:embed="rId3">
            <a:alphaModFix/>
          </a:blip>
          <a:stretch>
            <a:fillRect/>
          </a:stretch>
        </p:blipFill>
        <p:spPr>
          <a:xfrm>
            <a:off x="2057925" y="2610550"/>
            <a:ext cx="5734050" cy="34671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86" name="Google Shape;586;p72"/>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87" name="Google Shape;587;p72"/>
          <p:cNvPicPr preferRelativeResize="0"/>
          <p:nvPr/>
        </p:nvPicPr>
        <p:blipFill>
          <a:blip r:embed="rId3">
            <a:alphaModFix/>
          </a:blip>
          <a:stretch>
            <a:fillRect/>
          </a:stretch>
        </p:blipFill>
        <p:spPr>
          <a:xfrm>
            <a:off x="2176450" y="2610550"/>
            <a:ext cx="5734050" cy="3495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94" name="Google Shape;594;p73"/>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web se debe crear la instancia que llame al codigo que esta en el proyecto .shared, por lo que el codigo se ve asi:</a:t>
            </a:r>
            <a:endParaRPr>
              <a:latin typeface="Cambria"/>
              <a:ea typeface="Cambria"/>
              <a:cs typeface="Cambria"/>
              <a:sym typeface="Cambria"/>
            </a:endParaRPr>
          </a:p>
        </p:txBody>
      </p:sp>
      <p:sp>
        <p:nvSpPr>
          <p:cNvPr id="595" name="Google Shape;595;p7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96" name="Google Shape;596;p73"/>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tblGrid>
              <a:tr h="345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SistemaConversorUI.Web.Client.Pages;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builder = WebApplication.CreateBuilder(args);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1. Servicios base de Blazor y Seguridad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builder.Services.AddRazorComponents()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03" name="Google Shape;603;p7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04" name="Google Shape;604;p74"/>
          <p:cNvGraphicFramePr/>
          <p:nvPr/>
        </p:nvGraphicFramePr>
        <p:xfrm>
          <a:off x="2332838" y="2061838"/>
          <a:ext cx="3000000" cy="3000000"/>
        </p:xfrm>
        <a:graphic>
          <a:graphicData uri="http://schemas.openxmlformats.org/drawingml/2006/table">
            <a:tbl>
              <a:tblPr>
                <a:noFill/>
                <a:tableStyleId>{BF136021-7255-42B7-A7E7-87A8D8FFE9CA}</a:tableStyleId>
              </a:tblPr>
              <a:tblGrid>
                <a:gridCol w="6484300"/>
              </a:tblGrid>
              <a:tr h="4465025">
                <a:tc>
                  <a:txBody>
                    <a:bodyPr/>
                    <a:lstStyle/>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3. ADAPTADORES DE AUTENTICACIÓN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 (Para los demás):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4. ADAPTADORES DE CONVERSIÓN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11" name="Google Shape;611;p7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12" name="Google Shape;612;p75"/>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tblGrid>
              <a:tr h="446502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FIN DE LOS SERVICIOS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app =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Configure the HTTP request pipeline.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(app.Environment.IsDevelopment())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app.UseWebAssemblyDebugging();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app.UseExceptionHandler("/Error", createScopeForErrors: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The default HSTS value is 30 days. You may want to change this for production scenarios, see https://aka.ms/aspnetcore-hsts.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app.UseStatusCodePagesWithReExecute("/not-found", createScopeForStatusCodePages: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app.UseHttpsRedirection();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app.MapStaticAssets();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app.MapRazorComponents&lt;App&gt;()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.AddInteractiveServerRenderMode()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.AddAdditionalAssemblies(typeof(SistemaConversorUI.Web.Client._Imports).Assembly);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app.Run();</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619" name="Google Shape;619;p76"/>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620" name="Google Shape;620;p76"/>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27" name="Google Shape;627;p77"/>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a:t>
            </a:r>
            <a:endParaRPr b="0" i="0" sz="2000" u="none" cap="none" strike="noStrike">
              <a:solidFill>
                <a:srgbClr val="3D3D3D"/>
              </a:solidFill>
              <a:latin typeface="Cambria"/>
              <a:ea typeface="Cambria"/>
              <a:cs typeface="Cambria"/>
              <a:sym typeface="Cambria"/>
            </a:endParaRPr>
          </a:p>
        </p:txBody>
      </p:sp>
      <p:pic>
        <p:nvPicPr>
          <p:cNvPr id="628" name="Google Shape;628;p77"/>
          <p:cNvPicPr preferRelativeResize="0"/>
          <p:nvPr/>
        </p:nvPicPr>
        <p:blipFill>
          <a:blip r:embed="rId3">
            <a:alphaModFix/>
          </a:blip>
          <a:stretch>
            <a:fillRect/>
          </a:stretch>
        </p:blipFill>
        <p:spPr>
          <a:xfrm>
            <a:off x="989425" y="2522350"/>
            <a:ext cx="7615825" cy="38964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34" name="Google Shape;634;p7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35" name="Google Shape;635;p78"/>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Cambiar </a:t>
            </a:r>
            <a:r>
              <a:rPr b="1" lang="es-ES" sz="1800">
                <a:solidFill>
                  <a:srgbClr val="3D3D3D"/>
                </a:solidFill>
                <a:latin typeface="Cambria"/>
                <a:ea typeface="Cambria"/>
                <a:cs typeface="Cambria"/>
                <a:sym typeface="Cambria"/>
              </a:rPr>
              <a:t>contraseña</a:t>
            </a:r>
            <a:endParaRPr b="0" i="0" sz="2000" u="none" cap="none" strike="noStrike">
              <a:solidFill>
                <a:srgbClr val="3D3D3D"/>
              </a:solidFill>
              <a:latin typeface="Cambria"/>
              <a:ea typeface="Cambria"/>
              <a:cs typeface="Cambria"/>
              <a:sym typeface="Cambria"/>
            </a:endParaRPr>
          </a:p>
        </p:txBody>
      </p:sp>
      <p:pic>
        <p:nvPicPr>
          <p:cNvPr id="636" name="Google Shape;636;p78"/>
          <p:cNvPicPr preferRelativeResize="0"/>
          <p:nvPr/>
        </p:nvPicPr>
        <p:blipFill>
          <a:blip r:embed="rId3">
            <a:alphaModFix/>
          </a:blip>
          <a:stretch>
            <a:fillRect/>
          </a:stretch>
        </p:blipFill>
        <p:spPr>
          <a:xfrm>
            <a:off x="1223950" y="2763050"/>
            <a:ext cx="7317725" cy="3731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graphicFrame>
        <p:nvGraphicFramePr>
          <p:cNvPr id="641" name="Google Shape;641;p79"/>
          <p:cNvGraphicFramePr/>
          <p:nvPr/>
        </p:nvGraphicFramePr>
        <p:xfrm>
          <a:off x="2332838" y="2865288"/>
          <a:ext cx="3000000" cy="3000000"/>
        </p:xfrm>
        <a:graphic>
          <a:graphicData uri="http://schemas.openxmlformats.org/drawingml/2006/table">
            <a:tbl>
              <a:tblPr>
                <a:noFill/>
                <a:tableStyleId>{BF136021-7255-42B7-A7E7-87A8D8FFE9CA}</a:tableStyleId>
              </a:tblPr>
              <a:tblGrid>
                <a:gridCol w="6484300"/>
              </a:tblGrid>
              <a:tr h="3661575">
                <a:tc>
                  <a:txBody>
                    <a:bodyPr/>
                    <a:lstStyle/>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42" name="Google Shape;642;p7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44" name="Google Shape;644;p79"/>
          <p:cNvSpPr txBox="1"/>
          <p:nvPr/>
        </p:nvSpPr>
        <p:spPr>
          <a:xfrm>
            <a:off x="406975" y="1921878"/>
            <a:ext cx="8576700" cy="7374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Clr>
                <a:srgbClr val="000000"/>
              </a:buClr>
              <a:buSzPts val="1800"/>
              <a:buFont typeface="Arial"/>
              <a:buNone/>
            </a:pPr>
            <a:r>
              <a:rPr b="1" lang="es-ES" sz="1800">
                <a:solidFill>
                  <a:srgbClr val="3D3D3D"/>
                </a:solidFill>
                <a:latin typeface="Cambria"/>
                <a:ea typeface="Cambria"/>
                <a:cs typeface="Cambria"/>
                <a:sym typeface="Cambria"/>
              </a:rPr>
              <a:t>1.6</a:t>
            </a:r>
            <a:r>
              <a:rPr b="1" i="0" lang="es-ES" sz="1800" u="none" cap="none" strike="noStrike">
                <a:solidFill>
                  <a:srgbClr val="3D3D3D"/>
                </a:solidFill>
                <a:latin typeface="Cambria"/>
                <a:ea typeface="Cambria"/>
                <a:cs typeface="Cambria"/>
                <a:sym typeface="Cambria"/>
              </a:rPr>
              <a:t> 	CREACIÓN DEL PROYECTO – CLIENTE MÓVIL</a:t>
            </a:r>
            <a:br>
              <a:rPr b="1" i="0" lang="es-ES" sz="1800" u="none" cap="none" strike="noStrike">
                <a:solidFill>
                  <a:srgbClr val="3D3D3D"/>
                </a:solidFill>
                <a:latin typeface="Cambria"/>
                <a:ea typeface="Cambria"/>
                <a:cs typeface="Cambria"/>
                <a:sym typeface="Cambria"/>
              </a:rPr>
            </a:br>
            <a:endParaRPr b="0" i="0" sz="1800" u="none" cap="none" strike="noStrike">
              <a:solidFill>
                <a:srgbClr val="3D3D3D"/>
              </a:solidFill>
              <a:latin typeface="Gill Sans"/>
              <a:ea typeface="Gill Sans"/>
              <a:cs typeface="Gill Sans"/>
              <a:sym typeface="Gill Sans"/>
            </a:endParaRPr>
          </a:p>
        </p:txBody>
      </p:sp>
      <p:sp>
        <p:nvSpPr>
          <p:cNvPr id="645" name="Google Shape;645;p7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646" name="Google Shape;646;p79"/>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móvil se debe crear la instancia que llame al codigo que esta en el proyecto .shared, por lo que el código se ve así:</a:t>
            </a:r>
            <a:endParaRPr>
              <a:latin typeface="Cambria"/>
              <a:ea typeface="Cambria"/>
              <a:cs typeface="Cambria"/>
              <a:sym typeface="Cambri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graphicFrame>
        <p:nvGraphicFramePr>
          <p:cNvPr id="651" name="Google Shape;651;p80"/>
          <p:cNvGraphicFramePr/>
          <p:nvPr/>
        </p:nvGraphicFramePr>
        <p:xfrm>
          <a:off x="2332838" y="2061638"/>
          <a:ext cx="3000000" cy="3000000"/>
        </p:xfrm>
        <a:graphic>
          <a:graphicData uri="http://schemas.openxmlformats.org/drawingml/2006/table">
            <a:tbl>
              <a:tblPr>
                <a:noFill/>
                <a:tableStyleId>{BF136021-7255-42B7-A7E7-87A8D8FFE9CA}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52" name="Google Shape;652;p8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54" name="Google Shape;654;p8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graphicFrame>
        <p:nvGraphicFramePr>
          <p:cNvPr id="659" name="Google Shape;659;p81"/>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60" name="Google Shape;660;p8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62" name="Google Shape;662;p8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670" name="Google Shape;670;p82"/>
          <p:cNvPicPr preferRelativeResize="0"/>
          <p:nvPr/>
        </p:nvPicPr>
        <p:blipFill>
          <a:blip r:embed="rId3">
            <a:alphaModFix/>
          </a:blip>
          <a:stretch>
            <a:fillRect/>
          </a:stretch>
        </p:blipFill>
        <p:spPr>
          <a:xfrm>
            <a:off x="3843225" y="1715850"/>
            <a:ext cx="2484925" cy="49024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 de </a:t>
            </a:r>
            <a:r>
              <a:rPr b="1" lang="es-ES" sz="1800">
                <a:solidFill>
                  <a:srgbClr val="3D3D3D"/>
                </a:solidFill>
                <a:latin typeface="Cambria"/>
                <a:ea typeface="Cambria"/>
                <a:cs typeface="Cambria"/>
                <a:sym typeface="Cambria"/>
              </a:rPr>
              <a:t>unidades</a:t>
            </a:r>
            <a:endParaRPr b="0" i="0" sz="2000" u="none" cap="none" strike="noStrike">
              <a:solidFill>
                <a:srgbClr val="3D3D3D"/>
              </a:solidFill>
              <a:latin typeface="Cambria"/>
              <a:ea typeface="Cambria"/>
              <a:cs typeface="Cambria"/>
              <a:sym typeface="Cambria"/>
            </a:endParaRPr>
          </a:p>
        </p:txBody>
      </p:sp>
      <p:pic>
        <p:nvPicPr>
          <p:cNvPr id="678" name="Google Shape;678;p83"/>
          <p:cNvPicPr preferRelativeResize="0"/>
          <p:nvPr/>
        </p:nvPicPr>
        <p:blipFill>
          <a:blip r:embed="rId3">
            <a:alphaModFix/>
          </a:blip>
          <a:stretch>
            <a:fillRect/>
          </a:stretch>
        </p:blipFill>
        <p:spPr>
          <a:xfrm>
            <a:off x="5149825" y="1868350"/>
            <a:ext cx="2413600" cy="47166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8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cambio de contraseña</a:t>
            </a:r>
            <a:endParaRPr b="0" i="0" sz="2000" u="none" cap="none" strike="noStrike">
              <a:solidFill>
                <a:srgbClr val="3D3D3D"/>
              </a:solidFill>
              <a:latin typeface="Cambria"/>
              <a:ea typeface="Cambria"/>
              <a:cs typeface="Cambria"/>
              <a:sym typeface="Cambria"/>
            </a:endParaRPr>
          </a:p>
        </p:txBody>
      </p:sp>
      <p:pic>
        <p:nvPicPr>
          <p:cNvPr id="686" name="Google Shape;686;p84"/>
          <p:cNvPicPr preferRelativeResize="0"/>
          <p:nvPr/>
        </p:nvPicPr>
        <p:blipFill>
          <a:blip r:embed="rId3">
            <a:alphaModFix/>
          </a:blip>
          <a:stretch>
            <a:fillRect/>
          </a:stretch>
        </p:blipFill>
        <p:spPr>
          <a:xfrm>
            <a:off x="5042825" y="1868350"/>
            <a:ext cx="2520625" cy="51565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SzPts val="1656"/>
              <a:buNone/>
            </a:pPr>
            <a:r>
              <a:rPr lang="es-ES" sz="1900">
                <a:latin typeface="Cambria"/>
                <a:ea typeface="Cambria"/>
                <a:cs typeface="Cambria"/>
                <a:sym typeface="Cambria"/>
              </a:rPr>
              <a:t>La culminación de este proyecto evidencia la efectividad de una Arquitectura Orientada a Servicios (SOA) al integrar exitosamente un servidor SOAP robusto, desarrollado en Java y alojado en Payara Server, con un ecosistema de clientes multiplataforma (web, móvil, escritorio y consola) mediante el uso de .NET MAUI. Esta integración técnica se validó mediante la implementación de un sistema de seguridad desacoplado basado en tokens y manejadores de mensajes (Message Handlers), junto con la aplicación del patrón Strategy en el cliente, lo que garantiza una solución de software interoperable, escalable y alineada con los estándares de desarrollo empresarial modernos.</a:t>
            </a:r>
            <a:endParaRPr sz="1900"/>
          </a:p>
        </p:txBody>
      </p:sp>
      <p:sp>
        <p:nvSpPr>
          <p:cNvPr id="693" name="Google Shape;693;p8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CONCLUSIONES</a:t>
            </a:r>
            <a:endParaRPr b="0" i="0" sz="1400" u="none" cap="none" strike="noStrike">
              <a:solidFill>
                <a:srgbClr val="FFFF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p:nvPr>
            <p:ph idx="1" type="body"/>
          </p:nvPr>
        </p:nvSpPr>
        <p:spPr>
          <a:xfrm>
            <a:off x="581200" y="2025325"/>
            <a:ext cx="8500800" cy="42912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90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a:latin typeface="Cambria"/>
              <a:ea typeface="Cambria"/>
              <a:cs typeface="Cambria"/>
              <a:sym typeface="Cambria"/>
            </a:endParaRPr>
          </a:p>
          <a:p>
            <a:pPr indent="0" lvl="0" marL="0" rtl="0" algn="just">
              <a:lnSpc>
                <a:spcPct val="107000"/>
              </a:lnSpc>
              <a:spcBef>
                <a:spcPts val="0"/>
              </a:spcBef>
              <a:spcAft>
                <a:spcPts val="0"/>
              </a:spcAft>
              <a:buNone/>
            </a:pPr>
            <a:r>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Incorporar herramientas de análisis estático de código automatizadas dentro del ciclo de vida de desarrollo para monitorear la calidad del software y asegurar que las nuevas funcionalidades no rompan la compatibilidad con el contrato WSDL expuesto.</a:t>
            </a:r>
            <a:endParaRPr sz="19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RECOMENDACIONES</a:t>
            </a:r>
            <a:endParaRPr b="0" i="0" sz="1400" u="none" cap="none" strike="noStrike">
              <a:solidFill>
                <a:srgbClr val="FFFF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