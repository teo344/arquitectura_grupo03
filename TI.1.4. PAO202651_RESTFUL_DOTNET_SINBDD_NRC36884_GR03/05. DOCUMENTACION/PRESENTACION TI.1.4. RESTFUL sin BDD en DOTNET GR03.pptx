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4" r:id="rId7"/>
    <p:sldId id="265" r:id="rId8"/>
    <p:sldId id="266" r:id="rId9"/>
    <p:sldId id="267" r:id="rId10"/>
    <p:sldId id="268" r:id="rId11"/>
    <p:sldId id="270" r:id="rId12"/>
    <p:sldId id="271" r:id="rId13"/>
    <p:sldId id="272" r:id="rId14"/>
    <p:sldId id="273" r:id="rId15"/>
    <p:sldId id="274" r:id="rId16"/>
    <p:sldId id="277" r:id="rId17"/>
    <p:sldId id="279" r:id="rId18"/>
    <p:sldId id="280" r:id="rId19"/>
    <p:sldId id="330" r:id="rId20"/>
    <p:sldId id="262" r:id="rId21"/>
    <p:sldId id="263" r:id="rId22"/>
    <p:sldId id="261" r:id="rId23"/>
    <p:sldId id="281" r:id="rId24"/>
    <p:sldId id="282" r:id="rId25"/>
    <p:sldId id="283" r:id="rId26"/>
    <p:sldId id="285" r:id="rId27"/>
    <p:sldId id="289" r:id="rId28"/>
    <p:sldId id="290" r:id="rId29"/>
    <p:sldId id="291" r:id="rId30"/>
    <p:sldId id="294" r:id="rId31"/>
    <p:sldId id="295" r:id="rId32"/>
    <p:sldId id="302" r:id="rId33"/>
    <p:sldId id="307" r:id="rId34"/>
    <p:sldId id="309" r:id="rId35"/>
    <p:sldId id="313" r:id="rId36"/>
    <p:sldId id="314" r:id="rId37"/>
    <p:sldId id="315" r:id="rId38"/>
    <p:sldId id="292" r:id="rId39"/>
    <p:sldId id="316" r:id="rId40"/>
    <p:sldId id="319" r:id="rId41"/>
    <p:sldId id="320" r:id="rId42"/>
    <p:sldId id="321" r:id="rId43"/>
    <p:sldId id="293" r:id="rId44"/>
    <p:sldId id="322" r:id="rId45"/>
    <p:sldId id="323" r:id="rId46"/>
    <p:sldId id="325" r:id="rId47"/>
    <p:sldId id="326" r:id="rId48"/>
    <p:sldId id="327" r:id="rId49"/>
    <p:sldId id="328" r:id="rId50"/>
    <p:sldId id="329" r:id="rId51"/>
  </p:sldIdLst>
  <p:sldSz cx="12192000" cy="6858000"/>
  <p:notesSz cx="6858000" cy="9144000"/>
  <p:embeddedFontLst>
    <p:embeddedFont>
      <p:font typeface="Calibri" panose="020F0502020204030204" pitchFamily="34" charset="0"/>
      <p:regular r:id="rId53"/>
      <p:bold r:id="rId54"/>
      <p:italic r:id="rId55"/>
      <p:boldItalic r:id="rId56"/>
    </p:embeddedFont>
    <p:embeddedFont>
      <p:font typeface="Cambria" panose="02040503050406030204" pitchFamily="18" charset="0"/>
      <p:regular r:id="rId57"/>
      <p:bold r:id="rId58"/>
      <p:italic r:id="rId59"/>
      <p:boldItalic r:id="rId60"/>
    </p:embeddedFont>
    <p:embeddedFont>
      <p:font typeface="Gill Sans" panose="020B0604020202020204" charset="0"/>
      <p:regular r:id="rId61"/>
      <p:bold r:id="rId62"/>
    </p:embeddedFont>
    <p:embeddedFont>
      <p:font typeface="Segoe UI Symbol" panose="020B0502040204020203" pitchFamily="34" charset="0"/>
      <p:regular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F136021-7255-42B7-A7E7-87A8D8FFE9CA}">
  <a:tblStyle styleId="{BF136021-7255-42B7-A7E7-87A8D8FFE9CA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94656" autoAdjust="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4" d="100"/>
          <a:sy n="64" d="100"/>
        </p:scale>
        <p:origin x="3192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font" Target="fonts/font3.fntdata"/><Relationship Id="rId63" Type="http://schemas.openxmlformats.org/officeDocument/2006/relationships/font" Target="fonts/font11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1.fntdata"/><Relationship Id="rId58" Type="http://schemas.openxmlformats.org/officeDocument/2006/relationships/font" Target="fonts/font6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font" Target="fonts/font4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7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2.fntdata"/><Relationship Id="rId62" Type="http://schemas.openxmlformats.org/officeDocument/2006/relationships/font" Target="fonts/font10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font" Target="fonts/font5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notesMaster" Target="notesMasters/notesMaster1.xml"/><Relationship Id="rId60" Type="http://schemas.openxmlformats.org/officeDocument/2006/relationships/font" Target="fonts/font8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94" name="Google Shape;9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3" name="Google Shape;10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8526227be_0_4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2" name="Google Shape;112;g3a8526227be_0_4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a8526227be_0_4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9" name="Google Shape;119;g3a8526227be_0_4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a8526227be_0_4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27" name="Google Shape;127;g3a8526227be_0_4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8526227be_0_4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0" name="Google Shape;160;g3a8526227be_0_4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g3a8526227be_0_4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68" name="Google Shape;168;g3a8526227be_0_4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a8526227be_0_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77" name="Google Shape;177;g3a8526227be_0_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a8526227be_0_4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85" name="Google Shape;185;g3a8526227be_0_4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3a8526227be_0_4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94" name="Google Shape;194;g3a8526227be_0_4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8526227be_0_5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0" name="Google Shape;210;g3a8526227be_0_5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a8526227be_0_5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g3a8526227be_0_5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a8526227be_0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27" name="Google Shape;227;g3a8526227be_0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a8526227be_0_5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35" name="Google Shape;235;g3a8526227be_0_5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a8526227be_0_5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43" name="Google Shape;243;g3a8526227be_0_5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8526227be_0_5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67" name="Google Shape;267;g3a8526227be_0_5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a8526227be_0_5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83" name="Google Shape;283;g3a8526227be_0_5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a8526227be_0_5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1" name="Google Shape;291;g3a8526227be_0_5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a8526227be_0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43" name="Google Shape;143;g3a8526227be_0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8526227be_0_4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1" name="Google Shape;151;g3a8526227be_0_4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a8526227be_0_4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5" name="Google Shape;135;g3a8526227be_0_4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a8526227be_0_5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99" name="Google Shape;299;g3a8526227be_0_5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a854632a9a_2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08" name="Google Shape;308;g3a854632a9a_2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854632a9a_2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16" name="Google Shape;316;g3a854632a9a_2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3a854632a9a_2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32" name="Google Shape;332;g3a854632a9a_2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a854632a9a_2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67" name="Google Shape;367;g3a854632a9a_2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g3a8526227be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75" name="Google Shape;375;g3a8526227be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a854632a9a_2_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83" name="Google Shape;383;g3a854632a9a_2_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a854632a9a_2_1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0" name="Google Shape;410;g3a854632a9a_2_1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a854632a9a_2_1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19" name="Google Shape;419;g3a854632a9a_2_1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a854632a9a_2_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76" name="Google Shape;476;g3a854632a9a_2_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a854632a9a_2_3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16" name="Google Shape;516;g3a854632a9a_2_3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g3a854632a9a_2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32" name="Google Shape;532;g3a854632a9a_2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3a854632a9a_2_2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66" name="Google Shape;566;g3a854632a9a_2_2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a854632a9a_2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74" name="Google Shape;574;g3a854632a9a_2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3a854632a9a_2_2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82" name="Google Shape;582;g3a854632a9a_2_2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a854632a9a_2_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392" name="Google Shape;392;g3a854632a9a_2_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3a854632a9a_2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590" name="Google Shape;590;g3a854632a9a_2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g3a854632a9a_2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15" name="Google Shape;615;g3a854632a9a_2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a854632a9a_2_2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23" name="Google Shape;623;g3a854632a9a_2_2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Google Shape;630;g3a854632a9a_2_2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1" name="Google Shape;631;g3a854632a9a_2_2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3a854632a9a_2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401" name="Google Shape;401;g3a854632a9a_2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3a8526227be_0_6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39" name="Google Shape;639;g3a8526227be_0_6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g3a854632a9a_2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49" name="Google Shape;649;g3a854632a9a_2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854632a9a_2_3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65" name="Google Shape;665;g3a854632a9a_2_3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3a854632a9a_2_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73" name="Google Shape;673;g3a854632a9a_2_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g3a854632a9a_2_3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1" name="Google Shape;681;g3a854632a9a_2_3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Google Shape;688;g3a8526227be_0_6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89" name="Google Shape;689;g3a8526227be_0_6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Google Shape;695;g3a8526227be_0_6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696" name="Google Shape;696;g3a8526227be_0_6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iapositiva de título" type="title">
  <p:cSld name="TITLE"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2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472"/>
              <a:buNone/>
              <a:defRPr sz="1600" cap="none">
                <a:solidFill>
                  <a:schemeClr val="accent2"/>
                </a:solidFill>
              </a:defRPr>
            </a:lvl1pPr>
            <a:lvl2pPr lvl="1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104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164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objetos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11029615" cy="36783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0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cabezado de sección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4"/>
          <p:cNvSpPr txBox="1"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Gill Sans"/>
              <a:buNone/>
              <a:defRPr sz="3600" b="0" cap="none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None/>
              <a:defRPr sz="1800" cap="none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2" name="Google Shape;32;p4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os objetos" type="twoObj">
  <p:cSld name="TWO_OBJECTS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581193" y="2228003"/>
            <a:ext cx="5422390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body" idx="2"/>
          </p:nvPr>
        </p:nvSpPr>
        <p:spPr>
          <a:xfrm>
            <a:off x="6188417" y="2228003"/>
            <a:ext cx="5422392" cy="3633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0" name="Google Shape;40;p5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ación" type="twoTxTwoObj">
  <p:cSld name="TWO_OBJECTS_WITH_TEXT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/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6"/>
          <p:cNvSpPr txBox="1">
            <a:spLocks noGrp="1"/>
          </p:cNvSpPr>
          <p:nvPr>
            <p:ph type="body" idx="2"/>
          </p:nvPr>
        </p:nvSpPr>
        <p:spPr>
          <a:xfrm>
            <a:off x="581194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48" name="Google Shape;48;p6"/>
          <p:cNvSpPr txBox="1">
            <a:spLocks noGrp="1"/>
          </p:cNvSpPr>
          <p:nvPr>
            <p:ph type="body" idx="3"/>
          </p:nvPr>
        </p:nvSpPr>
        <p:spPr>
          <a:xfrm>
            <a:off x="6523735" y="2250892"/>
            <a:ext cx="5087073" cy="5533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40"/>
              </a:spcBef>
              <a:spcAft>
                <a:spcPts val="0"/>
              </a:spcAft>
              <a:buSzPts val="2024"/>
              <a:buNone/>
              <a:defRPr sz="2200" b="0">
                <a:solidFill>
                  <a:schemeClr val="accent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40"/>
              <a:buNone/>
              <a:defRPr sz="2000" b="1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None/>
              <a:defRPr sz="1800" b="1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None/>
              <a:defRPr sz="1600" b="1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472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6"/>
          <p:cNvSpPr txBox="1">
            <a:spLocks noGrp="1"/>
          </p:cNvSpPr>
          <p:nvPr>
            <p:ph type="body" idx="4"/>
          </p:nvPr>
        </p:nvSpPr>
        <p:spPr>
          <a:xfrm>
            <a:off x="6217709" y="2926052"/>
            <a:ext cx="5393100" cy="2934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50" name="Google Shape;50;p6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6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6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olo el título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7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7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7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57" name="Google Shape;57;p7"/>
          <p:cNvSpPr/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 blanco" type="blank">
  <p:cSld name="BLANK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8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8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ido con título" type="objTx">
  <p:cSld name="OBJECT_WITH_CAPTION_TEXT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/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D58AC"/>
              </a:buClr>
              <a:buSzPts val="2000"/>
              <a:buFont typeface="Gill Sans"/>
              <a:buNone/>
              <a:defRPr sz="2000" b="0"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9"/>
          <p:cNvSpPr txBox="1">
            <a:spLocks noGrp="1"/>
          </p:cNvSpPr>
          <p:nvPr>
            <p:ph type="body" idx="1"/>
          </p:nvPr>
        </p:nvSpPr>
        <p:spPr>
          <a:xfrm>
            <a:off x="447816" y="601200"/>
            <a:ext cx="11292840" cy="42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544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40"/>
              <a:buChar char="◼"/>
              <a:defRPr sz="2000">
                <a:solidFill>
                  <a:schemeClr val="dk2"/>
                </a:solidFill>
              </a:defRPr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 sz="1800">
                <a:solidFill>
                  <a:schemeClr val="dk2"/>
                </a:solidFill>
              </a:defRPr>
            </a:lvl2pPr>
            <a:lvl3pPr marL="1371600" lvl="2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 sz="1600">
                <a:solidFill>
                  <a:schemeClr val="dk2"/>
                </a:solidFill>
              </a:defRPr>
            </a:lvl3pPr>
            <a:lvl4pPr marL="1828800" lvl="3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4pPr>
            <a:lvl5pPr marL="2286000" lvl="4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5pPr>
            <a:lvl6pPr marL="2743200" lvl="5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6pPr>
            <a:lvl7pPr marL="3200400" lvl="6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7pPr>
            <a:lvl8pPr marL="3657600" lvl="7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8pPr>
            <a:lvl9pPr marL="4114800" lvl="8" indent="-310388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288"/>
              <a:buChar char="◼"/>
              <a:defRPr sz="14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body" idx="2"/>
          </p:nvPr>
        </p:nvSpPr>
        <p:spPr>
          <a:xfrm>
            <a:off x="5740823" y="5262296"/>
            <a:ext cx="5869987" cy="6895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r">
              <a:lnSpc>
                <a:spcPct val="100000"/>
              </a:lnSpc>
              <a:spcBef>
                <a:spcPts val="220"/>
              </a:spcBef>
              <a:spcAft>
                <a:spcPts val="0"/>
              </a:spcAft>
              <a:buSzPts val="1012"/>
              <a:buNone/>
              <a:defRPr sz="11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012"/>
              <a:buNone/>
              <a:defRPr sz="11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9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magen con título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0"/>
          <p:cNvSpPr txBox="1"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Gill Sans"/>
              <a:buNone/>
              <a:defRPr sz="2400" b="0"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0"/>
          <p:cNvSpPr>
            <a:spLocks noGrp="1"/>
          </p:cNvSpPr>
          <p:nvPr>
            <p:ph type="pic" idx="2"/>
          </p:nvPr>
        </p:nvSpPr>
        <p:spPr>
          <a:xfrm>
            <a:off x="447817" y="599725"/>
            <a:ext cx="11290859" cy="3557252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0"/>
          <p:cNvSpPr txBox="1">
            <a:spLocks noGrp="1"/>
          </p:cNvSpPr>
          <p:nvPr>
            <p:ph type="body" idx="1"/>
          </p:nvPr>
        </p:nvSpPr>
        <p:spPr>
          <a:xfrm>
            <a:off x="581192" y="5260127"/>
            <a:ext cx="11029617" cy="5986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SzPts val="1104"/>
              <a:buNone/>
              <a:defRPr sz="1200"/>
            </a:lvl1pPr>
            <a:lvl2pPr marL="914400" lvl="1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None/>
              <a:defRPr sz="1200"/>
            </a:lvl2pPr>
            <a:lvl3pPr marL="1371600" lvl="2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920"/>
              <a:buNone/>
              <a:defRPr sz="1000"/>
            </a:lvl3pPr>
            <a:lvl4pPr marL="1828800" lvl="3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4pPr>
            <a:lvl5pPr marL="2286000" lvl="4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5pPr>
            <a:lvl6pPr marL="2743200" lvl="5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6pPr>
            <a:lvl7pPr marL="3200400" lvl="6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7pPr>
            <a:lvl8pPr marL="3657600" lvl="7" indent="-22860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828"/>
              <a:buNone/>
              <a:defRPr sz="900"/>
            </a:lvl8pPr>
            <a:lvl9pPr marL="4114800" lvl="8" indent="-228600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828"/>
              <a:buNone/>
              <a:defRPr sz="900"/>
            </a:lvl9pPr>
          </a:lstStyle>
          <a:p>
            <a:endParaRPr/>
          </a:p>
        </p:txBody>
      </p:sp>
      <p:sp>
        <p:nvSpPr>
          <p:cNvPr id="75" name="Google Shape;75;p10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0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y texto vertical" type="vertTx">
  <p:cSld name="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1"/>
          </p:nvPr>
        </p:nvSpPr>
        <p:spPr>
          <a:xfrm rot="5400000">
            <a:off x="4334603" y="-1417408"/>
            <a:ext cx="3522794" cy="11029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22072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472"/>
              <a:buChar char="◼"/>
              <a:defRPr/>
            </a:lvl2pPr>
            <a:lvl3pPr marL="1371600" lvl="2" indent="-310388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288"/>
              <a:buChar char="◼"/>
              <a:defRPr/>
            </a:lvl3pPr>
            <a:lvl4pPr marL="1828800" lvl="3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4pPr>
            <a:lvl5pPr marL="2286000" lvl="4" indent="-298704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104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ítulo vertical y texto" type="vertTitleAndTx">
  <p:cSld name="VERTICAL_TITLE_AND_VERTICAL_TEXT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/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2"/>
          <p:cNvSpPr txBox="1">
            <a:spLocks noGrp="1"/>
          </p:cNvSpPr>
          <p:nvPr>
            <p:ph type="title"/>
          </p:nvPr>
        </p:nvSpPr>
        <p:spPr>
          <a:xfrm rot="5400000">
            <a:off x="7249746" y="2265181"/>
            <a:ext cx="5183073" cy="20041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2"/>
          <p:cNvSpPr txBox="1">
            <a:spLocks noGrp="1"/>
          </p:cNvSpPr>
          <p:nvPr>
            <p:ph type="body" idx="1"/>
          </p:nvPr>
        </p:nvSpPr>
        <p:spPr>
          <a:xfrm rot="5400000">
            <a:off x="2131526" y="-680877"/>
            <a:ext cx="5183073" cy="78962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33756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656"/>
              <a:buChar char="◼"/>
              <a:defRPr/>
            </a:lvl1pPr>
            <a:lvl2pPr marL="914400" lvl="1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2pPr>
            <a:lvl3pPr marL="1371600" lvl="2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3pPr>
            <a:lvl4pPr marL="1828800" lvl="3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4pPr>
            <a:lvl5pPr marL="2286000" lvl="4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5pPr>
            <a:lvl6pPr marL="2743200" lvl="5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6pPr>
            <a:lvl7pPr marL="3200400" lvl="6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7pPr>
            <a:lvl8pPr marL="3657600" lvl="7" indent="-333756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656"/>
              <a:buChar char="◼"/>
              <a:defRPr/>
            </a:lvl8pPr>
            <a:lvl9pPr marL="4114800" lvl="8" indent="-333756" algn="l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SzPts val="1656"/>
              <a:buChar char="◼"/>
              <a:defRPr/>
            </a:lvl9pPr>
          </a:lstStyle>
          <a:p>
            <a:endParaRPr/>
          </a:p>
        </p:txBody>
      </p:sp>
      <p:sp>
        <p:nvSpPr>
          <p:cNvPr id="89" name="Google Shape;89;p12"/>
          <p:cNvSpPr txBox="1">
            <a:spLocks noGrp="1"/>
          </p:cNvSpPr>
          <p:nvPr>
            <p:ph type="dt" idx="10"/>
          </p:nvPr>
        </p:nvSpPr>
        <p:spPr>
          <a:xfrm>
            <a:off x="8993673" y="5956137"/>
            <a:ext cx="1328141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2D58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2"/>
          <p:cNvSpPr txBox="1">
            <a:spLocks noGrp="1"/>
          </p:cNvSpPr>
          <p:nvPr>
            <p:ph type="ftr" idx="11"/>
          </p:nvPr>
        </p:nvSpPr>
        <p:spPr>
          <a:xfrm>
            <a:off x="774923" y="5951811"/>
            <a:ext cx="789627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2"/>
          <p:cNvSpPr txBox="1">
            <a:spLocks noGrp="1"/>
          </p:cNvSpPr>
          <p:nvPr>
            <p:ph type="sldNum" idx="12"/>
          </p:nvPr>
        </p:nvSpPr>
        <p:spPr>
          <a:xfrm>
            <a:off x="10446615" y="5956137"/>
            <a:ext cx="1164195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2D58AC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  <a:defRPr sz="2800" b="0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marR="0" lvl="0" indent="-333756" algn="l" rtl="0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accent2"/>
              </a:buClr>
              <a:buSzPts val="1656"/>
              <a:buFont typeface="Segoe UI Symbol"/>
              <a:buChar char="◼"/>
              <a:defRPr sz="18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914400" marR="0" lvl="1" indent="-322072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472"/>
              <a:buFont typeface="Segoe UI Symbol"/>
              <a:buChar char="◼"/>
              <a:defRPr sz="16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1371600" marR="0" lvl="2" indent="-310388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288"/>
              <a:buFont typeface="Segoe UI Symbol"/>
              <a:buChar char="◼"/>
              <a:defRPr sz="14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1828800" marR="0" lvl="3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2286000" marR="0" lvl="4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2743200" marR="0" lvl="5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3200400" marR="0" lvl="6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3657600" marR="0" lvl="7" indent="-298704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4114800" marR="0" lvl="8" indent="-298704" algn="l" rtl="0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chemeClr val="accent2"/>
              </a:buClr>
              <a:buSzPts val="1104"/>
              <a:buFont typeface="Segoe UI Symbol"/>
              <a:buChar char="◼"/>
              <a:defRPr sz="1200" b="0" i="0" u="none" strike="noStrike" cap="none">
                <a:solidFill>
                  <a:schemeClr val="dk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chemeClr val="accent2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1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ctrTitle"/>
          </p:nvPr>
        </p:nvSpPr>
        <p:spPr>
          <a:xfrm>
            <a:off x="599226" y="3158569"/>
            <a:ext cx="10993549" cy="15784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Gill Sans"/>
              <a:buNone/>
            </a:pPr>
            <a:r>
              <a:rPr lang="es-ES" dirty="0">
                <a:solidFill>
                  <a:schemeClr val="lt1"/>
                </a:solidFill>
              </a:rPr>
              <a:t>MANUAL</a:t>
            </a:r>
            <a:br>
              <a:rPr lang="es-ES" dirty="0">
                <a:solidFill>
                  <a:schemeClr val="lt1"/>
                </a:solidFill>
              </a:rPr>
            </a:br>
            <a:r>
              <a:rPr lang="es-ES" dirty="0">
                <a:solidFill>
                  <a:schemeClr val="lt1"/>
                </a:solidFill>
              </a:rPr>
              <a:t>CONVERSIÓN UNIDADES RESTFUL DOTNET</a:t>
            </a:r>
            <a:endParaRPr dirty="0"/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599226" y="4572000"/>
            <a:ext cx="4261531" cy="18127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72"/>
              <a:buNone/>
            </a:pPr>
            <a:endParaRPr b="1">
              <a:solidFill>
                <a:schemeClr val="lt1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SzPts val="1472"/>
              <a:buNone/>
            </a:pPr>
            <a:r>
              <a:rPr lang="es-ES" b="1">
                <a:solidFill>
                  <a:schemeClr val="lt1"/>
                </a:solidFill>
              </a:rPr>
              <a:t>INTEGRANTES:</a:t>
            </a:r>
            <a:r>
              <a:rPr lang="es-ES">
                <a:solidFill>
                  <a:schemeClr val="lt1"/>
                </a:solidFill>
              </a:rPr>
              <a:t> 	</a:t>
            </a:r>
            <a:r>
              <a:rPr lang="es-MX">
                <a:solidFill>
                  <a:schemeClr val="lt1"/>
                </a:solidFill>
              </a:rPr>
              <a:t>CRIOLLO MATEO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HERNÁNDEZ CARLOS</a:t>
            </a:r>
            <a:br>
              <a:rPr lang="es-MX">
                <a:solidFill>
                  <a:schemeClr val="lt1"/>
                </a:solidFill>
              </a:rPr>
            </a:br>
            <a:r>
              <a:rPr lang="es-MX">
                <a:solidFill>
                  <a:schemeClr val="lt1"/>
                </a:solidFill>
              </a:rPr>
              <a:t>		REVILLA ANTONIO</a:t>
            </a:r>
            <a:endParaRPr>
              <a:solidFill>
                <a:schemeClr val="lt1"/>
              </a:solidFill>
            </a:endParaRPr>
          </a:p>
        </p:txBody>
      </p:sp>
      <p:pic>
        <p:nvPicPr>
          <p:cNvPr id="98" name="Google Shape;98;p13" descr="Resultado de imagen para esp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9597" y="716302"/>
            <a:ext cx="11647502" cy="2193925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3"/>
          <p:cNvSpPr txBox="1"/>
          <p:nvPr/>
        </p:nvSpPr>
        <p:spPr>
          <a:xfrm>
            <a:off x="9037063" y="5301801"/>
            <a:ext cx="4261531" cy="12353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4590B8"/>
              </a:buClr>
              <a:buSzPts val="1472"/>
              <a:buFont typeface="Segoe UI Symbol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GRUPO:  3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Segoe UI Symbol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FECHA:  </a:t>
            </a:r>
            <a:r>
              <a:rPr lang="es-ES" sz="1600" b="1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27/10/2026</a:t>
            </a:r>
            <a:endParaRPr sz="16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920"/>
              </a:spcBef>
              <a:spcAft>
                <a:spcPts val="0"/>
              </a:spcAft>
              <a:buClr>
                <a:srgbClr val="4590B8"/>
              </a:buClr>
              <a:buSzPts val="1472"/>
              <a:buFont typeface="Segoe UI Symbol"/>
              <a:buNone/>
            </a:pPr>
            <a:r>
              <a:rPr lang="es-ES" sz="1600" b="1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ING: </a:t>
            </a:r>
            <a:r>
              <a:rPr lang="es-ES" sz="1600" b="0" i="0" u="none" strike="noStrike" cap="non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rPr>
              <a:t>CAMPAÑA MAURICIO</a:t>
            </a:r>
            <a:endParaRPr sz="1600" b="1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0" name="Google Shape;100;p13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4"/>
          <p:cNvSpPr/>
          <p:nvPr/>
        </p:nvSpPr>
        <p:spPr>
          <a:xfrm>
            <a:off x="0" y="614406"/>
            <a:ext cx="12192000" cy="6243593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Gill Sans"/>
              <a:buNone/>
            </a:pPr>
            <a:endParaRPr sz="1800" b="0" i="0" u="none" strike="noStrike" cap="none">
              <a:solidFill>
                <a:srgbClr val="FFFFFF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6" name="Google Shape;106;p14"/>
          <p:cNvSpPr/>
          <p:nvPr/>
        </p:nvSpPr>
        <p:spPr>
          <a:xfrm>
            <a:off x="442377" y="614407"/>
            <a:ext cx="3707477" cy="561177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107" name="Google Shape;107;p14"/>
          <p:cNvSpPr txBox="1">
            <a:spLocks noGrp="1"/>
          </p:cNvSpPr>
          <p:nvPr>
            <p:ph type="body" idx="1"/>
          </p:nvPr>
        </p:nvSpPr>
        <p:spPr>
          <a:xfrm>
            <a:off x="596348" y="701336"/>
            <a:ext cx="3389726" cy="5424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30600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DESARROLLO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OBJETIVO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>
                <a:solidFill>
                  <a:schemeClr val="lt1"/>
                </a:solidFill>
              </a:rPr>
              <a:t>CREACIÓN DEL SERVIDOR REST EN DOTNET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CONSOLA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ESCRITORIO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WEB</a:t>
            </a:r>
            <a:endParaRPr/>
          </a:p>
          <a:p>
            <a:pPr marL="630000" lvl="1" indent="-320020" algn="l" rtl="0">
              <a:lnSpc>
                <a:spcPct val="100000"/>
              </a:lnSpc>
              <a:spcBef>
                <a:spcPts val="872"/>
              </a:spcBef>
              <a:spcAft>
                <a:spcPts val="0"/>
              </a:spcAft>
              <a:buSzPts val="1472"/>
              <a:buChar char="◼"/>
            </a:pPr>
            <a:r>
              <a:rPr lang="es-ES" sz="1800">
                <a:solidFill>
                  <a:schemeClr val="lt1"/>
                </a:solidFill>
              </a:rPr>
              <a:t>CREACIÓN DEL PROYECTO – CLIENTE MÓVIL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CONCLUSIONES</a:t>
            </a:r>
            <a:endParaRPr/>
          </a:p>
          <a:p>
            <a:pPr marL="306000" marR="0" lvl="0" indent="-306000" algn="l" rtl="0">
              <a:lnSpc>
                <a:spcPct val="100000"/>
              </a:lnSpc>
              <a:spcBef>
                <a:spcPts val="906"/>
              </a:spcBef>
              <a:spcAft>
                <a:spcPts val="0"/>
              </a:spcAft>
              <a:buSzPts val="1656"/>
              <a:buChar char="◼"/>
            </a:pPr>
            <a:r>
              <a:rPr lang="es-ES">
                <a:solidFill>
                  <a:schemeClr val="lt1"/>
                </a:solidFill>
              </a:rPr>
              <a:t>RECOMENDACIONES</a:t>
            </a:r>
            <a:endParaRPr/>
          </a:p>
        </p:txBody>
      </p:sp>
      <p:pic>
        <p:nvPicPr>
          <p:cNvPr id="108" name="Google Shape;108;p14" descr="Resultado de imagen para AGENDA 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791522" y="1935576"/>
            <a:ext cx="6489819" cy="3007477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4"/>
          <p:cNvSpPr txBox="1"/>
          <p:nvPr/>
        </p:nvSpPr>
        <p:spPr>
          <a:xfrm>
            <a:off x="11817675" y="6474048"/>
            <a:ext cx="374325" cy="400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Gill Sans"/>
              <a:buNone/>
            </a:pPr>
            <a:r>
              <a:rPr lang="es-ES" sz="2000" b="0" i="0" u="none" strike="noStrike" cap="non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15" name="Google Shape;115;p1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ES" b="1" dirty="0">
                <a:latin typeface="Cambria"/>
                <a:ea typeface="Cambria"/>
                <a:cs typeface="Cambria"/>
                <a:sym typeface="Cambria"/>
              </a:rPr>
              <a:t>1</a:t>
            </a:r>
            <a:r>
              <a:rPr lang="es-ES" sz="1800" b="1" dirty="0">
                <a:latin typeface="Cambria"/>
                <a:ea typeface="Cambria"/>
                <a:cs typeface="Cambria"/>
                <a:sym typeface="Cambria"/>
              </a:rPr>
              <a:t>.1	OBJETIVO</a:t>
            </a:r>
            <a:endParaRPr b="1" dirty="0"/>
          </a:p>
          <a:p>
            <a:pPr marL="342900" marR="0" lvl="0" indent="-237744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Desarrollar e implementar un servicio web </a:t>
            </a:r>
            <a:r>
              <a:rPr lang="es-MX" dirty="0" err="1">
                <a:latin typeface="Cambria"/>
                <a:ea typeface="Cambria"/>
                <a:cs typeface="Cambria"/>
                <a:sym typeface="Cambria"/>
              </a:rPr>
              <a:t>RESTful</a:t>
            </a:r>
            <a:r>
              <a:rPr lang="es-MX" dirty="0">
                <a:latin typeface="Cambria"/>
                <a:ea typeface="Cambria"/>
                <a:cs typeface="Cambria"/>
                <a:sym typeface="Cambria"/>
              </a:rPr>
              <a:t> mediante ASP.NET Core Web API (.NET 8), sin base de datos, para realizar conversiones de unidades de longitud, masa y temperatura desde clientes de consola, escritorio, web y móvil.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16" name="Google Shape;116;p1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22" name="Google Shape;122;p16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1.2.1 	Creación del Proyecto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En Visual Studio se selecciona Crear un proyecto y la plantilla ASP.NET Core Web API (C#), que genera una API con controladores servida por Kestrel.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23" name="Google Shape;123;p1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764EFFE-9785-9C64-B384-2C7E08096CAC}"/>
              </a:ext>
            </a:extLst>
          </p:cNvPr>
          <p:cNvSpPr/>
          <p:nvPr/>
        </p:nvSpPr>
        <p:spPr>
          <a:xfrm>
            <a:off x="2594613" y="3539075"/>
            <a:ext cx="4562475" cy="31432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Crear un proyecto &gt; plantilla ASP.NET Core Web API]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1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body" idx="1"/>
          </p:nvPr>
        </p:nvSpPr>
        <p:spPr>
          <a:xfrm>
            <a:off x="581200" y="17815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asigna el nombre WS_CON_UNI_DOTNET_REST, se elige la carpeta 04. SERVIDOR como ubicación y en Información adicional se selecciona .NET 8.0 con la opción Usar controladores.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1" name="Google Shape;131;p1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6546152-D3C6-9449-85EF-AC404917E352}"/>
              </a:ext>
            </a:extLst>
          </p:cNvPr>
          <p:cNvSpPr/>
          <p:nvPr/>
        </p:nvSpPr>
        <p:spPr>
          <a:xfrm>
            <a:off x="2542225" y="3200392"/>
            <a:ext cx="4667250" cy="32575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ventanas Configure su nuevo proyecto e Información adicional con .NET 8.0 y Usar controladores]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63" name="Google Shape;163;p21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4557900" cy="38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Char char="∙"/>
            </a:pPr>
            <a:r>
              <a:rPr lang="es-ES" sz="1677" b="1">
                <a:latin typeface="Cambria"/>
                <a:ea typeface="Cambria"/>
                <a:cs typeface="Cambria"/>
                <a:sym typeface="Cambria"/>
              </a:rPr>
              <a:t>ESTRUCTURA MVC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Aplicando el patrón MVC junto a otras capas, se elimina el ejemplo WeatherForecast y se crean las carpetas Controladores, Modelo, Seguridad, Servicios (con Conversores) y Vista (DTO).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64" name="Google Shape;164;p2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2901A7E-8D2C-C7FC-5385-5482A18D954D}"/>
              </a:ext>
            </a:extLst>
          </p:cNvPr>
          <p:cNvSpPr/>
          <p:nvPr/>
        </p:nvSpPr>
        <p:spPr>
          <a:xfrm>
            <a:off x="5651675" y="2696275"/>
            <a:ext cx="3219450" cy="28384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Explorador de soluciones con las carpetas Controladores, Modelo, Seguridad, Servicios/Conversores y Vista]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71" name="Google Shape;171;p22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1.2.2 	Controladores del Servicio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En Controladores se definen los recursos REST de la Web API.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Cambria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Se crean AutenticacionControlador (público) y ConversionUnidadesControlador (protegido).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72" name="Google Shape;172;p2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9B46E45-BA1E-6ACC-E0F5-C06A90DE4E67}"/>
              </a:ext>
            </a:extLst>
          </p:cNvPr>
          <p:cNvSpPr/>
          <p:nvPr/>
        </p:nvSpPr>
        <p:spPr>
          <a:xfrm>
            <a:off x="958600" y="3499338"/>
            <a:ext cx="3280200" cy="32619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carpeta Controladores con AutenticacionControlador, ConversionUnidadesControlador y ManejadorErrores]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848CB9F9-EF9A-9C2B-9FC6-D94ED0EF852C}"/>
              </a:ext>
            </a:extLst>
          </p:cNvPr>
          <p:cNvSpPr/>
          <p:nvPr/>
        </p:nvSpPr>
        <p:spPr>
          <a:xfrm>
            <a:off x="5103225" y="3844438"/>
            <a:ext cx="3810000" cy="25717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carpeta Vista con los DTO y RespuestaMapeador]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0" name="Google Shape;180;p23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 b="1" dirty="0">
                <a:latin typeface="Cambria"/>
                <a:ea typeface="Cambria"/>
                <a:cs typeface="Cambria"/>
                <a:sym typeface="Cambria"/>
              </a:rPr>
              <a:t>Se codifican los controladores bajo los siguientes lineamientos</a:t>
            </a:r>
            <a:endParaRPr sz="1677" b="1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77" b="1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 dirty="0">
                <a:latin typeface="Cambria"/>
                <a:ea typeface="Cambria"/>
                <a:cs typeface="Cambria"/>
                <a:sym typeface="Cambria"/>
              </a:rPr>
              <a:t>1. El controlador público expone POST </a:t>
            </a:r>
            <a:r>
              <a:rPr lang="es-MX" sz="1677" dirty="0" err="1">
                <a:latin typeface="Cambria"/>
                <a:ea typeface="Cambria"/>
                <a:cs typeface="Cambria"/>
                <a:sym typeface="Cambria"/>
              </a:rPr>
              <a:t>login</a:t>
            </a:r>
            <a:r>
              <a:rPr lang="es-MX" sz="1677" dirty="0">
                <a:latin typeface="Cambria"/>
                <a:ea typeface="Cambria"/>
                <a:cs typeface="Cambria"/>
                <a:sym typeface="Cambria"/>
              </a:rPr>
              <a:t> y POST cambiar-clave.</a:t>
            </a:r>
            <a:br>
              <a:rPr lang="es-ES" sz="1677" b="1" dirty="0">
                <a:latin typeface="Cambria"/>
                <a:ea typeface="Cambria"/>
                <a:cs typeface="Cambria"/>
                <a:sym typeface="Cambria"/>
              </a:rPr>
            </a:br>
            <a:endParaRPr sz="1677" b="1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 dirty="0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 dirty="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1" name="Google Shape;181;p23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82" name="Google Shape;182;p23"/>
          <p:cNvGraphicFramePr/>
          <p:nvPr>
            <p:extLst>
              <p:ext uri="{D42A27DB-BD31-4B8C-83A1-F6EECF244321}">
                <p14:modId xmlns:p14="http://schemas.microsoft.com/office/powerpoint/2010/main" val="427278194"/>
              </p:ext>
            </p:extLst>
          </p:nvPr>
        </p:nvGraphicFramePr>
        <p:xfrm>
          <a:off x="3395925" y="2866125"/>
          <a:ext cx="5400050" cy="364744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[ApiController]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[Route("api/autenticacion")]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AutenticacionControlador : ControllerBase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[HttpPost("login")]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public RespuestaDto Login(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[FromBody(EmptyBodyBehavior = EmptyBodyBehavior.Allow)] CredencialesDto credenciales)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CredencialesDto c = credenciales ?? new CredencialesDto();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return RespuestaMapeador.DeToken(servicioAutenticacion.Login(c.Usuario, c.Clave));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[HttpPost("cambiar-clave")]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public RespuestaDto CambiarClave(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[FromBody(EmptyBodyBehavior = EmptyBodyBehavior.Allow)] CambioClaveDto cambio)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CambioClaveDto c = cambio ?? new CambioClaveDto();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servicioAutenticacion.CambiarClave(c.Usuario, c.ClaveActual, c.ClaveNueva);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return RespuestaMapeador.DeCambioClave();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88" name="Google Shape;188;p24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2. El controlador protegido se decora con [Protegido] y su ruta base es /api.</a:t>
            </a:r>
            <a:endParaRPr sz="1677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3. Recibe por inyección de dependencias los servicios de negocio que utiliza.</a:t>
            </a:r>
            <a:br>
              <a:rPr lang="es-ES" sz="1677" b="1">
                <a:latin typeface="Cambria"/>
                <a:ea typeface="Cambria"/>
                <a:cs typeface="Cambria"/>
                <a:sym typeface="Cambria"/>
              </a:rPr>
            </a:b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89" name="Google Shape;189;p2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0" name="Google Shape;190;p24"/>
          <p:cNvGraphicFramePr/>
          <p:nvPr>
            <p:extLst>
              <p:ext uri="{D42A27DB-BD31-4B8C-83A1-F6EECF244321}">
                <p14:modId xmlns:p14="http://schemas.microsoft.com/office/powerpoint/2010/main" val="732391690"/>
              </p:ext>
            </p:extLst>
          </p:nvPr>
        </p:nvGraphicFramePr>
        <p:xfrm>
          <a:off x="3701450" y="2180500"/>
          <a:ext cx="5400050" cy="9652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[ApiController]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[Route("api")]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[Protegido]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ConversionUnidadesControlador : ControllerBase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91" name="Google Shape;191;p24"/>
          <p:cNvGraphicFramePr/>
          <p:nvPr>
            <p:extLst>
              <p:ext uri="{D42A27DB-BD31-4B8C-83A1-F6EECF244321}">
                <p14:modId xmlns:p14="http://schemas.microsoft.com/office/powerpoint/2010/main" val="2713062472"/>
              </p:ext>
            </p:extLst>
          </p:nvPr>
        </p:nvGraphicFramePr>
        <p:xfrm>
          <a:off x="3701450" y="3375275"/>
          <a:ext cx="5400050" cy="14681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00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ServicioCatalogo servicioCatalogo;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ServicioConversion servicioConversion;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ConversionUnidadesControlador(ServicioCatalogo servicioCatalogo,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ServicioConversion servicioConversion)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this.servicioCatalogo = servicioCatalogo;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this.servicioConversion = servicioConversion;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97" name="Google Shape;197;p25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2402100" cy="396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509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77"/>
              <a:buFont typeface="Cambria"/>
              <a:buChar char="∙"/>
            </a:pPr>
            <a:r>
              <a:rPr lang="es-MX" sz="1677">
                <a:latin typeface="Cambria"/>
                <a:ea typeface="Cambria"/>
                <a:cs typeface="Cambria"/>
                <a:sym typeface="Cambria"/>
              </a:rPr>
              <a:t>4. Se crean los recursos de catálogo (GET) y conversión (POST), que solo delegan en los servicios.</a:t>
            </a: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endParaRPr sz="1677" b="1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90"/>
              <a:buNone/>
            </a:pPr>
            <a:endParaRPr sz="1591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98" name="Google Shape;198;p2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199" name="Google Shape;199;p25"/>
          <p:cNvGraphicFramePr/>
          <p:nvPr>
            <p:extLst>
              <p:ext uri="{D42A27DB-BD31-4B8C-83A1-F6EECF244321}">
                <p14:modId xmlns:p14="http://schemas.microsoft.com/office/powerpoint/2010/main" val="2997604804"/>
              </p:ext>
            </p:extLst>
          </p:nvPr>
        </p:nvGraphicFramePr>
        <p:xfrm>
          <a:off x="3917100" y="1928900"/>
          <a:ext cx="4894525" cy="39370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[HttpGet("catalogo/categorias")]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RespuestaDto ConsultarCatalogo()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return RespuestaMapeador.DeCatalogo(servicioCatalogo.Categorias());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[HttpGet("catalogo/categorias/{categoria}/unidades")]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RespuestaDto ConsultarUnidades(string categoria)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return RespuestaMapeador.DeUnidades(servicioCatalogo.Unidades(categoria));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[HttpPost("conversiones/longitud")]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RespuestaDto ConvertirLongitud([FromBody] 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=&gt; Convertir(Categoria.Longitud,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[HttpPost("conversiones/masa")]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RespuestaDto ConvertirMasa([FromBody] 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=&gt; Convertir(Categoria.Masa,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[HttpPost("conversiones/temperatura")]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RespuestaDto ConvertirTemperatura([FromBody] 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=&gt; Convertir(Categoria.Temperatura, solicitud);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RespuestaDto Convertir(Categoria categoria, SolicitudConversionDto solicitud)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SolicitudConversionDto s = solicitud ?? new SolicitudConversionDto();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return RespuestaMapeador.DeConversion(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servicioConversion.Convertir(categoria, s.Valor, s.UnidadOrigen, s.UnidadDestino));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13" name="Google Shape;213;p2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1.2.3 	Autenticación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MX" sz="1500">
                <a:latin typeface="Cambria"/>
                <a:ea typeface="Cambria"/>
                <a:cs typeface="Cambria"/>
                <a:sym typeface="Cambria"/>
              </a:rPr>
              <a:t>Una clase importante a mencionar es ManejadorAutenticacion.cs, que sirve como middleware: implementa IAuthorizationFilter y valida el token de la cabecera Authorization: Bearer antes de permitir el paso a las acciones del controlador. Se ubica en la carpeta Seguridad.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14" name="Google Shape;214;p2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44A63F9-6999-7F02-1A52-F5F9ACAEAB21}"/>
              </a:ext>
            </a:extLst>
          </p:cNvPr>
          <p:cNvSpPr/>
          <p:nvPr/>
        </p:nvSpPr>
        <p:spPr>
          <a:xfrm>
            <a:off x="2589850" y="3549050"/>
            <a:ext cx="4572000" cy="31242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carpeta Seguridad con GestorToken, ManejadorAutenticacion y ProtegidoAttribute]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body" idx="1"/>
          </p:nvPr>
        </p:nvSpPr>
        <p:spPr>
          <a:xfrm>
            <a:off x="0" y="1876272"/>
            <a:ext cx="9170492" cy="149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Este filtro se apoya en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GestorToken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(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Singleton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), que guarda en memoria las sesiones activas y emite un token (GUID); el usuario (MONSTER), la clave (MONSTER9) y la duración del token (30 minutos) se leen de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appsettings.json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En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appsettings.json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también se definen los orígenes CORS que pueden llamar a la API desde el navegador (verbos GET y POST).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p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24" name="Google Shape;224;p28"/>
          <p:cNvGraphicFramePr/>
          <p:nvPr>
            <p:extLst>
              <p:ext uri="{D42A27DB-BD31-4B8C-83A1-F6EECF244321}">
                <p14:modId xmlns:p14="http://schemas.microsoft.com/office/powerpoint/2010/main" val="2845121445"/>
              </p:ext>
            </p:extLst>
          </p:nvPr>
        </p:nvGraphicFramePr>
        <p:xfrm>
          <a:off x="4024925" y="4574350"/>
          <a:ext cx="4894525" cy="1498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"Token": { "Minutos": 30 },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"Usuario":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"Nombre": "MONSTER",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"Clave": "MONSTER9"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</a:t>
                      </a: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Cors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":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"</a:t>
                      </a: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Origenes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": [ "http://localhost:4200", "http://localhost:5173",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"http://localhost:3000", "http://localhost:5141" ]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Rectángulo 1">
            <a:extLst>
              <a:ext uri="{FF2B5EF4-FFF2-40B4-BE49-F238E27FC236}">
                <a16:creationId xmlns:a16="http://schemas.microsoft.com/office/drawing/2014/main" id="{27744FA9-7880-370A-54BF-3112F04B6910}"/>
              </a:ext>
            </a:extLst>
          </p:cNvPr>
          <p:cNvSpPr/>
          <p:nvPr/>
        </p:nvSpPr>
        <p:spPr>
          <a:xfrm>
            <a:off x="581192" y="3429000"/>
            <a:ext cx="3175950" cy="13811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clase GestorToken.cs (generación y validación del token)]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0" name="Google Shape;230;p29"/>
          <p:cNvSpPr txBox="1">
            <a:spLocks noGrp="1"/>
          </p:cNvSpPr>
          <p:nvPr>
            <p:ph type="body" idx="1"/>
          </p:nvPr>
        </p:nvSpPr>
        <p:spPr>
          <a:xfrm>
            <a:off x="295275" y="1876275"/>
            <a:ext cx="2418325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El método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OnAuthorization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lee el token de la cabecera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Authorization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: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Bearer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y lo valida con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GestorToken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; si no es válido, responde 401 con AUTH-001 o AUTH-002 y la acción del controlador no se ejecuta.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31" name="Google Shape;231;p2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32" name="Google Shape;232;p29"/>
          <p:cNvGraphicFramePr/>
          <p:nvPr>
            <p:extLst>
              <p:ext uri="{D42A27DB-BD31-4B8C-83A1-F6EECF244321}">
                <p14:modId xmlns:p14="http://schemas.microsoft.com/office/powerpoint/2010/main" val="4153523800"/>
              </p:ext>
            </p:extLst>
          </p:nvPr>
        </p:nvGraphicFramePr>
        <p:xfrm>
          <a:off x="2964625" y="1876275"/>
          <a:ext cx="6062675" cy="39674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ManejadorAutenticacion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: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IAuthorizationFilter</a:t>
                      </a:r>
                      <a:endParaRPr lang="es-ES" sz="900" dirty="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PropiedadUsuario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"usuario";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Prefijo = "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Bearer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";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readonly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GestorToken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gestorToken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ManejadorAutenticacion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GestorToken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gestorToken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this.gestorToken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gestorToken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void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OnAuthorization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AuthorizationFilterContext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contexto)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try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usuario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gestorToken.Validar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LeerToken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(contexto));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contexto.HttpContext.Items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PropiedadUsuario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] = usuario;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catch 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ExcepcionServicio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e)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contexto.Result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ManejadorErrores.Respuesta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(e);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static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LeerToken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AuthorizationFilterContext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contexto)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cabecera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contexto.HttpContext.Request.Headers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[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HeaderNames.Authorization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];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cabecera !=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&amp;&amp;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cabecera.StartsWith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(Prefijo)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?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cabecera.Substring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Prefijo.Length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 :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38" name="Google Shape;238;p30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[Protegido] aplica el filtro de autenticación antes de cada acción.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ManejadorErrores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convierte toda falla en JSON: 401 para AUTH y 400 para datos.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39" name="Google Shape;239;p3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40" name="Google Shape;240;p30"/>
          <p:cNvGraphicFramePr/>
          <p:nvPr>
            <p:extLst>
              <p:ext uri="{D42A27DB-BD31-4B8C-83A1-F6EECF244321}">
                <p14:modId xmlns:p14="http://schemas.microsoft.com/office/powerpoint/2010/main" val="3067157556"/>
              </p:ext>
            </p:extLst>
          </p:nvPr>
        </p:nvGraphicFramePr>
        <p:xfrm>
          <a:off x="3064663" y="2920413"/>
          <a:ext cx="6062675" cy="323596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ProtegidoAttribute : TypeFilterAttribute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public ProtegidoAttribute() : base(typeof(ManejadorAutenticacion))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ManejadorErrores : IExceptionFilter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// OnException: ExcepcionServicio -&gt; Respuesta(e); otra falla -&gt; HTTP-500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public static IActionResult Respuesta(ExcepcionServicio error)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bool deAutenticacion = error.CodigoError.Codigo.StartsWith("AUTH");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int estado = deAutenticacion ? StatusCodes.Status401Unauthorized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: StatusCodes.Status400BadRequest;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return Construir(estado, error.ErrorServicio);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3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46" name="Google Shape;246;p31"/>
          <p:cNvSpPr txBox="1">
            <a:spLocks noGrp="1"/>
          </p:cNvSpPr>
          <p:nvPr>
            <p:ph type="body" idx="1"/>
          </p:nvPr>
        </p:nvSpPr>
        <p:spPr>
          <a:xfrm>
            <a:off x="390700" y="2220012"/>
            <a:ext cx="2132400" cy="40168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 dirty="0">
                <a:latin typeface="Cambria"/>
                <a:ea typeface="Cambria"/>
                <a:cs typeface="Cambria"/>
                <a:sym typeface="Cambria"/>
              </a:rPr>
              <a:t>1.2.4	Lógica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Ahora se procede a completar el resto de la lógica con el patrón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Strategy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: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IConversor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indica qué categorías soporta cada estrategia y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ConversorLineal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resuelve longitud y masa con el factor a la unidad base.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47" name="Google Shape;247;p31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48" name="Google Shape;248;p31"/>
          <p:cNvGraphicFramePr/>
          <p:nvPr>
            <p:extLst>
              <p:ext uri="{D42A27DB-BD31-4B8C-83A1-F6EECF244321}">
                <p14:modId xmlns:p14="http://schemas.microsoft.com/office/powerpoint/2010/main" val="2282945186"/>
              </p:ext>
            </p:extLst>
          </p:nvPr>
        </p:nvGraphicFramePr>
        <p:xfrm>
          <a:off x="3017311" y="2847825"/>
          <a:ext cx="6062675" cy="268732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interface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IConversor</a:t>
                      </a:r>
                      <a:endParaRPr lang="es-ES" sz="1200" dirty="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bool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Soporta(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Categoria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categoria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double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Convertir(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double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valor, Unidad origen, Unidad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class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ConversorLineal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: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IConversor</a:t>
                      </a:r>
                      <a:endParaRPr lang="es-ES" sz="1200" dirty="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bool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Soporta(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Categoria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categoria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 =&gt;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categoria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==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Categoria.Longitud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||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categoria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==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Categoria.Masa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double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Convertir(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double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valor, Unidad origen, Unidad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valor *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origen.Factor.Value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/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destino.Factor.Value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900" dirty="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70" name="Google Shape;270;p34"/>
          <p:cNvSpPr txBox="1">
            <a:spLocks noGrp="1"/>
          </p:cNvSpPr>
          <p:nvPr>
            <p:ph type="body" idx="1"/>
          </p:nvPr>
        </p:nvSpPr>
        <p:spPr>
          <a:xfrm>
            <a:off x="581200" y="2209650"/>
            <a:ext cx="2132400" cy="3946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ConversorTemperatura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convierte primero a grados Celsius (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ACelsius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) y luego a la unidad destino (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DesdeCelsius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) mediante fórmulas, para Celsius, Kelvin, Fahrenheit, Newton y Réaumur.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71" name="Google Shape;271;p3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72" name="Google Shape;272;p34"/>
          <p:cNvGraphicFramePr/>
          <p:nvPr>
            <p:extLst>
              <p:ext uri="{D42A27DB-BD31-4B8C-83A1-F6EECF244321}">
                <p14:modId xmlns:p14="http://schemas.microsoft.com/office/powerpoint/2010/main" val="3131083882"/>
              </p:ext>
            </p:extLst>
          </p:nvPr>
        </p:nvGraphicFramePr>
        <p:xfrm>
          <a:off x="2891513" y="2209650"/>
          <a:ext cx="6062675" cy="37846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class ConversorTemperatura : IConversor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bool Soporta(Categoria categoria) =&gt; categoria == Categoria.Temperatura;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public double Convertir(double valor, Unidad origen, Unidad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return DesdeCelsius(ACelsius(valor, origen),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private static double ACelsius(double v, Unidad unidad)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switch (unidad.Codigo)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"C": return v;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"K": return v - 273.15;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"F": return (v - 32) * 5 / 9;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"N": return v * 100 / 33;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case "RE": return v * 5 / 4;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default: throw new ArgumentException("No es unidad de temperatura: " + unidad.Codigo);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</a:t>
                      </a:r>
                      <a:endParaRPr sz="10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86" name="Google Shape;286;p36"/>
          <p:cNvSpPr txBox="1">
            <a:spLocks noGrp="1"/>
          </p:cNvSpPr>
          <p:nvPr>
            <p:ph type="body" idx="1"/>
          </p:nvPr>
        </p:nvSpPr>
        <p:spPr>
          <a:xfrm>
            <a:off x="581200" y="2486025"/>
            <a:ext cx="2132400" cy="377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ServicioConversion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valida la solicitud, elige la estrategia que soporta la categoría y redondea el resultado a cuatro decimales; agregar un cálculo nuevo es agregar un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IConversor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87" name="Google Shape;287;p3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88" name="Google Shape;288;p36"/>
          <p:cNvGraphicFramePr/>
          <p:nvPr>
            <p:extLst>
              <p:ext uri="{D42A27DB-BD31-4B8C-83A1-F6EECF244321}">
                <p14:modId xmlns:p14="http://schemas.microsoft.com/office/powerpoint/2010/main" val="1817510209"/>
              </p:ext>
            </p:extLst>
          </p:nvPr>
        </p:nvGraphicFramePr>
        <p:xfrm>
          <a:off x="2891513" y="2557313"/>
          <a:ext cx="6062675" cy="39674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const int Decimales = 4;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ServicioValidacion validacion = new ServicioValidacion();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 readonly IList&lt;IConversor&gt; conversores = new List&lt;IConversor&gt;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new ConversorLineal(),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new ConversorTemperatura()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 ResultadoConversion Convertir(Categoria categoria, double? valor, string origen, string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var unidades = validacion.ValidarConversion(categoria, valor, origen, 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IConversor conversor = conversores.FirstOrDefault(c =&gt; c.Soporta(categoria))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?? throw new ExcepcionServicio(CodigoError.Data001);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double resultado = conversor.Convertir(valor.Value, unidades.Origen, unidades.Destino);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return new ResultadoConversion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Resultado = Math.Round(resultado, Decimales, MidpointRounding.AwayFromZero),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Origen = unidades.Origen,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Destino = unidades.Destino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};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  <a:endParaRPr sz="120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94" name="Google Shape;294;p37"/>
          <p:cNvSpPr txBox="1">
            <a:spLocks noGrp="1"/>
          </p:cNvSpPr>
          <p:nvPr>
            <p:ph type="body" idx="1"/>
          </p:nvPr>
        </p:nvSpPr>
        <p:spPr>
          <a:xfrm>
            <a:off x="581200" y="2018775"/>
            <a:ext cx="2685600" cy="455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1.2.5 	Ejecución en Servidor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238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56"/>
              <a:buFont typeface="Cambria"/>
              <a:buChar char="∙"/>
            </a:pPr>
            <a:r>
              <a:rPr lang="es-MX" sz="1500">
                <a:latin typeface="Cambria"/>
                <a:ea typeface="Cambria"/>
                <a:cs typeface="Cambria"/>
                <a:sym typeface="Cambria"/>
              </a:rPr>
              <a:t>Se ejecuta el proyecto (F5) con Kestrel en el puerto 8096; sin token, /api/catalogo/categorias responde 401 con AUTH-001.</a:t>
            </a:r>
            <a:endParaRPr sz="1500"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95" name="Google Shape;295;p37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56958C-F02F-09E1-A6CC-E9F103844995}"/>
              </a:ext>
            </a:extLst>
          </p:cNvPr>
          <p:cNvSpPr/>
          <p:nvPr/>
        </p:nvSpPr>
        <p:spPr>
          <a:xfrm>
            <a:off x="3728750" y="1878563"/>
            <a:ext cx="5192894" cy="48392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en http://localhost:8096/api/catalogo/categorias con el JSON de error AUTH-001]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2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221" name="Google Shape;221;p28"/>
          <p:cNvSpPr txBox="1">
            <a:spLocks noGrp="1"/>
          </p:cNvSpPr>
          <p:nvPr>
            <p:ph type="body" idx="1"/>
          </p:nvPr>
        </p:nvSpPr>
        <p:spPr>
          <a:xfrm>
            <a:off x="581192" y="1876271"/>
            <a:ext cx="8589300" cy="1657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-32740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Con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Postman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se prueban los recursos: POST /api/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autenticacion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/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login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con usuario y clave devuelve el token, que luego se envía en la cabecera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Authorization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: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Bearer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de las rutas protegidas.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Si el token falta o expiró la API responde 401; si los datos son inválidos, 400 con el código de error (por ejemplo UNIT-001).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22" name="Google Shape;222;p2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224" name="Google Shape;224;p28"/>
          <p:cNvGraphicFramePr/>
          <p:nvPr>
            <p:extLst>
              <p:ext uri="{D42A27DB-BD31-4B8C-83A1-F6EECF244321}">
                <p14:modId xmlns:p14="http://schemas.microsoft.com/office/powerpoint/2010/main" val="10625435"/>
              </p:ext>
            </p:extLst>
          </p:nvPr>
        </p:nvGraphicFramePr>
        <p:xfrm>
          <a:off x="4015400" y="5183950"/>
          <a:ext cx="4894525" cy="104140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4894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 http://localhost:8096/api/conversiones/longitud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Authorization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</a:t>
                      </a: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Bearer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3f2b8c1e-6a47-4d0e-9b55-1c2d3e4f5a6b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 "valor": 1, "</a:t>
                      </a: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unidadOrigen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": "KM", "</a:t>
                      </a: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unidadDestino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": "M"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HTTP/1.1 200 OK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 "estado": "OK", "</a:t>
                      </a: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codigo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": "200", "mensaje": "Conversión realizada",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"resultado": 1000, "</a:t>
                      </a: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unidadOrigen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": "KM", "</a:t>
                      </a:r>
                      <a:r>
                        <a:rPr lang="es-ES" sz="10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unidadDestino</a:t>
                      </a:r>
                      <a:r>
                        <a:rPr lang="es-ES" sz="10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": "M" 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Rectángulo 1">
            <a:extLst>
              <a:ext uri="{FF2B5EF4-FFF2-40B4-BE49-F238E27FC236}">
                <a16:creationId xmlns:a16="http://schemas.microsoft.com/office/drawing/2014/main" id="{27744FA9-7880-370A-54BF-3112F04B6910}"/>
              </a:ext>
            </a:extLst>
          </p:cNvPr>
          <p:cNvSpPr/>
          <p:nvPr/>
        </p:nvSpPr>
        <p:spPr>
          <a:xfrm>
            <a:off x="545736" y="3463848"/>
            <a:ext cx="5734050" cy="13811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 dirty="0">
                <a:solidFill>
                  <a:srgbClr val="3D3D3D"/>
                </a:solidFill>
                <a:latin typeface="Cambria" panose="02040503050406030204" pitchFamily="18" charset="0"/>
              </a:rPr>
              <a:t>[Insertar captura: </a:t>
            </a:r>
            <a:r>
              <a:rPr lang="es-MX" i="1" dirty="0" err="1">
                <a:solidFill>
                  <a:srgbClr val="3D3D3D"/>
                </a:solidFill>
                <a:latin typeface="Cambria" panose="02040503050406030204" pitchFamily="18" charset="0"/>
              </a:rPr>
              <a:t>Postman</a:t>
            </a:r>
            <a:r>
              <a:rPr lang="es-MX" i="1" dirty="0">
                <a:solidFill>
                  <a:srgbClr val="3D3D3D"/>
                </a:solidFill>
                <a:latin typeface="Cambria" panose="02040503050406030204" pitchFamily="18" charset="0"/>
              </a:rPr>
              <a:t> con POST /api/conversiones/longitud, la cabecera </a:t>
            </a:r>
            <a:r>
              <a:rPr lang="es-MX" i="1" dirty="0" err="1">
                <a:solidFill>
                  <a:srgbClr val="3D3D3D"/>
                </a:solidFill>
                <a:latin typeface="Cambria" panose="02040503050406030204" pitchFamily="18" charset="0"/>
              </a:rPr>
              <a:t>Authorization</a:t>
            </a:r>
            <a:r>
              <a:rPr lang="es-MX" i="1" dirty="0">
                <a:solidFill>
                  <a:srgbClr val="3D3D3D"/>
                </a:solidFill>
                <a:latin typeface="Cambria" panose="02040503050406030204" pitchFamily="18" charset="0"/>
              </a:rPr>
              <a:t> y la respuesta 200]</a:t>
            </a:r>
            <a:endParaRPr lang="es-EC" i="1" dirty="0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46" name="Google Shape;146;p19"/>
          <p:cNvSpPr txBox="1">
            <a:spLocks noGrp="1"/>
          </p:cNvSpPr>
          <p:nvPr>
            <p:ph type="body" idx="1"/>
          </p:nvPr>
        </p:nvSpPr>
        <p:spPr>
          <a:xfrm>
            <a:off x="581200" y="2180500"/>
            <a:ext cx="8589300" cy="163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785"/>
              <a:buChar char="∙"/>
            </a:pPr>
            <a:r>
              <a:rPr lang="es-ES" sz="1929" b="1">
                <a:latin typeface="Cambria"/>
                <a:ea typeface="Cambria"/>
                <a:cs typeface="Cambria"/>
                <a:sym typeface="Cambria"/>
              </a:rPr>
              <a:t>1.2.6 	Publicación en IIS</a:t>
            </a:r>
            <a:endParaRPr sz="1929" b="1">
              <a:latin typeface="Cambria"/>
              <a:ea typeface="Cambria"/>
              <a:cs typeface="Cambria"/>
              <a:sym typeface="Cambria"/>
            </a:endParaRPr>
          </a:p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948"/>
              <a:buNone/>
            </a:pP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3429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Char char="∙"/>
            </a:pPr>
            <a:r>
              <a:rPr lang="es-MX">
                <a:latin typeface="Cambria"/>
                <a:ea typeface="Cambria"/>
                <a:cs typeface="Cambria"/>
                <a:sym typeface="Cambria"/>
              </a:rPr>
              <a:t>Para desplegar en IIS se hace clic derecho sobre el proyecto &gt; Publicar y se crea un perfil de tipo Carpeta (C:\inetpub\WS_CON_UNI_DOTNET_REST) con la configuración Release.</a:t>
            </a:r>
            <a:endParaRPr>
              <a:latin typeface="Cambria"/>
              <a:ea typeface="Cambria"/>
              <a:cs typeface="Cambria"/>
              <a:sym typeface="Cambria"/>
            </a:endParaRPr>
          </a:p>
          <a:p>
            <a:pPr marL="342900" marR="0" lvl="0" indent="-245629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Font typeface="Segoe UI Symbol"/>
              <a:buNone/>
            </a:pPr>
            <a:endParaRPr sz="18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47" name="Google Shape;147;p1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58DD436-80EF-DA7A-7F82-E6290DD84E18}"/>
              </a:ext>
            </a:extLst>
          </p:cNvPr>
          <p:cNvSpPr/>
          <p:nvPr/>
        </p:nvSpPr>
        <p:spPr>
          <a:xfrm>
            <a:off x="2537463" y="3549050"/>
            <a:ext cx="4676775" cy="32004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asistente Publicar &gt; Carpeta con la ruta C:\inetpub\WS_CON_UNI_DOTNET_REST]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54" name="Google Shape;154;p20"/>
          <p:cNvSpPr txBox="1">
            <a:spLocks noGrp="1"/>
          </p:cNvSpPr>
          <p:nvPr>
            <p:ph type="body" idx="1"/>
          </p:nvPr>
        </p:nvSpPr>
        <p:spPr>
          <a:xfrm>
            <a:off x="581192" y="1948171"/>
            <a:ext cx="8589300" cy="1358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En Características de Windows se habilita Internet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Information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Services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y se instala el ASP.NET Core Hosting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Bundle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 (.NET 8 o superior); luego se ejecuta </a:t>
            </a:r>
            <a:r>
              <a:rPr lang="es-MX" sz="1680" dirty="0" err="1">
                <a:latin typeface="Cambria"/>
                <a:ea typeface="Cambria"/>
                <a:cs typeface="Cambria"/>
                <a:sym typeface="Cambria"/>
              </a:rPr>
              <a:t>iisreset</a:t>
            </a: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1115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300"/>
              <a:buFont typeface="Cambria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En el Administrador de IIS se agrega el sitio WS_CON_UNI_DOTNET_REST con la carpeta publicada, el puerto 8096 y un grupo de aplicaciones Sin código administrado.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55" name="Google Shape;155;p2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F4DDC49-74F8-3D63-4217-FC94432C31CE}"/>
              </a:ext>
            </a:extLst>
          </p:cNvPr>
          <p:cNvSpPr/>
          <p:nvPr/>
        </p:nvSpPr>
        <p:spPr>
          <a:xfrm>
            <a:off x="581200" y="3429100"/>
            <a:ext cx="4105699" cy="28078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instalador del ASP.NET Core Hosting Bundle finalizado correctamente]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D99334BC-C411-95CE-A8BE-FEA839BCFED4}"/>
              </a:ext>
            </a:extLst>
          </p:cNvPr>
          <p:cNvSpPr/>
          <p:nvPr/>
        </p:nvSpPr>
        <p:spPr>
          <a:xfrm>
            <a:off x="4686899" y="3196772"/>
            <a:ext cx="4600575" cy="31623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Agregar sitio web en IIS con nombre, ruta física y puerto 8096]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body" idx="1"/>
          </p:nvPr>
        </p:nvSpPr>
        <p:spPr>
          <a:xfrm>
            <a:off x="504992" y="1923050"/>
            <a:ext cx="8589300" cy="124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6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∙"/>
            </a:pPr>
            <a:r>
              <a:rPr lang="es-MX" sz="1680" dirty="0">
                <a:latin typeface="Cambria"/>
                <a:ea typeface="Cambria"/>
                <a:cs typeface="Cambria"/>
                <a:sym typeface="Cambria"/>
              </a:rPr>
              <a:t>Para terminar se otorgan permisos de lectura y ejecución a IIS_IUSRS sobre la carpeta publicada y se verifica http://localhost:8096/api/catalogo/categorias: la respuesta 401 con AUTH-001 confirma que IIS ejecuta la API.</a:t>
            </a: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139" name="Google Shape;139;p1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64FC395-2ADC-E614-8A05-C6C5FE1719AC}"/>
              </a:ext>
            </a:extLst>
          </p:cNvPr>
          <p:cNvSpPr/>
          <p:nvPr/>
        </p:nvSpPr>
        <p:spPr>
          <a:xfrm>
            <a:off x="2623250" y="3171650"/>
            <a:ext cx="4505325" cy="34956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con la respuesta JSON del servicio publicado en IIS en el puerto 8096]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8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3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03" name="Google Shape;303;p38"/>
          <p:cNvSpPr txBox="1">
            <a:spLocks noGrp="1"/>
          </p:cNvSpPr>
          <p:nvPr>
            <p:ph type="body" idx="1"/>
          </p:nvPr>
        </p:nvSpPr>
        <p:spPr>
          <a:xfrm>
            <a:off x="581192" y="1875825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70332"/>
              <a:buFont typeface="Arial"/>
              <a:buNone/>
            </a:pPr>
            <a:r>
              <a:rPr lang="es-ES" sz="1564" b="1" dirty="0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422426" indent="-285750">
              <a:lnSpc>
                <a:spcPct val="115000"/>
              </a:lnSpc>
              <a:spcBef>
                <a:spcPts val="0"/>
              </a:spcBef>
              <a:buSzPct val="100064"/>
              <a:buFont typeface="Courier New" panose="02070309020205020404" pitchFamily="49" charset="0"/>
              <a:buChar char="o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Para el cliente consola se usó Visual Studio: se crea un nuevo proyecto con la plantilla Aplicación de consola para C#.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422485" indent="-285750">
              <a:lnSpc>
                <a:spcPct val="115000"/>
              </a:lnSpc>
              <a:spcBef>
                <a:spcPts val="0"/>
              </a:spcBef>
              <a:buSzPct val="100000"/>
              <a:buFont typeface="Courier New" panose="02070309020205020404" pitchFamily="49" charset="0"/>
              <a:buChar char="o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Se asigna el nombre ConUni_ClienteConsola_REST_GR3, la ubicación 04. CLICON y el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framework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.NET 8.0.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ct val="99162"/>
              <a:buNone/>
            </a:pP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834D782-F7C6-787C-DD07-E98E226BDB76}"/>
              </a:ext>
            </a:extLst>
          </p:cNvPr>
          <p:cNvSpPr/>
          <p:nvPr/>
        </p:nvSpPr>
        <p:spPr>
          <a:xfrm>
            <a:off x="581200" y="3907425"/>
            <a:ext cx="3704150" cy="25289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 dirty="0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plantilla Aplicación de consola]</a:t>
            </a:r>
            <a:endParaRPr lang="es-EC" i="1" dirty="0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E11A1496-9EC0-7554-FB32-6CA5F1739C6E}"/>
              </a:ext>
            </a:extLst>
          </p:cNvPr>
          <p:cNvSpPr/>
          <p:nvPr/>
        </p:nvSpPr>
        <p:spPr>
          <a:xfrm>
            <a:off x="4900125" y="3765892"/>
            <a:ext cx="3704150" cy="2593608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ConUni_ClienteConsola_REST_GR3 y .NET 8.0]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 i="0" u="none" strike="noStrike" cap="none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3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2" name="Google Shape;312;p39"/>
          <p:cNvSpPr txBox="1">
            <a:spLocks noGrp="1"/>
          </p:cNvSpPr>
          <p:nvPr>
            <p:ph type="body" idx="1"/>
          </p:nvPr>
        </p:nvSpPr>
        <p:spPr>
          <a:xfrm>
            <a:off x="581200" y="1983000"/>
            <a:ext cx="8581500" cy="21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1564" b="1" dirty="0">
                <a:latin typeface="Cambria"/>
                <a:ea typeface="Cambria"/>
                <a:cs typeface="Cambria"/>
                <a:sym typeface="Cambria"/>
              </a:rPr>
              <a:t>1.3 	CREACIÓN DEL PROYECTO CLIENTE CONSOLA</a:t>
            </a: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564" b="1" dirty="0">
              <a:latin typeface="Cambria"/>
              <a:ea typeface="Cambria"/>
              <a:cs typeface="Cambria"/>
              <a:sym typeface="Cambria"/>
            </a:endParaRPr>
          </a:p>
          <a:p>
            <a:pPr marL="45720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ourier New" panose="02070309020205020404" pitchFamily="49" charset="0"/>
              <a:buChar char="o"/>
            </a:pPr>
            <a:r>
              <a:rPr lang="es-ES" sz="1564" dirty="0">
                <a:latin typeface="Cambria"/>
                <a:ea typeface="Cambria"/>
                <a:cs typeface="Cambria"/>
                <a:sym typeface="Cambria"/>
              </a:rPr>
              <a:t>No requiere referencias adicionales: consume la API con un único </a:t>
            </a:r>
            <a:r>
              <a:rPr lang="es-ES" sz="1564" dirty="0" err="1">
                <a:latin typeface="Cambria"/>
                <a:ea typeface="Cambria"/>
                <a:cs typeface="Cambria"/>
                <a:sym typeface="Cambria"/>
              </a:rPr>
              <a:t>HttpClient</a:t>
            </a:r>
            <a:r>
              <a:rPr lang="es-ES" sz="1564" dirty="0">
                <a:latin typeface="Cambria"/>
                <a:ea typeface="Cambria"/>
                <a:cs typeface="Cambria"/>
                <a:sym typeface="Cambria"/>
              </a:rPr>
              <a:t> y </a:t>
            </a:r>
            <a:r>
              <a:rPr lang="es-ES" sz="1564" dirty="0" err="1">
                <a:latin typeface="Cambria"/>
                <a:ea typeface="Cambria"/>
                <a:cs typeface="Cambria"/>
                <a:sym typeface="Cambria"/>
              </a:rPr>
              <a:t>System.Text.Json</a:t>
            </a:r>
            <a:r>
              <a:rPr lang="es-ES" sz="1564" dirty="0">
                <a:latin typeface="Cambria"/>
                <a:ea typeface="Cambria"/>
                <a:cs typeface="Cambria"/>
                <a:sym typeface="Cambria"/>
              </a:rPr>
              <a:t>. Se crea la estructura </a:t>
            </a:r>
            <a:r>
              <a:rPr lang="es-ES" sz="1564" dirty="0" err="1">
                <a:latin typeface="Cambria"/>
                <a:ea typeface="Cambria"/>
                <a:cs typeface="Cambria"/>
                <a:sym typeface="Cambria"/>
              </a:rPr>
              <a:t>ec</a:t>
            </a:r>
            <a:r>
              <a:rPr lang="es-ES" sz="1564" dirty="0">
                <a:latin typeface="Cambria"/>
                <a:ea typeface="Cambria"/>
                <a:cs typeface="Cambria"/>
                <a:sym typeface="Cambria"/>
              </a:rPr>
              <a:t>/</a:t>
            </a:r>
            <a:r>
              <a:rPr lang="es-ES" sz="1564" dirty="0" err="1">
                <a:latin typeface="Cambria"/>
                <a:ea typeface="Cambria"/>
                <a:cs typeface="Cambria"/>
                <a:sym typeface="Cambria"/>
              </a:rPr>
              <a:t>edu</a:t>
            </a:r>
            <a:r>
              <a:rPr lang="es-ES" sz="1564" dirty="0">
                <a:latin typeface="Cambria"/>
                <a:ea typeface="Cambria"/>
                <a:cs typeface="Cambria"/>
                <a:sym typeface="Cambria"/>
              </a:rPr>
              <a:t>/</a:t>
            </a:r>
            <a:r>
              <a:rPr lang="es-ES" sz="1564" dirty="0" err="1">
                <a:latin typeface="Cambria"/>
                <a:ea typeface="Cambria"/>
                <a:cs typeface="Cambria"/>
                <a:sym typeface="Cambria"/>
              </a:rPr>
              <a:t>monster</a:t>
            </a:r>
            <a:r>
              <a:rPr lang="es-ES" sz="1564" dirty="0">
                <a:latin typeface="Cambria"/>
                <a:ea typeface="Cambria"/>
                <a:cs typeface="Cambria"/>
                <a:sym typeface="Cambria"/>
              </a:rPr>
              <a:t> con las carpetas controlador, modelo, servicio (acceso REST), </a:t>
            </a:r>
            <a:r>
              <a:rPr lang="es-ES" sz="1564" dirty="0" err="1">
                <a:latin typeface="Cambria"/>
                <a:ea typeface="Cambria"/>
                <a:cs typeface="Cambria"/>
                <a:sym typeface="Cambria"/>
              </a:rPr>
              <a:t>util</a:t>
            </a:r>
            <a:r>
              <a:rPr lang="es-ES" sz="1564" dirty="0">
                <a:latin typeface="Cambria"/>
                <a:ea typeface="Cambria"/>
                <a:cs typeface="Cambria"/>
                <a:sym typeface="Cambria"/>
              </a:rPr>
              <a:t> y vista. La dirección del servidor se define en </a:t>
            </a:r>
            <a:r>
              <a:rPr lang="es-ES" sz="1564" dirty="0" err="1">
                <a:latin typeface="Cambria"/>
                <a:ea typeface="Cambria"/>
                <a:cs typeface="Cambria"/>
                <a:sym typeface="Cambria"/>
              </a:rPr>
              <a:t>appsettings.json</a:t>
            </a:r>
            <a:r>
              <a:rPr lang="es-ES" sz="1564" dirty="0">
                <a:latin typeface="Cambria"/>
                <a:ea typeface="Cambria"/>
                <a:cs typeface="Cambria"/>
                <a:sym typeface="Cambria"/>
              </a:rPr>
              <a:t> (rest.base.url) o en la variable REST_BASE_URL.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656"/>
              <a:buNone/>
            </a:pPr>
            <a:endParaRPr sz="167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84F9185-048A-D947-83A3-2C0D72B89FD4}"/>
              </a:ext>
            </a:extLst>
          </p:cNvPr>
          <p:cNvSpPr/>
          <p:nvPr/>
        </p:nvSpPr>
        <p:spPr>
          <a:xfrm>
            <a:off x="2668875" y="3950625"/>
            <a:ext cx="3743325" cy="24098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Explorador de soluciones con ec/edu/monster y sus carpetas]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19" name="Google Shape;319;p40"/>
          <p:cNvSpPr txBox="1">
            <a:spLocks noGrp="1"/>
          </p:cNvSpPr>
          <p:nvPr>
            <p:ph type="body" idx="1"/>
          </p:nvPr>
        </p:nvSpPr>
        <p:spPr>
          <a:xfrm>
            <a:off x="581200" y="1876275"/>
            <a:ext cx="2132400" cy="47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68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68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20" name="Google Shape;320;p4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21" name="Google Shape;321;p40"/>
          <p:cNvGraphicFramePr/>
          <p:nvPr>
            <p:extLst>
              <p:ext uri="{D42A27DB-BD31-4B8C-83A1-F6EECF244321}">
                <p14:modId xmlns:p14="http://schemas.microsoft.com/office/powerpoint/2010/main" val="1727224330"/>
              </p:ext>
            </p:extLst>
          </p:nvPr>
        </p:nvGraphicFramePr>
        <p:xfrm>
          <a:off x="2840800" y="2562075"/>
          <a:ext cx="6062675" cy="29768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0626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RespuestaDto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SolicitarAsync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HttpMethod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metodo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ruta,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 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object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cuerpo,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bool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protegido)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peticion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new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HttpRequestMessage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metodo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new Uri(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baseUri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ruta));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peticion.Headers.Accept.Add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(new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MediaTypeWithQualityHeaderValue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("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application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json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"));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if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(protegido)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if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==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throw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new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ErrorRESTModelo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(401, "AUTH-001", "Debe iniciar sesión.");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peticion.Headers.Authorization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new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AuthenticationHeaderValue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("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Bearer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sesion.Token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if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(cuerpo !=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peticion.Content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new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StringContent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JsonSerializer.Serialize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(cuerpo),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Encoding.UTF8, "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application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json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HttpResponseMessage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respuesta =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await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Http.SendAsync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peticion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contenido =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await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respuesta.Content.ReadAsStringAsync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RespuestaDto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datos =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LeerRespuesta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(contenido);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35" name="Google Shape;335;p42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24968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68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68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36" name="Google Shape;336;p42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337" name="Google Shape;337;p42"/>
          <p:cNvGraphicFramePr/>
          <p:nvPr>
            <p:extLst>
              <p:ext uri="{D42A27DB-BD31-4B8C-83A1-F6EECF244321}">
                <p14:modId xmlns:p14="http://schemas.microsoft.com/office/powerpoint/2010/main" val="826771450"/>
              </p:ext>
            </p:extLst>
          </p:nvPr>
        </p:nvGraphicFramePr>
        <p:xfrm>
          <a:off x="3040500" y="2798488"/>
          <a:ext cx="5439425" cy="2976880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43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SesionModelo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LoginAsync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usuario,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clave)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CerrarSesion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RespuestaDto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respuesta =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await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SolicitarAsync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HttpMethod.Post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"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autenticacion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new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CredencialesDto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{ Usuario = usuario, Clave = clave }, false);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token =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TextoObligatorio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respuesta.Token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"token");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new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SesionModelo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(usuario, token,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respuesta.ExpiraEn.Value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sesion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double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ConvertirAsync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tipo,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double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valor,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origen,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destino)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RespuestaDto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respuesta =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await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SolicitarAsync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HttpMethod.Post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"conversiones/" + tipo,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new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SolicitudConversionDto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{ Valor = valor,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UnidadOrigen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origen,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UnidadDestino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destino }, true);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respuesta.Resultado.Value</a:t>
                      </a: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;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0" name="Google Shape;370;p46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2685604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MX" sz="168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Se puede verificar que el cliente funciona de forma correcta, se levanta y tiene comunicación (usuario MONSTER, clave MONSTER9)</a:t>
            </a:r>
            <a:r>
              <a:rPr lang="es-ES" sz="168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680" b="1" dirty="0">
              <a:solidFill>
                <a:srgbClr val="17365D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Calibri"/>
              <a:buChar char="∙"/>
            </a:pPr>
            <a:endParaRPr sz="168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371" name="Google Shape;371;p4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rgbClr val="FFFF00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62894D2-A461-68A1-45C7-77A81EDF2204}"/>
              </a:ext>
            </a:extLst>
          </p:cNvPr>
          <p:cNvSpPr/>
          <p:nvPr/>
        </p:nvSpPr>
        <p:spPr>
          <a:xfrm>
            <a:off x="3228913" y="2794000"/>
            <a:ext cx="5734050" cy="25050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 dirty="0">
                <a:solidFill>
                  <a:srgbClr val="3D3D3D"/>
                </a:solidFill>
                <a:latin typeface="Cambria" panose="02040503050406030204" pitchFamily="18" charset="0"/>
              </a:rPr>
              <a:t>[Insertar captura: consola con el inicio de sesión exitoso, el catálogo y una conversión]</a:t>
            </a:r>
            <a:endParaRPr lang="es-EC" i="1" dirty="0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4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78" name="Google Shape;378;p4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79" name="Google Shape;379;p47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6498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ourier New" panose="02070309020205020404" pitchFamily="49" charset="0"/>
              <a:buChar char="o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Para optimizar el tiempo, los clientes de escritorio, web y móvil comparten una Biblioteca de clases de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Razor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(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SistemaConversorREST.UI.Shared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) con las vistas, los modelos y los adaptadores REST; cada cliente solo aporta su configuración.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052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ct val="100064"/>
              <a:buFont typeface="Courier New" panose="02070309020205020404" pitchFamily="49" charset="0"/>
              <a:buChar char="o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Para empezar, en Visual Studio se crea un proyecto con la plantilla Biblioteca de clases de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Razor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A7DF466-71B2-17FC-0A27-1E7786855163}"/>
              </a:ext>
            </a:extLst>
          </p:cNvPr>
          <p:cNvSpPr/>
          <p:nvPr/>
        </p:nvSpPr>
        <p:spPr>
          <a:xfrm>
            <a:off x="2087175" y="3638550"/>
            <a:ext cx="5342325" cy="31111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plantilla Biblioteca de clases de Razor]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4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86" name="Google Shape;386;p4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87" name="Google Shape;387;p48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78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5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asigna el nombre SistemaConversorREST.UI.Shared, la ubicación 04. CLIESC y .NET 10.0 como versión del framework.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crean las carpetas Adaptadores, Interfaces, Modelos y Vistas (Login, Menu, Catalogo y Conversion en .razor, cada una con su hoja de estilos aislada).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EB5146A-8350-071C-609B-7E5E6D29A87E}"/>
              </a:ext>
            </a:extLst>
          </p:cNvPr>
          <p:cNvSpPr/>
          <p:nvPr/>
        </p:nvSpPr>
        <p:spPr>
          <a:xfrm>
            <a:off x="226825" y="3803100"/>
            <a:ext cx="4002875" cy="25810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SistemaConversorREST.UI.Shared]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369662D7-3D47-ED06-6516-8F0E868307C1}"/>
              </a:ext>
            </a:extLst>
          </p:cNvPr>
          <p:cNvSpPr/>
          <p:nvPr/>
        </p:nvSpPr>
        <p:spPr>
          <a:xfrm>
            <a:off x="4423175" y="4002275"/>
            <a:ext cx="4747325" cy="1894079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Explorador de soluciones con Adaptadores, Interfaces, Modelos y Vistas]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51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13" name="Google Shape;413;p51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14" name="Google Shape;414;p51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5826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ourier New" panose="02070309020205020404" pitchFamily="49" charset="0"/>
              <a:buChar char="o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Para el escritorio se agrega un proyecto con la plantilla Aplicación .NET MAUI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Blazor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Hybrid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, que muestra componentes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Razor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dentro de un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BlazorWebView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ourier New" panose="02070309020205020404" pitchFamily="49" charset="0"/>
              <a:buChar char="o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Se le asigna el nombre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SistemaConversorREST.UI.Desktop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(.NET 10.0) en 04. CLIESC y se ejecuta con el destino Windows.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1E7AD19-8B7B-047C-23A6-8D7D9263CAB7}"/>
              </a:ext>
            </a:extLst>
          </p:cNvPr>
          <p:cNvSpPr/>
          <p:nvPr/>
        </p:nvSpPr>
        <p:spPr>
          <a:xfrm>
            <a:off x="107750" y="3471275"/>
            <a:ext cx="4476750" cy="28956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plantilla Aplicación .NET MAUI Blazor Hybrid]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2E20283A-3029-01EE-A7FC-DC1728885553}"/>
              </a:ext>
            </a:extLst>
          </p:cNvPr>
          <p:cNvSpPr/>
          <p:nvPr/>
        </p:nvSpPr>
        <p:spPr>
          <a:xfrm>
            <a:off x="4823813" y="3471275"/>
            <a:ext cx="4253600" cy="27053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SistemaConversorREST.UI.Desktop]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p52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22" name="Google Shape;422;p52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23" name="Google Shape;423;p52"/>
          <p:cNvSpPr txBox="1">
            <a:spLocks noGrp="1"/>
          </p:cNvSpPr>
          <p:nvPr>
            <p:ph type="body" idx="1"/>
          </p:nvPr>
        </p:nvSpPr>
        <p:spPr>
          <a:xfrm>
            <a:off x="514225" y="1888628"/>
            <a:ext cx="8589300" cy="15403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ourier New" panose="02070309020205020404" pitchFamily="49" charset="0"/>
              <a:buChar char="o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Desde Dependencias &gt; Agregar referencia de proyecto se selecciona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SistemaConversorREST.UI.Shared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; los clientes web y móvil se referencian de la misma forma.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ourier New" panose="02070309020205020404" pitchFamily="49" charset="0"/>
              <a:buChar char="o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No se necesitan paquetes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NuGet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adicionales: los adaptadores usan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HttpClient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y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System.Net.Http.Json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.</a:t>
            </a:r>
            <a:endParaRPr sz="1564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DF1ACB6-8FA5-75C6-3B40-880C099FF023}"/>
              </a:ext>
            </a:extLst>
          </p:cNvPr>
          <p:cNvSpPr/>
          <p:nvPr/>
        </p:nvSpPr>
        <p:spPr>
          <a:xfrm>
            <a:off x="167300" y="3910850"/>
            <a:ext cx="4107051" cy="18261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Dependencias &gt; Agregar referencia de proyecto]</a:t>
            </a: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A3B8A41B-B1A8-622F-738A-CAD2398576B2}"/>
              </a:ext>
            </a:extLst>
          </p:cNvPr>
          <p:cNvSpPr/>
          <p:nvPr/>
        </p:nvSpPr>
        <p:spPr>
          <a:xfrm>
            <a:off x="4429438" y="3317241"/>
            <a:ext cx="4732200" cy="333298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EC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Administrador de referencias con SistemaConversorREST.UI.Shared marcado]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5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79" name="Google Shape;479;p59"/>
          <p:cNvSpPr txBox="1">
            <a:spLocks noGrp="1"/>
          </p:cNvSpPr>
          <p:nvPr>
            <p:ph type="body" idx="1"/>
          </p:nvPr>
        </p:nvSpPr>
        <p:spPr>
          <a:xfrm>
            <a:off x="227350" y="2146756"/>
            <a:ext cx="26873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68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68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480" name="Google Shape;480;p5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481" name="Google Shape;481;p59"/>
          <p:cNvGraphicFramePr/>
          <p:nvPr>
            <p:extLst>
              <p:ext uri="{D42A27DB-BD31-4B8C-83A1-F6EECF244321}">
                <p14:modId xmlns:p14="http://schemas.microsoft.com/office/powerpoint/2010/main" val="1727212494"/>
              </p:ext>
            </p:extLst>
          </p:nvPr>
        </p:nvGraphicFramePr>
        <p:xfrm>
          <a:off x="3524250" y="2615543"/>
          <a:ext cx="5143500" cy="2940226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143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940226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public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async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SesionCliente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IniciarSesionAsync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usuario,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clave)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using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respuesta =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await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http.PostAsJsonAsync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"api/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autenticacion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login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new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CredencialesRequest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(usuario, clave),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JsonOptions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resultado =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await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LeerRespuestaAsync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(respuesta);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if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string.IsNullOrWhiteSpace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resultado.Token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throw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new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InvalidOperationException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("El servidor no devolvió un token de sesión.");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new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SesionCliente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(usuario,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resultado.Token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s-ES" sz="12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resultado.ExpiraEn</a:t>
                      </a: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2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6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19" name="Google Shape;519;p64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2100878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68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68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680"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20" name="Google Shape;520;p64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graphicFrame>
        <p:nvGraphicFramePr>
          <p:cNvPr id="521" name="Google Shape;521;p64"/>
          <p:cNvGraphicFramePr/>
          <p:nvPr>
            <p:extLst>
              <p:ext uri="{D42A27DB-BD31-4B8C-83A1-F6EECF244321}">
                <p14:modId xmlns:p14="http://schemas.microsoft.com/office/powerpoint/2010/main" val="1092241480"/>
              </p:ext>
            </p:extLst>
          </p:nvPr>
        </p:nvGraphicFramePr>
        <p:xfrm>
          <a:off x="2561425" y="2967188"/>
          <a:ext cx="6484300" cy="2255711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private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async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Task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RespuestaApi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EnviarAsync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HttpMethod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metodo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ruta,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 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token,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object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cuerpo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solicitud = new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HttpRequestMessage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metodo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ruta);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if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(!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string.IsNullOrWhiteSpace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(token))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solicitud.Headers.Authorization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new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AuthenticationHeaderValue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("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Bearer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", token);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if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(cuerpo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solicitud.Content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JsonContent.Create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(cuerpo,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options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: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JsonOptions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using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respuesta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await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_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http.SendAsync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(solicitud);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RespuestaApi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? datos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await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respuesta.Content.ReadFromJsonAsync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RespuestaApi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JsonOptions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if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respuesta.StatusCode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HttpStatusCode.Unauthorized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throw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new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HttpRequestException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("La sesión no es válida o expiró. ...",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                            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null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respuesta.StatusCode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);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p6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35" name="Google Shape;535;p66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36" name="Google Shape;536;p66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Para el cliente de escritorio,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MauiProgram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registra la dirección del servidor (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OpcionesCliente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), un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HttpClient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con esa dirección base y los adaptadores REST del proyecto compartido;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MainPage.xaml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carga la vista </a:t>
            </a:r>
            <a:r>
              <a:rPr lang="es-MX" sz="1564" dirty="0" err="1">
                <a:latin typeface="Cambria"/>
                <a:ea typeface="Cambria"/>
                <a:cs typeface="Cambria"/>
                <a:sym typeface="Cambria"/>
              </a:rPr>
              <a:t>Login</a:t>
            </a:r>
            <a:r>
              <a:rPr lang="es-MX" sz="1564" dirty="0">
                <a:latin typeface="Cambria"/>
                <a:ea typeface="Cambria"/>
                <a:cs typeface="Cambria"/>
                <a:sym typeface="Cambria"/>
              </a:rPr>
              <a:t> como componente raíz.</a:t>
            </a:r>
            <a:endParaRPr dirty="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37" name="Google Shape;537;p66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2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20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400" dirty="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38" name="Google Shape;538;p66"/>
          <p:cNvGraphicFramePr/>
          <p:nvPr>
            <p:extLst>
              <p:ext uri="{D42A27DB-BD31-4B8C-83A1-F6EECF244321}">
                <p14:modId xmlns:p14="http://schemas.microsoft.com/office/powerpoint/2010/main" val="1838674023"/>
              </p:ext>
            </p:extLst>
          </p:nvPr>
        </p:nvGraphicFramePr>
        <p:xfrm>
          <a:off x="2332838" y="3073863"/>
          <a:ext cx="6484300" cy="3662553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MauiApp.CreateBuilder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string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apiBaseAddress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"http://localhost:8096/";   // Android: http://10.0.2.2:8096/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opciones = new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OpcionesCliente</a:t>
                      </a:r>
                      <a:endParaRPr lang="es-ES" sz="900" dirty="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UrlServidor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apiBaseAddress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NombreCliente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"Cliente de escritorio"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(opciones);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(new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HttpClient</a:t>
                      </a:r>
                      <a:endParaRPr lang="es-ES" sz="900" dirty="0">
                        <a:solidFill>
                          <a:srgbClr val="4F81BD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BaseAddress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new Uri(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opciones.UrlServidor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),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Timeout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=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TimeSpan.FromSeconds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(20)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IAutenticacionRest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AdaptadorAutenticacionRest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IConversionRest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,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AdaptadorConversionRest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builder.UseMauiApp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&lt;App&gt;();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builder.Services.AddMauiBlazorWebView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();</a:t>
                      </a:r>
                    </a:p>
                    <a:p>
                      <a:pPr marL="0" lvl="0" indent="0" algn="l" rtl="0">
                        <a:lnSpc>
                          <a:spcPct val="144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s-ES" sz="9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builder.Build</a:t>
                      </a:r>
                      <a:r>
                        <a:rPr lang="es-ES" sz="9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();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539" name="Google Shape;539;p66"/>
          <p:cNvSpPr txBox="1"/>
          <p:nvPr/>
        </p:nvSpPr>
        <p:spPr>
          <a:xfrm>
            <a:off x="122575" y="1715850"/>
            <a:ext cx="7232400" cy="777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800" b="1" dirty="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  <a:t>1.4 	CREACIÓN DEL PROYECTO – CLIENTE ESCRITORIO</a:t>
            </a:r>
            <a:br>
              <a:rPr lang="es-ES" sz="1800" b="1" dirty="0">
                <a:solidFill>
                  <a:schemeClr val="dk2"/>
                </a:solidFill>
                <a:latin typeface="Cambria"/>
                <a:ea typeface="Cambria"/>
                <a:cs typeface="Cambria"/>
                <a:sym typeface="Cambria"/>
              </a:rPr>
            </a:br>
            <a:endParaRPr sz="1800" dirty="0">
              <a:solidFill>
                <a:schemeClr val="dk2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7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69" name="Google Shape;569;p70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1" name="Google Shape;571;p70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D0E26EC-B320-AA5E-FD3E-ADF1E71DB050}"/>
              </a:ext>
            </a:extLst>
          </p:cNvPr>
          <p:cNvSpPr/>
          <p:nvPr/>
        </p:nvSpPr>
        <p:spPr>
          <a:xfrm>
            <a:off x="1863925" y="2920600"/>
            <a:ext cx="5734050" cy="34766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de escritorio con la pantalla de inicio de sesión]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71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77" name="Google Shape;577;p71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78" name="Google Shape;578;p71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7DC2BFB-EC9E-0D7D-4A2D-E223661AAEAE}"/>
              </a:ext>
            </a:extLst>
          </p:cNvPr>
          <p:cNvSpPr/>
          <p:nvPr/>
        </p:nvSpPr>
        <p:spPr>
          <a:xfrm>
            <a:off x="2057925" y="2610550"/>
            <a:ext cx="5734050" cy="34671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de escritorio con una conversión y su resultado]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7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85" name="Google Shape;585;p7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86" name="Google Shape;586;p7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7F09E91-0B21-6E56-28D2-6589050D658D}"/>
              </a:ext>
            </a:extLst>
          </p:cNvPr>
          <p:cNvSpPr/>
          <p:nvPr/>
        </p:nvSpPr>
        <p:spPr>
          <a:xfrm>
            <a:off x="2176450" y="2610550"/>
            <a:ext cx="5734050" cy="34956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de escritorio con el catálogo de categorías y unidades]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49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395" name="Google Shape;395;p49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398" name="Google Shape;398;p49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lnSpcReduction="10000"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web se agrega un proyecto con la plantilla Aplicación web de Blazor, con .NET 10.0 y modo de representación interactiva Server.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Se le asigna el nombre SistemaConversorREST.UI.Web en la carpeta 04. CLIWEB y se agrega la referencia a SistemaConversorREST.UI.Shared.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92A8582-012F-3FE1-208B-F137E1156ED0}"/>
              </a:ext>
            </a:extLst>
          </p:cNvPr>
          <p:cNvSpPr/>
          <p:nvPr/>
        </p:nvSpPr>
        <p:spPr>
          <a:xfrm>
            <a:off x="66975" y="3452938"/>
            <a:ext cx="4507325" cy="28747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Visual Studio &gt; plantilla Aplicación web de Blazor]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C237A891-12E2-BAD1-69A5-3B86DC190521}"/>
              </a:ext>
            </a:extLst>
          </p:cNvPr>
          <p:cNvSpPr/>
          <p:nvPr/>
        </p:nvSpPr>
        <p:spPr>
          <a:xfrm>
            <a:off x="4772900" y="3452950"/>
            <a:ext cx="4460247" cy="28747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SistemaConversorREST.UI.Web y modo Server]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7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593" name="Google Shape;593;p73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594" name="Google Shape;594;p73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web, Program.cs lee la dirección del servidor de appsettings.json (sección Cliente, http://localhost:8096/) y registra los adaptadores REST con AddHttpClient; la página Inicio.razor carga el mismo componente Login.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595" name="Google Shape;595;p73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graphicFrame>
        <p:nvGraphicFramePr>
          <p:cNvPr id="596" name="Google Shape;596;p73"/>
          <p:cNvGraphicFramePr/>
          <p:nvPr>
            <p:extLst>
              <p:ext uri="{D42A27DB-BD31-4B8C-83A1-F6EECF244321}">
                <p14:modId xmlns:p14="http://schemas.microsoft.com/office/powerpoint/2010/main" val="3500724253"/>
              </p:ext>
            </p:extLst>
          </p:nvPr>
        </p:nvGraphicFramePr>
        <p:xfrm>
          <a:off x="2332838" y="3073863"/>
          <a:ext cx="6484300" cy="3243263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builder = WebApplication.CreateBuilder(args);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// Las vistas compartidas corren en el servidor web: las llamadas REST salen de aquí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builder.Services.AddRazorComponents()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.AddInteractiveServerComponents();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opciones = builder.Configuration.GetSection("Cliente").Get&lt;OpcionesCliente&gt;()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?? new OpcionesCliente();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builder.Services.AddSingleton(opciones);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void ConfigurarCliente(HttpClient http)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http.BaseAddress = new Uri(opciones.UrlServidor);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http.Timeout = TimeSpan.FromSeconds(20);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builder.Services.AddHttpClient&lt;IAutenticacionRest, AdaptadorAutenticacionRest&gt;(ConfigurarCliente);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builder.Services.AddHttpClient&lt;IConversionRest, AdaptadorConversionRest&gt;(ConfigurarCliente);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app = builder.Build();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app.UseAntiforgery();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app.MapStaticAssets();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app.MapRazorComponents&lt;App&gt;().AddInteractiveServerRenderMode();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app.Run();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7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18" name="Google Shape;618;p76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0" name="Google Shape;620;p76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31BC31A-9A0C-9853-9CB8-27CBD90571AC}"/>
              </a:ext>
            </a:extLst>
          </p:cNvPr>
          <p:cNvSpPr/>
          <p:nvPr/>
        </p:nvSpPr>
        <p:spPr>
          <a:xfrm>
            <a:off x="1863925" y="2920600"/>
            <a:ext cx="5734050" cy="347662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en http://localhost:8098 con la pantalla de inicio de sesión]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77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26" name="Google Shape;626;p77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27" name="Google Shape;627;p77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B210500F-93F4-54DB-FEAA-5E3F4DE6D39D}"/>
              </a:ext>
            </a:extLst>
          </p:cNvPr>
          <p:cNvSpPr/>
          <p:nvPr/>
        </p:nvSpPr>
        <p:spPr>
          <a:xfrm>
            <a:off x="989425" y="2522350"/>
            <a:ext cx="7615825" cy="3896475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con una conversión realizada en el cliente web]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78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34" name="Google Shape;634;p78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rgbClr val="FFFF00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35" name="Google Shape;635;p78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729A28-C20B-AE81-6CAA-F9A29D7AE740}"/>
              </a:ext>
            </a:extLst>
          </p:cNvPr>
          <p:cNvSpPr/>
          <p:nvPr/>
        </p:nvSpPr>
        <p:spPr>
          <a:xfrm>
            <a:off x="1223950" y="2763050"/>
            <a:ext cx="7317725" cy="37318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navegador con el catálogo de categorías y unidades]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50"/>
          <p:cNvSpPr txBox="1">
            <a:spLocks noGrp="1"/>
          </p:cNvSpPr>
          <p:nvPr>
            <p:ph type="title"/>
          </p:nvPr>
        </p:nvSpPr>
        <p:spPr>
          <a:xfrm>
            <a:off x="514217" y="68780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404" name="Google Shape;404;p50"/>
          <p:cNvSpPr/>
          <p:nvPr/>
        </p:nvSpPr>
        <p:spPr>
          <a:xfrm>
            <a:off x="9316722" y="-3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405" name="Google Shape;405;p50"/>
          <p:cNvSpPr txBox="1">
            <a:spLocks noGrp="1"/>
          </p:cNvSpPr>
          <p:nvPr>
            <p:ph type="body" idx="1"/>
          </p:nvPr>
        </p:nvSpPr>
        <p:spPr>
          <a:xfrm>
            <a:off x="514225" y="188862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 fontScale="92500"/>
          </a:bodyPr>
          <a:lstStyle/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móvil se agrega un proyecto Aplicación .NET MAUI Blazor Hybrid con el nombre SistemaConversorREST.UI.Mobile en 04. CLIMOV, con .NET 10.0 y destino net10.0-android.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  <a:p>
            <a:pPr marL="457200" marR="0" lvl="0" indent="-327914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64"/>
              <a:buFont typeface="Cambria"/>
              <a:buChar char="◼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Igual que en escritorio, se agrega la referencia a SistemaConversorREST.UI.Shared y MainPage.xaml carga la vista Login como componente raíz.</a:t>
            </a:r>
            <a:endParaRPr sz="1564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947867E5-A6E3-DD0A-7223-F2F8F162B75E}"/>
              </a:ext>
            </a:extLst>
          </p:cNvPr>
          <p:cNvSpPr/>
          <p:nvPr/>
        </p:nvSpPr>
        <p:spPr>
          <a:xfrm>
            <a:off x="256575" y="3246650"/>
            <a:ext cx="3705225" cy="35814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ventana Configure su nuevo proyecto con SistemaConversorREST.UI.Mobile]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F9A7D4F8-B9E1-6CF9-7058-BA0B8A3C5D24}"/>
              </a:ext>
            </a:extLst>
          </p:cNvPr>
          <p:cNvSpPr/>
          <p:nvPr/>
        </p:nvSpPr>
        <p:spPr>
          <a:xfrm>
            <a:off x="4326425" y="3793250"/>
            <a:ext cx="4625675" cy="184555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Administrador de referencias del proyecto móvil con SistemaConversorREST.UI.Shared]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41" name="Google Shape;641;p79"/>
          <p:cNvGraphicFramePr/>
          <p:nvPr>
            <p:extLst>
              <p:ext uri="{D42A27DB-BD31-4B8C-83A1-F6EECF244321}">
                <p14:modId xmlns:p14="http://schemas.microsoft.com/office/powerpoint/2010/main" val="2291739272"/>
              </p:ext>
            </p:extLst>
          </p:nvPr>
        </p:nvGraphicFramePr>
        <p:xfrm>
          <a:off x="2332838" y="2865288"/>
          <a:ext cx="6484300" cy="3243263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6484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builder = MauiApp.CreateBuilder();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// En el emulador Android, 10.0.2.2 apunta al localhost de la computadora anfitriona.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const string apiBaseAddress = "http://10.0.2.2:8096/";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var opciones = new OpcionesCliente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UrlServidor = apiBaseAddress,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NombreCliente = "Cliente móvil"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builder.Services.AddSingleton(opciones);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builder.Services.AddSingleton(new HttpClient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BaseAddress = new Uri(opciones.UrlServidor),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Timeout = TimeSpan.FromSeconds(20)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});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builder.Services.AddSingleton&lt;IAutenticacionRest, AdaptadorAutenticacionRest&gt;();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builder.Services.AddSingleton&lt;IConversionRest, AdaptadorConversionRest&gt;();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builder.UseMauiApp&lt;App&gt;();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builder.Services.AddMauiBlazorWebView();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s-ES" sz="90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return builder.Build();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42" name="Google Shape;642;p79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43" name="Google Shape;643;p79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44" name="Google Shape;644;p79"/>
          <p:cNvSpPr txBox="1"/>
          <p:nvPr/>
        </p:nvSpPr>
        <p:spPr>
          <a:xfrm>
            <a:off x="406975" y="1921878"/>
            <a:ext cx="8576700" cy="73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1.6</a:t>
            </a:r>
            <a: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 	CREACIÓN DEL PROYECTO – CLIENTE MÓVIL</a:t>
            </a:r>
            <a:br>
              <a:rPr lang="es-ES" sz="1800" b="1" i="0" u="none" strike="noStrike" cap="none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</a:br>
            <a:endParaRPr sz="1800" b="0" i="0" u="none" strike="noStrike" cap="none">
              <a:solidFill>
                <a:srgbClr val="3D3D3D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645" name="Google Shape;645;p79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643700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2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646" name="Google Shape;646;p79"/>
          <p:cNvSpPr txBox="1">
            <a:spLocks noGrp="1"/>
          </p:cNvSpPr>
          <p:nvPr>
            <p:ph type="body" idx="1"/>
          </p:nvPr>
        </p:nvSpPr>
        <p:spPr>
          <a:xfrm>
            <a:off x="581200" y="1902979"/>
            <a:ext cx="8589300" cy="11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33753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Char char="●"/>
            </a:pPr>
            <a:r>
              <a:rPr lang="es-MX" sz="1564">
                <a:latin typeface="Cambria"/>
                <a:ea typeface="Cambria"/>
                <a:cs typeface="Cambria"/>
                <a:sym typeface="Cambria"/>
              </a:rPr>
              <a:t>Para el cliente móvil, MauiProgram registra los mismos adaptadores; en el emulador de Android, http://10.0.2.2:8096/ apunta al localhost del PC.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51" name="Google Shape;651;p80"/>
          <p:cNvGraphicFramePr/>
          <p:nvPr>
            <p:extLst>
              <p:ext uri="{D42A27DB-BD31-4B8C-83A1-F6EECF244321}">
                <p14:modId xmlns:p14="http://schemas.microsoft.com/office/powerpoint/2010/main" val="312311477"/>
              </p:ext>
            </p:extLst>
          </p:nvPr>
        </p:nvGraphicFramePr>
        <p:xfrm>
          <a:off x="2845682" y="3263594"/>
          <a:ext cx="5801512" cy="1722946"/>
        </p:xfrm>
        <a:graphic>
          <a:graphicData uri="http://schemas.openxmlformats.org/drawingml/2006/table">
            <a:tbl>
              <a:tblPr>
                <a:noFill/>
                <a:tableStyleId>{BF136021-7255-42B7-A7E7-87A8D8FFE9CA}</a:tableStyleId>
              </a:tblPr>
              <a:tblGrid>
                <a:gridCol w="58015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&lt;!-- El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servidor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REST se publica por HTTP: se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permite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solo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hacia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estas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direcciones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locales --&gt;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&lt;network-security-config&gt;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&lt;domain-config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cleartextTrafficPermitted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="true"&gt;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&lt;!-- localhost del PC visto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desde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el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emulador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de Android Studio --&gt;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&lt;domain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includeSubdomains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="false"&gt;10.0.2.2&lt;/domain&gt;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   &lt;domain </a:t>
                      </a:r>
                      <a:r>
                        <a:rPr lang="en-US" sz="1100" dirty="0" err="1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includeSubdomains</a:t>
                      </a: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="false"&gt;localhost&lt;/domain&gt;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  &lt;/domain-config&gt;</a:t>
                      </a:r>
                    </a:p>
                    <a:p>
                      <a:pPr marL="0" lvl="0" indent="0" algn="l" rtl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solidFill>
                            <a:srgbClr val="4F81B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&lt;/network-security-config&gt;</a:t>
                      </a:r>
                    </a:p>
                  </a:txBody>
                  <a:tcPr marL="63500" marR="63500" marT="63500" marB="635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52" name="Google Shape;652;p80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53" name="Google Shape;653;p80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/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/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/>
          </a:p>
        </p:txBody>
      </p:sp>
      <p:sp>
        <p:nvSpPr>
          <p:cNvPr id="654" name="Google Shape;654;p80"/>
          <p:cNvSpPr txBox="1">
            <a:spLocks noGrp="1"/>
          </p:cNvSpPr>
          <p:nvPr>
            <p:ph type="body" idx="1"/>
          </p:nvPr>
        </p:nvSpPr>
        <p:spPr>
          <a:xfrm>
            <a:off x="122575" y="2429475"/>
            <a:ext cx="1986604" cy="387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lvl="0" indent="-327406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556"/>
              <a:buChar char="∙"/>
            </a:pPr>
            <a:r>
              <a:rPr lang="es-ES" sz="168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continuación se detallarán las clases principales con su código fuente.</a:t>
            </a:r>
            <a:endParaRPr sz="168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048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200"/>
              <a:buFont typeface="Cambria"/>
              <a:buChar char="∙"/>
            </a:pPr>
            <a:endParaRPr sz="1680">
              <a:latin typeface="Cambria"/>
              <a:ea typeface="Cambria"/>
              <a:cs typeface="Cambria"/>
              <a:sym typeface="Cambria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82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68" name="Google Shape;668;p82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69" name="Google Shape;669;p82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login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A18C098-E8D1-BAE8-AFE5-3AE0C39CCCC9}"/>
              </a:ext>
            </a:extLst>
          </p:cNvPr>
          <p:cNvSpPr/>
          <p:nvPr/>
        </p:nvSpPr>
        <p:spPr>
          <a:xfrm>
            <a:off x="3843225" y="1715850"/>
            <a:ext cx="2484925" cy="49024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emulador de Android con la pantalla de inicio de sesión]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83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76" name="Google Shape;676;p83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77" name="Google Shape;677;p83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conversor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EEC4929F-3698-3620-2B1F-465A72E0A076}"/>
              </a:ext>
            </a:extLst>
          </p:cNvPr>
          <p:cNvSpPr/>
          <p:nvPr/>
        </p:nvSpPr>
        <p:spPr>
          <a:xfrm>
            <a:off x="5149825" y="1868350"/>
            <a:ext cx="2413600" cy="4716674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emulador de Android con una conversión realizada]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p84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DESARROLLO</a:t>
            </a:r>
            <a:endParaRPr/>
          </a:p>
        </p:txBody>
      </p:sp>
      <p:sp>
        <p:nvSpPr>
          <p:cNvPr id="684" name="Google Shape;684;p84"/>
          <p:cNvSpPr/>
          <p:nvPr/>
        </p:nvSpPr>
        <p:spPr>
          <a:xfrm>
            <a:off x="9383697" y="14347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>
              <a:solidFill>
                <a:schemeClr val="lt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200" b="1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>
              <a:solidFill>
                <a:schemeClr val="dk1"/>
              </a:solidFill>
            </a:endParaRPr>
          </a:p>
          <a:p>
            <a:pPr marL="763200" lvl="1" indent="-306000" algn="l" rtl="0"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>
              <a:solidFill>
                <a:srgbClr val="FFFF00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>
              <a:solidFill>
                <a:schemeClr val="dk1"/>
              </a:solidFill>
            </a:endParaRPr>
          </a:p>
          <a:p>
            <a:pPr marL="306000" lvl="0" indent="-306000" algn="l" rtl="0">
              <a:spcBef>
                <a:spcPts val="840"/>
              </a:spcBef>
              <a:spcAft>
                <a:spcPts val="0"/>
              </a:spcAft>
              <a:buClr>
                <a:schemeClr val="accent2"/>
              </a:buClr>
              <a:buSzPts val="1104"/>
              <a:buFont typeface="Segoe UI Symbol"/>
              <a:buChar char="◼"/>
            </a:pPr>
            <a:r>
              <a:rPr lang="es-ES" sz="1200" b="1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84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>
              <a:solidFill>
                <a:schemeClr val="dk1"/>
              </a:solidFill>
            </a:endParaRPr>
          </a:p>
        </p:txBody>
      </p:sp>
      <p:sp>
        <p:nvSpPr>
          <p:cNvPr id="685" name="Google Shape;685;p84"/>
          <p:cNvSpPr txBox="1"/>
          <p:nvPr/>
        </p:nvSpPr>
        <p:spPr>
          <a:xfrm>
            <a:off x="636600" y="1868349"/>
            <a:ext cx="8576700" cy="7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0" indent="-35560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Clr>
                <a:srgbClr val="3D3D3D"/>
              </a:buClr>
              <a:buSzPts val="2000"/>
              <a:buFont typeface="Cambria"/>
              <a:buChar char="∙"/>
            </a:pPr>
            <a:r>
              <a:rPr lang="es-ES" sz="1800" b="1">
                <a:solidFill>
                  <a:srgbClr val="3D3D3D"/>
                </a:solidFill>
                <a:latin typeface="Cambria"/>
                <a:ea typeface="Cambria"/>
                <a:cs typeface="Cambria"/>
                <a:sym typeface="Cambria"/>
              </a:rPr>
              <a:t>Vista catálogo</a:t>
            </a:r>
            <a:endParaRPr sz="2000" b="0" i="0" u="none" strike="noStrike" cap="none">
              <a:solidFill>
                <a:srgbClr val="3D3D3D"/>
              </a:solidFill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5EC146A-4945-63CC-B76C-CA8996F01958}"/>
              </a:ext>
            </a:extLst>
          </p:cNvPr>
          <p:cNvSpPr/>
          <p:nvPr/>
        </p:nvSpPr>
        <p:spPr>
          <a:xfrm>
            <a:off x="5042825" y="1868350"/>
            <a:ext cx="2520625" cy="5156500"/>
          </a:xfrm>
          <a:prstGeom prst="rect">
            <a:avLst/>
          </a:prstGeom>
          <a:solidFill>
            <a:srgbClr val="F2F2F2"/>
          </a:solidFill>
          <a:ln w="12700">
            <a:solidFill>
              <a:srgbClr val="969FA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s-MX" i="1">
                <a:solidFill>
                  <a:srgbClr val="3D3D3D"/>
                </a:solidFill>
                <a:latin typeface="Cambria" panose="02040503050406030204" pitchFamily="18" charset="0"/>
              </a:rPr>
              <a:t>[Insertar captura: emulador de Android con el catálogo de unidades]</a:t>
            </a:r>
            <a:endParaRPr lang="es-EC" i="1">
              <a:solidFill>
                <a:srgbClr val="3D3D3D"/>
              </a:solidFill>
              <a:latin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p85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CONCLUSIONES</a:t>
            </a:r>
            <a:endParaRPr/>
          </a:p>
        </p:txBody>
      </p:sp>
      <p:sp>
        <p:nvSpPr>
          <p:cNvPr id="692" name="Google Shape;692;p85"/>
          <p:cNvSpPr txBox="1">
            <a:spLocks noGrp="1"/>
          </p:cNvSpPr>
          <p:nvPr>
            <p:ph type="body" idx="1"/>
          </p:nvPr>
        </p:nvSpPr>
        <p:spPr>
          <a:xfrm>
            <a:off x="581192" y="2180496"/>
            <a:ext cx="8589300" cy="36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SzPts val="1656"/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Se implementó un servicio web RESTful con ASP.NET Core Web API (.NET 8), sin base de datos y publicado en IIS, que centraliza la autenticación, la consulta de seis categorías y la conversión de longitud, masa y temperatura, cumpliendo los requisitos RQF-001 a RQF-010 de la ERS. Un filtro de autorización valida el token Bearer y los errores llegan como JSON con su código y estado HTTP. Se reutilizó el núcleo de dominio y el patrón Strategy de la versión SOAP cambiando solo la capa de exposición; la consola consume la API con HttpClient, mientras que escritorio, móvil y web reutilizan la biblioteca compartida de componentes Razor.</a:t>
            </a:r>
            <a:endParaRPr sz="1900"/>
          </a:p>
        </p:txBody>
      </p:sp>
      <p:sp>
        <p:nvSpPr>
          <p:cNvPr id="693" name="Google Shape;693;p85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Google Shape;698;p86"/>
          <p:cNvSpPr txBox="1">
            <a:spLocks noGrp="1"/>
          </p:cNvSpPr>
          <p:nvPr>
            <p:ph type="title"/>
          </p:nvPr>
        </p:nvSpPr>
        <p:spPr>
          <a:xfrm>
            <a:off x="581192" y="702156"/>
            <a:ext cx="11029500" cy="101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Gill Sans"/>
              <a:buNone/>
            </a:pPr>
            <a:r>
              <a:rPr lang="es-ES"/>
              <a:t>RECOMENDACIONES</a:t>
            </a:r>
            <a:endParaRPr/>
          </a:p>
        </p:txBody>
      </p:sp>
      <p:sp>
        <p:nvSpPr>
          <p:cNvPr id="699" name="Google Shape;699;p86"/>
          <p:cNvSpPr txBox="1">
            <a:spLocks noGrp="1"/>
          </p:cNvSpPr>
          <p:nvPr>
            <p:ph type="body" idx="1"/>
          </p:nvPr>
        </p:nvSpPr>
        <p:spPr>
          <a:xfrm>
            <a:off x="581200" y="2025325"/>
            <a:ext cx="8500800" cy="42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Publicar la API con HTTPS (certificado en el enlace de IIS) antes de usarla fuera del entorno local, ya que las credenciales y el token Bearer viajan en texto plano por HTTP.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Mantener sincronizadas las rutas y los DTO de los cuatro clientes con la API: cualquier cambio en rutas, propiedades JSON o códigos de error exige actualizar la consola y los adaptadores del proyecto compartido.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00">
                <a:latin typeface="Cambria"/>
                <a:ea typeface="Cambria"/>
                <a:cs typeface="Cambria"/>
                <a:sym typeface="Cambria"/>
              </a:rPr>
              <a:t> 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  <a:p>
            <a:pPr marL="0" lvl="0" indent="0" algn="just" rtl="0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MX" sz="1900">
                <a:latin typeface="Cambria"/>
                <a:ea typeface="Cambria"/>
                <a:cs typeface="Cambria"/>
                <a:sym typeface="Cambria"/>
              </a:rPr>
              <a:t>Actualizar los orígenes CORS en appsettings.json si se agregan clientes de navegador, e implementar en una segunda fase volumen, tiempo y área junto con la persistencia de credenciales y sesiones.</a:t>
            </a:r>
            <a:endParaRPr sz="1900"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700" name="Google Shape;700;p86"/>
          <p:cNvSpPr/>
          <p:nvPr/>
        </p:nvSpPr>
        <p:spPr>
          <a:xfrm>
            <a:off x="9383697" y="0"/>
            <a:ext cx="2808300" cy="6858000"/>
          </a:xfrm>
          <a:prstGeom prst="rect">
            <a:avLst/>
          </a:prstGeom>
          <a:solidFill>
            <a:schemeClr val="accent1"/>
          </a:solidFill>
          <a:ln w="22225" cap="rnd" cmpd="sng">
            <a:solidFill>
              <a:srgbClr val="12244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DESARROLLO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OBJETIVO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chemeClr val="lt1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SERVIDOR REST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CONSOLA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ESCRITORIO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WEB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763200" marR="0" lvl="1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CREACIÓN DEL PROYECTO – CLIENTE MÓVIL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4590B8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CONCLUSIONES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06000" marR="0" lvl="0" indent="-30600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FFFF00"/>
              </a:buClr>
              <a:buSzPts val="1104"/>
              <a:buFont typeface="Segoe UI Symbol"/>
              <a:buChar char="◼"/>
            </a:pPr>
            <a:r>
              <a:rPr lang="es-ES" sz="1200" b="1" i="0" u="none" strike="noStrike" cap="none">
                <a:solidFill>
                  <a:srgbClr val="FFFF00"/>
                </a:solidFill>
                <a:latin typeface="Gill Sans"/>
                <a:ea typeface="Gill Sans"/>
                <a:cs typeface="Gill Sans"/>
                <a:sym typeface="Gill Sans"/>
              </a:rPr>
              <a:t>RECOMENDACIONES</a:t>
            </a:r>
            <a:endParaRPr sz="1400" b="0" i="0" u="none" strike="noStrike" cap="none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84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ividendo">
  <a:themeElements>
    <a:clrScheme name="Dividend">
      <a:dk1>
        <a:srgbClr val="000000"/>
      </a:dk1>
      <a:lt1>
        <a:srgbClr val="FFFFFF"/>
      </a:lt1>
      <a:dk2>
        <a:srgbClr val="3D3D3D"/>
      </a:dk2>
      <a:lt2>
        <a:srgbClr val="EBEBEB"/>
      </a:lt2>
      <a:accent1>
        <a:srgbClr val="1A3260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C58AC93-68F8-4BC8-B59F-3438AB625EAB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6302d9f1-0fba-4ab3-b6c7-e4e1a69fbc0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6206</Words>
  <Application>Microsoft Office PowerPoint</Application>
  <PresentationFormat>Panorámica</PresentationFormat>
  <Paragraphs>1014</Paragraphs>
  <Slides>50</Slides>
  <Notes>49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50</vt:i4>
      </vt:variant>
    </vt:vector>
  </HeadingPairs>
  <TitlesOfParts>
    <vt:vector size="57" baseType="lpstr">
      <vt:lpstr>Segoe UI Symbol</vt:lpstr>
      <vt:lpstr>Calibri</vt:lpstr>
      <vt:lpstr>Gill Sans</vt:lpstr>
      <vt:lpstr>Courier New</vt:lpstr>
      <vt:lpstr>Cambria</vt:lpstr>
      <vt:lpstr>Arial</vt:lpstr>
      <vt:lpstr>Dividendo</vt:lpstr>
      <vt:lpstr>MANUAL CONVERSIÓN UNIDADES RESTFUL DOTNET</vt:lpstr>
      <vt:lpstr>Presentación de PowerPoint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DESARROLLO</vt:lpstr>
      <vt:lpstr>CONCLUSIONES</vt:lpstr>
      <vt:lpstr>RECOMENDACIONES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MANUAL CONVERSIÓN UNIDADES RESTFUL DOTNET</dc:title>
  <cp:lastModifiedBy>Mateo Criollo</cp:lastModifiedBy>
  <cp:revision>7</cp:revision>
  <dcterms:modified xsi:type="dcterms:W3CDTF">2026-10-27T15:27:59Z</dcterms:modified>
</cp:coreProperties>
</file>