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4" r:id="rId18"/>
    <p:sldId id="275" r:id="rId19"/>
    <p:sldId id="277" r:id="rId20"/>
    <p:sldId id="279" r:id="rId21"/>
    <p:sldId id="280" r:id="rId22"/>
    <p:sldId id="281" r:id="rId23"/>
    <p:sldId id="282" r:id="rId24"/>
    <p:sldId id="283" r:id="rId25"/>
    <p:sldId id="285" r:id="rId26"/>
    <p:sldId id="289" r:id="rId27"/>
    <p:sldId id="330" r:id="rId28"/>
    <p:sldId id="331" r:id="rId29"/>
    <p:sldId id="310" r:id="rId30"/>
    <p:sldId id="311" r:id="rId31"/>
    <p:sldId id="313" r:id="rId32"/>
    <p:sldId id="314" r:id="rId33"/>
    <p:sldId id="315" r:id="rId34"/>
    <p:sldId id="332" r:id="rId35"/>
    <p:sldId id="333" r:id="rId36"/>
    <p:sldId id="317" r:id="rId37"/>
    <p:sldId id="318" r:id="rId38"/>
    <p:sldId id="319" r:id="rId39"/>
    <p:sldId id="320" r:id="rId40"/>
    <p:sldId id="321" r:id="rId41"/>
    <p:sldId id="334" r:id="rId42"/>
    <p:sldId id="335" r:id="rId43"/>
    <p:sldId id="323" r:id="rId44"/>
    <p:sldId id="324" r:id="rId45"/>
    <p:sldId id="325" r:id="rId46"/>
    <p:sldId id="326" r:id="rId47"/>
    <p:sldId id="327" r:id="rId48"/>
    <p:sldId id="328" r:id="rId49"/>
    <p:sldId id="329" r:id="rId50"/>
  </p:sldIdLst>
  <p:sldSz cx="12192000" cy="6858000"/>
  <p:notesSz cx="6858000" cy="9144000"/>
  <p:embeddedFontLst>
    <p:embeddedFont>
      <p:font typeface="Cambria" panose="02040503050406030204" pitchFamily="18" charset="0"/>
      <p:regular r:id="rId52"/>
      <p:bold r:id="rId53"/>
      <p:italic r:id="rId54"/>
      <p:boldItalic r:id="rId55"/>
    </p:embeddedFont>
    <p:embeddedFont>
      <p:font typeface="Gill Sans" panose="020B0604020202020204" charset="0"/>
      <p:regular r:id="rId56"/>
      <p:bold r:id="rId5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F136021-7255-42B7-A7E7-87A8D8FFE9CA}">
  <a:tblStyle styleId="{BF136021-7255-42B7-A7E7-87A8D8FFE9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8526227be_0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3a8526227be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8526227be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g3a8526227be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8526227be_0_4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g3a8526227be_0_4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8526227be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g3a8526227be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8526227be_0_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1" name="Google Shape;151;g3a8526227be_0_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8526227be_0_4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0" name="Google Shape;160;g3a8526227be_0_4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8526227be_0_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8" name="Google Shape;168;g3a8526227be_0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8526227be_0_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7" name="Google Shape;177;g3a8526227be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8526227be_0_4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5" name="Google Shape;185;g3a8526227be_0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8526227be_0_4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4" name="Google Shape;194;g3a8526227be_0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8526227be_0_5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0" name="Google Shape;210;g3a8526227be_0_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526227be_0_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8" name="Google Shape;218;g3a8526227be_0_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8526227be_0_5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a8526227be_0_5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8526227be_0_5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3" name="Google Shape;243;g3a8526227be_0_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8526227be_0_5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1" name="Google Shape;251;g3a8526227be_0_5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8526227be_0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7" name="Google Shape;267;g3a8526227be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8526227be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3" name="Google Shape;283;g3a8526227be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a8526227be_0_5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1" name="Google Shape;291;g3a8526227be_0_5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8526227be_0_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9" name="Google Shape;299;g3a8526227be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854632a9a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g3a854632a9a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854632a9a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6" name="Google Shape;316;g3a854632a9a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a854632a9a_2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2" name="Google Shape;332;g3a854632a9a_2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a854632a9a_2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7" name="Google Shape;367;g3a854632a9a_2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8526227be_0_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9" name="Google Shape;299;g3a8526227be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854632a9a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g3a854632a9a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a854632a9a_2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2" name="Google Shape;542;g3a854632a9a_2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a854632a9a_2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50" name="Google Shape;550;g3a854632a9a_2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a854632a9a_2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6" name="Google Shape;566;g3a854632a9a_2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a854632a9a_2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4" name="Google Shape;574;g3a854632a9a_2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a854632a9a_2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2" name="Google Shape;582;g3a854632a9a_2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8526227be_0_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9" name="Google Shape;299;g3a8526227be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854632a9a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g3a854632a9a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a854632a9a_2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9" name="Google Shape;599;g3a854632a9a_2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a854632a9a_2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07" name="Google Shape;607;g3a854632a9a_2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a854632a9a_2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15" name="Google Shape;615;g3a854632a9a_2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a854632a9a_2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23" name="Google Shape;623;g3a854632a9a_2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a854632a9a_2_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31" name="Google Shape;631;g3a854632a9a_2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8526227be_0_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9" name="Google Shape;299;g3a8526227be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854632a9a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g3a854632a9a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a854632a9a_2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49" name="Google Shape;649;g3a854632a9a_2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a854632a9a_2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57" name="Google Shape;657;g3a854632a9a_2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a854632a9a_2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65" name="Google Shape;665;g3a854632a9a_2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a854632a9a_2_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73" name="Google Shape;673;g3a854632a9a_2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a854632a9a_2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1" name="Google Shape;681;g3a854632a9a_2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a8526227be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9" name="Google Shape;689;g3a8526227be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a8526227be_0_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6" name="Google Shape;696;g3a8526227be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2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ec.edu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s-ES">
                <a:solidFill>
                  <a:schemeClr val="lt1"/>
                </a:solidFill>
              </a:rPr>
              <a:t>MANUAL</a:t>
            </a:r>
            <a:br>
              <a:rPr lang="es-ES">
                <a:solidFill>
                  <a:schemeClr val="lt1"/>
                </a:solidFill>
              </a:rPr>
            </a:br>
            <a:r>
              <a:rPr lang="es-ES">
                <a:solidFill>
                  <a:schemeClr val="lt1"/>
                </a:solidFill>
              </a:rPr>
              <a:t>CONVERSIÓN UNIDADES RESTFUL JAVA</a:t>
            </a:r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"/>
          </p:nvPr>
        </p:nvSpPr>
        <p:spPr>
          <a:xfrm>
            <a:off x="599226" y="45720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endParaRPr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lang="es-ES" b="1">
                <a:solidFill>
                  <a:schemeClr val="lt1"/>
                </a:solidFill>
              </a:rPr>
              <a:t>INTEGRANTES:</a:t>
            </a:r>
            <a:r>
              <a:rPr lang="es-ES">
                <a:solidFill>
                  <a:schemeClr val="lt1"/>
                </a:solidFill>
              </a:rPr>
              <a:t> 	</a:t>
            </a:r>
            <a:r>
              <a:rPr lang="es-MX">
                <a:solidFill>
                  <a:schemeClr val="lt1"/>
                </a:solidFill>
              </a:rPr>
              <a:t>CRIOLLO MATEO</a:t>
            </a:r>
            <a:br>
              <a:rPr lang="es-MX">
                <a:solidFill>
                  <a:schemeClr val="lt1"/>
                </a:solidFill>
              </a:rPr>
            </a:br>
            <a:r>
              <a:rPr lang="es-MX">
                <a:solidFill>
                  <a:schemeClr val="lt1"/>
                </a:solidFill>
              </a:rPr>
              <a:t>		HERNÁNDEZ CARLOS</a:t>
            </a:r>
            <a:br>
              <a:rPr lang="es-MX">
                <a:solidFill>
                  <a:schemeClr val="lt1"/>
                </a:solidFill>
              </a:rPr>
            </a:br>
            <a:r>
              <a:rPr lang="es-MX">
                <a:solidFill>
                  <a:schemeClr val="lt1"/>
                </a:solidFill>
              </a:rPr>
              <a:t>		REVILLA ANTONIO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8" name="Google Shape;98;p13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9037063" y="4958901"/>
            <a:ext cx="4261531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GRUPO:  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FECHA:  </a:t>
            </a:r>
            <a:r>
              <a:rPr lang="es-ES" sz="16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24/10/2026</a:t>
            </a:r>
            <a:endParaRPr sz="16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ING: </a:t>
            </a:r>
            <a:r>
              <a:rPr lang="es-ES" sz="1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CAMPAÑA MAURICIO</a:t>
            </a:r>
            <a:endParaRPr sz="1600" b="1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DESARROLLO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OBJETIVO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CREACIÓN DEL SERVIDOR RESTFUL EN JAVA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CONSOLA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ESCRITORIO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WEB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MÓVIL</a:t>
            </a:r>
            <a:endParaRPr/>
          </a:p>
          <a:p>
            <a:pPr marL="306000" marR="0" lvl="0" indent="-306000" algn="l" rtl="0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RECOMENDACIONES</a:t>
            </a:r>
            <a:endParaRPr/>
          </a:p>
        </p:txBody>
      </p:sp>
      <p:pic>
        <p:nvPicPr>
          <p:cNvPr id="108" name="Google Shape;108;p14" descr="Resultado de imagen para AGENDA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s-ES" sz="1800" b="1">
                <a:latin typeface="Cambria"/>
                <a:ea typeface="Cambria"/>
                <a:cs typeface="Cambria"/>
                <a:sym typeface="Cambria"/>
              </a:rPr>
              <a:t>.1	OBJETIVO</a:t>
            </a:r>
            <a:endParaRPr b="1"/>
          </a:p>
          <a:p>
            <a:pPr marL="342900" marR="0" lvl="0" indent="-237744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Desarrollar e implementar un Web Service RESTful mediante JAVA</a:t>
            </a:r>
            <a:r>
              <a:rPr lang="es-MX">
                <a:latin typeface="Cambria"/>
                <a:ea typeface="Cambria"/>
                <a:cs typeface="Cambria"/>
                <a:sym typeface="Cambria"/>
              </a:rPr>
              <a:t>, sin base de datos, para realizar conversiones de unidades de longitud, masa y temperatura desde clientes de consola, escritorio, web y móvil.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1.2.1 	Servidor Payara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En primer lugar, en NetBeans 31, en la sección de Servicios se crea un servidor, específicamente Payara.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D481833-3A53-F0BA-B04D-B7A2E2DEE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382" y="3677920"/>
            <a:ext cx="4128135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body" idx="1"/>
          </p:nvPr>
        </p:nvSpPr>
        <p:spPr>
          <a:xfrm>
            <a:off x="581200" y="1781575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Se selecciona la versión 7.2026.9, se aceptan los términos de condiciones y se selecciona un directorio donde instalar el servidor.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C313011-8D40-BAEA-7411-D75B574453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6794"/>
          <a:stretch/>
        </p:blipFill>
        <p:spPr bwMode="auto">
          <a:xfrm>
            <a:off x="581192" y="3814303"/>
            <a:ext cx="8541721" cy="148515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38" name="Google Shape;138;p18"/>
          <p:cNvSpPr txBox="1">
            <a:spLocks noGrp="1"/>
          </p:cNvSpPr>
          <p:nvPr>
            <p:ph type="body" idx="1"/>
          </p:nvPr>
        </p:nvSpPr>
        <p:spPr>
          <a:xfrm>
            <a:off x="581192" y="2180497"/>
            <a:ext cx="8589300" cy="12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sz="1300">
                <a:latin typeface="Cambria"/>
                <a:ea typeface="Cambria"/>
                <a:cs typeface="Cambria"/>
                <a:sym typeface="Cambria"/>
              </a:rPr>
              <a:t>Para terminar la configuración del servidor de payara se configura un nombre de dominio, un host (en nuestro caso, loopback) y </a:t>
            </a:r>
            <a:r>
              <a:rPr lang="es-MX" sz="1300">
                <a:latin typeface="Cambria"/>
                <a:ea typeface="Cambria"/>
                <a:cs typeface="Cambria"/>
                <a:sym typeface="Cambria"/>
              </a:rPr>
              <a:t>se cambian los puertos si se desea; el proyecto usa el puerto HTTP 8080.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706112A-D359-0A3E-D3A7-92DDAACD6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8364" y="3256935"/>
            <a:ext cx="4321868" cy="32380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46" name="Google Shape;146;p19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1.2.2 	Creación del Proyecto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Una vez creado el servidor, </a:t>
            </a:r>
            <a:r>
              <a:rPr lang="es-MX">
                <a:latin typeface="Cambria"/>
                <a:ea typeface="Cambria"/>
                <a:cs typeface="Cambria"/>
                <a:sym typeface="Cambria"/>
              </a:rPr>
              <a:t>se crea un proyecto Java with Maven de tipo Web Application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 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image20.png">
            <a:extLst>
              <a:ext uri="{FF2B5EF4-FFF2-40B4-BE49-F238E27FC236}">
                <a16:creationId xmlns:a16="http://schemas.microsoft.com/office/drawing/2014/main" id="{F461F8F0-46BC-E68E-EAD8-52F28A502281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538415" y="3429000"/>
            <a:ext cx="4674870" cy="3199765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body" idx="1"/>
          </p:nvPr>
        </p:nvSpPr>
        <p:spPr>
          <a:xfrm>
            <a:off x="581192" y="1948172"/>
            <a:ext cx="8589300" cy="12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sz="1300">
                <a:latin typeface="Cambria"/>
                <a:ea typeface="Cambria"/>
                <a:cs typeface="Cambria"/>
                <a:sym typeface="Cambria"/>
              </a:rPr>
              <a:t>Se aplica el nombre del proyecto como ‘</a:t>
            </a:r>
            <a:r>
              <a:rPr lang="fi-FI" sz="1300">
                <a:latin typeface="Cambria"/>
                <a:ea typeface="Cambria"/>
                <a:cs typeface="Cambria"/>
                <a:sym typeface="Cambria"/>
              </a:rPr>
              <a:t>WS_CON_UNI_JAVA_REST</a:t>
            </a:r>
            <a:r>
              <a:rPr lang="es-ES" sz="1300">
                <a:latin typeface="Cambria"/>
                <a:ea typeface="Cambria"/>
                <a:cs typeface="Cambria"/>
                <a:sym typeface="Cambria"/>
              </a:rPr>
              <a:t>’, y se configura el grupo como ‘</a:t>
            </a:r>
            <a:r>
              <a:rPr lang="es-ES" sz="13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ec.edu</a:t>
            </a:r>
            <a:r>
              <a:rPr lang="es-ES" sz="1300">
                <a:latin typeface="Cambria"/>
                <a:ea typeface="Cambria"/>
                <a:cs typeface="Cambria"/>
                <a:sym typeface="Cambria"/>
              </a:rPr>
              <a:t>.monster’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1115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mbria"/>
              <a:buChar char="∙"/>
            </a:pPr>
            <a:r>
              <a:rPr lang="es-ES" sz="1300">
                <a:latin typeface="Cambria"/>
                <a:ea typeface="Cambria"/>
                <a:cs typeface="Cambria"/>
                <a:sym typeface="Cambria"/>
              </a:rPr>
              <a:t>Se selecciona nuestro Servidor Payara creado y Jakarta EE 11 como conjunto de desarrollo de aplicaciones Java.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0060AFF-4455-A980-054A-8A1CD4CE7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16" y="3196772"/>
            <a:ext cx="4256767" cy="2151964"/>
          </a:xfrm>
          <a:prstGeom prst="rect">
            <a:avLst/>
          </a:prstGeom>
        </p:spPr>
      </p:pic>
      <p:pic>
        <p:nvPicPr>
          <p:cNvPr id="5" name="image1.png">
            <a:extLst>
              <a:ext uri="{FF2B5EF4-FFF2-40B4-BE49-F238E27FC236}">
                <a16:creationId xmlns:a16="http://schemas.microsoft.com/office/drawing/2014/main" id="{D81307FC-D8E4-D2FF-6D2A-2F6A392C7D43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5036683" y="3824748"/>
            <a:ext cx="4240412" cy="2763377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body" idx="1"/>
          </p:nvPr>
        </p:nvSpPr>
        <p:spPr>
          <a:xfrm>
            <a:off x="581200" y="2190332"/>
            <a:ext cx="4557900" cy="3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ESTRUCTURA MVC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MX" sz="1677">
                <a:latin typeface="Cambria"/>
                <a:ea typeface="Cambria"/>
                <a:cs typeface="Cambria"/>
                <a:sym typeface="Cambria"/>
              </a:rPr>
              <a:t>Aplicando el patrón MVC junto a otras capas, se crean los paquetes principales dentro de ec.edu.monster: controladores.recursos, modelo, vista, servicios, servicios.conversores y seguridad.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B1CC3FC-4E6C-1A0D-F9A9-21E488C3D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396" y="2793998"/>
            <a:ext cx="3781747" cy="27431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71" name="Google Shape;171;p22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1.2.3 	</a:t>
            </a:r>
            <a:r>
              <a:rPr lang="es-MX" sz="1929" b="1">
                <a:latin typeface="Cambria"/>
                <a:ea typeface="Cambria"/>
                <a:cs typeface="Cambria"/>
                <a:sym typeface="Cambria"/>
              </a:rPr>
              <a:t>Creación de los recursos REST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>
                <a:latin typeface="Cambria"/>
                <a:ea typeface="Cambria"/>
                <a:cs typeface="Cambria"/>
                <a:sym typeface="Cambria"/>
              </a:rPr>
              <a:t>En controladores.recursos se crea ConfiguracionJaxRs con @ApplicationPath("api"): los recursos quedan bajo /api.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∙"/>
            </a:pPr>
            <a:r>
              <a:rPr lang="es-MX">
                <a:latin typeface="Cambria"/>
                <a:ea typeface="Cambria"/>
                <a:cs typeface="Cambria"/>
                <a:sym typeface="Cambria"/>
              </a:rPr>
              <a:t>Se crean dos recursos: AutenticacionRecurso (público, login) y ConversionUnidadesRecurso (protegido con @Protegido, catálogo y conversiones).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A2E4A8F-A44E-E8FF-EB02-3C52851EB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673" y="3814000"/>
            <a:ext cx="4411831" cy="256694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54366F3-3769-DC51-9591-5DD3B95EE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02" y="4511306"/>
            <a:ext cx="3226659" cy="10439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80" name="Google Shape;180;p23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2402100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MX" sz="1677" b="1">
                <a:latin typeface="Cambria"/>
                <a:ea typeface="Cambria"/>
                <a:cs typeface="Cambria"/>
                <a:sym typeface="Cambria"/>
              </a:rPr>
              <a:t>Se codifican los recursos bajo</a:t>
            </a: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 los siguientes lineamientos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MX" sz="1677">
                <a:latin typeface="Cambria"/>
                <a:ea typeface="Cambria"/>
                <a:cs typeface="Cambria"/>
                <a:sym typeface="Cambria"/>
              </a:rPr>
              <a:t>1. El recurso de autenticación expone el login (POST), que devuelve el token de sesión.</a:t>
            </a:r>
            <a:br>
              <a:rPr lang="es-ES" sz="1677" b="1">
                <a:latin typeface="Cambria"/>
                <a:ea typeface="Cambria"/>
                <a:cs typeface="Cambria"/>
                <a:sym typeface="Cambria"/>
              </a:rPr>
            </a:b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182" name="Google Shape;182;p23"/>
          <p:cNvGraphicFramePr/>
          <p:nvPr>
            <p:extLst>
              <p:ext uri="{D42A27DB-BD31-4B8C-83A1-F6EECF244321}">
                <p14:modId xmlns:p14="http://schemas.microsoft.com/office/powerpoint/2010/main" val="2237936935"/>
              </p:ext>
            </p:extLst>
          </p:nvPr>
        </p:nvGraphicFramePr>
        <p:xfrm>
          <a:off x="3395925" y="2866125"/>
          <a:ext cx="5400050" cy="297688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@Path("autenticacion")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@Consumes(MediaType.APPLICATION_JSON)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@Produces(MediaType.APPLICATION_JSON)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AutenticacionRecurso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@Inject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ServicioAutenticacion servicioAutenticacion;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@Inject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RespuestaMapeador mapeador;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@POST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@Path("login")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RespuestaDto login(CredencialesDto credenciales) throws ExcepcionServicio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CredencialesDto c = credenciales != null ? credenciales : new CredencialesDto();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mapeador.deToken(servicioAutenticacion.login(c.usuario, c.clave));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88" name="Google Shape;188;p24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2402100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MX" sz="1677">
                <a:latin typeface="Cambria"/>
                <a:ea typeface="Cambria"/>
                <a:cs typeface="Cambria"/>
                <a:sym typeface="Cambria"/>
              </a:rPr>
              <a:t>2. Se configura la ruta del recurso de conversión y se protege con @Protegido.</a:t>
            </a:r>
            <a:endParaRPr sz="1677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MX" sz="1677">
                <a:latin typeface="Cambria"/>
                <a:ea typeface="Cambria"/>
                <a:cs typeface="Cambria"/>
                <a:sym typeface="Cambria"/>
              </a:rPr>
              <a:t>3. Se inyectan con @Inject los servicios y el mapeador de respuestas.</a:t>
            </a:r>
            <a:br>
              <a:rPr lang="es-ES" sz="1677" b="1">
                <a:latin typeface="Cambria"/>
                <a:ea typeface="Cambria"/>
                <a:cs typeface="Cambria"/>
                <a:sym typeface="Cambria"/>
              </a:rPr>
            </a:b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9" name="Google Shape;189;p24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190" name="Google Shape;190;p24"/>
          <p:cNvGraphicFramePr/>
          <p:nvPr>
            <p:extLst>
              <p:ext uri="{D42A27DB-BD31-4B8C-83A1-F6EECF244321}">
                <p14:modId xmlns:p14="http://schemas.microsoft.com/office/powerpoint/2010/main" val="1067631400"/>
              </p:ext>
            </p:extLst>
          </p:nvPr>
        </p:nvGraphicFramePr>
        <p:xfrm>
          <a:off x="3701450" y="2180500"/>
          <a:ext cx="5400050" cy="79756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@Path("/")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@Protegido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@Produces(MediaType.APPLICATION_JSON)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ConversionUnidadesRecurso {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1" name="Google Shape;191;p24"/>
          <p:cNvGraphicFramePr/>
          <p:nvPr>
            <p:extLst>
              <p:ext uri="{D42A27DB-BD31-4B8C-83A1-F6EECF244321}">
                <p14:modId xmlns:p14="http://schemas.microsoft.com/office/powerpoint/2010/main" val="1142506872"/>
              </p:ext>
            </p:extLst>
          </p:nvPr>
        </p:nvGraphicFramePr>
        <p:xfrm>
          <a:off x="3701450" y="3375275"/>
          <a:ext cx="5400050" cy="146812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@Inject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ServicioCatalogo servicioCatalogo;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@Inject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ServicioConversion servicioConversion;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@Inject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RespuestaMapeador mapeador;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2402100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MX" sz="1677">
                <a:latin typeface="Cambria"/>
                <a:ea typeface="Cambria"/>
                <a:cs typeface="Cambria"/>
                <a:sym typeface="Cambria"/>
              </a:rPr>
              <a:t>4. Se crean las rutas de catálogo (GET) y conversión (POST); el token viaja en la cabecera Authorization: Bearer.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8" name="Google Shape;198;p2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199" name="Google Shape;199;p25"/>
          <p:cNvGraphicFramePr/>
          <p:nvPr>
            <p:extLst>
              <p:ext uri="{D42A27DB-BD31-4B8C-83A1-F6EECF244321}">
                <p14:modId xmlns:p14="http://schemas.microsoft.com/office/powerpoint/2010/main" val="2124581159"/>
              </p:ext>
            </p:extLst>
          </p:nvPr>
        </p:nvGraphicFramePr>
        <p:xfrm>
          <a:off x="3917100" y="1928900"/>
          <a:ext cx="4894525" cy="31750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489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7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@GET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@Path("catalogo/categorias")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RespuestaDto consultarCatalogo()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mapeador.deCatalogo(servicioCatalogo.categorias());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@GET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@Path("catalogo/categorias/{categoria}/unidades")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RespuestaDto consultarUnidades(@PathParam("categoria") String categoria) throws ExcepcionServicio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mapeador.deUnidades(servicioCatalogo.unidades(categoria));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@POST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@Path("conversiones/longitud")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@Consumes(MediaType.APPLICATION_JSON)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RespuestaDto convertirLongitud(SolicitudConversionDto solicitud) throws ExcepcionServicio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convertir(Categoria.LONGITUD, solicitud);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13" name="Google Shape;213;p27"/>
          <p:cNvSpPr txBox="1">
            <a:spLocks noGrp="1"/>
          </p:cNvSpPr>
          <p:nvPr>
            <p:ph type="body" idx="1"/>
          </p:nvPr>
        </p:nvSpPr>
        <p:spPr>
          <a:xfrm>
            <a:off x="581200" y="2018775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1.2.4 	Autenticación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2385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6"/>
              <a:buFont typeface="Cambria"/>
              <a:buChar char="∙"/>
            </a:pPr>
            <a:r>
              <a:rPr lang="es-ES" sz="1500">
                <a:latin typeface="Cambria"/>
                <a:ea typeface="Cambria"/>
                <a:cs typeface="Cambria"/>
                <a:sym typeface="Cambria"/>
              </a:rPr>
              <a:t>Una clase importante a mencionar es el ManejadorAutenticacion.java, </a:t>
            </a:r>
            <a:r>
              <a:rPr lang="es-MX" sz="1500">
                <a:latin typeface="Cambria"/>
                <a:ea typeface="Cambria"/>
                <a:cs typeface="Cambria"/>
                <a:sym typeface="Cambria"/>
              </a:rPr>
              <a:t>que sirve como un middleware en los recursos REST: es un ContainerRequestFilter que autentica antes de permitir el paso a los recursos protegidos. Solo se aplica a lo que lleva la anotación @Protegido (@NameBinding).</a:t>
            </a:r>
            <a:endParaRPr sz="150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4" name="Google Shape;214;p2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F14B871-AEAA-AB1C-03A4-199EA49C8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736" y="3955194"/>
            <a:ext cx="6390227" cy="20031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21" name="Google Shape;221;p28"/>
          <p:cNvSpPr txBox="1">
            <a:spLocks noGrp="1"/>
          </p:cNvSpPr>
          <p:nvPr>
            <p:ph type="body" idx="1"/>
          </p:nvPr>
        </p:nvSpPr>
        <p:spPr>
          <a:xfrm>
            <a:off x="581192" y="1876272"/>
            <a:ext cx="8589300" cy="12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Esta clase se apoya en GestorToken, que valida las credenciales y administra en memoria los tokens; el usuario (MONSTER), la clave (MONSTER9) y la duración del token (30 minutos) se leen de microprofile-config.properties.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El mismo archivo define cors.origenes, los orígenes web que FiltroCors autoriza para llamar al servicio desde el navegador.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2" name="Google Shape;222;p2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24" name="Google Shape;224;p28"/>
          <p:cNvGraphicFramePr/>
          <p:nvPr>
            <p:extLst>
              <p:ext uri="{D42A27DB-BD31-4B8C-83A1-F6EECF244321}">
                <p14:modId xmlns:p14="http://schemas.microsoft.com/office/powerpoint/2010/main" val="593359223"/>
              </p:ext>
            </p:extLst>
          </p:nvPr>
        </p:nvGraphicFramePr>
        <p:xfrm>
          <a:off x="4024925" y="4574350"/>
          <a:ext cx="4894525" cy="22153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489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15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 Duracion del token de acceso en minutos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token.minutos=30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MX"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 Credenciales iniciales (al reiniciar el servidor se vuelve a estas)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usuario.nombre=MONSTER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usuario.clave=MONSTER9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14C0F366-7871-5148-FA2A-AF0316839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17" y="3124872"/>
            <a:ext cx="3289207" cy="230964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body" idx="1"/>
          </p:nvPr>
        </p:nvSpPr>
        <p:spPr>
          <a:xfrm>
            <a:off x="581200" y="1876275"/>
            <a:ext cx="2132400" cy="47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El método filter lee el token de la cabecera Authorization: Bearer, lo valida con GestorToken y, si no es válido, corta la petición con un 401 en JSON (AUTH-001 o AUTH-002).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1" name="Google Shape;231;p2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32" name="Google Shape;232;p29"/>
          <p:cNvGraphicFramePr/>
          <p:nvPr>
            <p:extLst>
              <p:ext uri="{D42A27DB-BD31-4B8C-83A1-F6EECF244321}">
                <p14:modId xmlns:p14="http://schemas.microsoft.com/office/powerpoint/2010/main" val="2195853191"/>
              </p:ext>
            </p:extLst>
          </p:nvPr>
        </p:nvGraphicFramePr>
        <p:xfrm>
          <a:off x="2964625" y="1876275"/>
          <a:ext cx="6062675" cy="33020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02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@Provider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@Protegido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@Priority(Priorities.AUTHENTICATION)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ManejadorAutenticacion implements ContainerRequestFilter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static final String PROPIEDAD_USUARIO = "usuario";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static final String PREFIJO = "Bearer ";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@Inject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GestorToken gestorToken;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@Override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void filter(ContainerRequestContext contexto)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try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usuario = gestorToken.validar(leerToken(contexto));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contexto.setProperty(PROPIEDAD_USUARIO, usuario);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 catch (ExcepcionServicio e)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contexto.abortWith(MapeadorExcepciones.respuesta(e));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body" idx="1"/>
          </p:nvPr>
        </p:nvSpPr>
        <p:spPr>
          <a:xfrm>
            <a:off x="581200" y="3037175"/>
            <a:ext cx="2132400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1.2.5	Lógica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Ahora se procede a completar el resto de la lógica, donde </a:t>
            </a: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los conversores exponen la lógica</a:t>
            </a: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 (utilizando factores de conversión y fórmulas) como se puede ver en las tablas aplicando una interfaz con el fin de hacer que los servicios puedan inyectar cualquier tipo de conversión sin limitarse a uno en concreto como se puede ver en la Tabla del Servicio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7" name="Google Shape;247;p3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48" name="Google Shape;248;p31"/>
          <p:cNvGraphicFramePr/>
          <p:nvPr>
            <p:extLst>
              <p:ext uri="{D42A27DB-BD31-4B8C-83A1-F6EECF244321}">
                <p14:modId xmlns:p14="http://schemas.microsoft.com/office/powerpoint/2010/main" val="2033648469"/>
              </p:ext>
            </p:extLst>
          </p:nvPr>
        </p:nvGraphicFramePr>
        <p:xfrm>
          <a:off x="3017313" y="3676500"/>
          <a:ext cx="6062675" cy="213868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60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 ec.edu.monster.servicios.conversores;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ec.edu.monster.modelo.Categoria;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ec.edu.monster.modelo.Unidad;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interface Conversor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boolean soporta(Categoria categoria);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double convertir(double valor, Unidad origen, Unidad destino);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54" name="Google Shape;254;p32"/>
          <p:cNvSpPr txBox="1">
            <a:spLocks noGrp="1"/>
          </p:cNvSpPr>
          <p:nvPr>
            <p:ph type="body" idx="1"/>
          </p:nvPr>
        </p:nvSpPr>
        <p:spPr>
          <a:xfrm>
            <a:off x="581200" y="3037175"/>
            <a:ext cx="2132400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Ahora se procede a completar el resto de la lógica, donde </a:t>
            </a: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los conversores exponen la lógica</a:t>
            </a: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 (utilizando factores de conversión y fórmulas) como se puede ver en las tablas aplicando una interfaz con el fin de hacer que los servicios puedan inyectar cualquier tipo de conversión sin limitarse a uno en concreto como se puede ver en la Tabla del Servicio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5" name="Google Shape;255;p3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56" name="Google Shape;256;p32"/>
          <p:cNvGraphicFramePr/>
          <p:nvPr>
            <p:extLst>
              <p:ext uri="{D42A27DB-BD31-4B8C-83A1-F6EECF244321}">
                <p14:modId xmlns:p14="http://schemas.microsoft.com/office/powerpoint/2010/main" val="1429408231"/>
              </p:ext>
            </p:extLst>
          </p:nvPr>
        </p:nvGraphicFramePr>
        <p:xfrm>
          <a:off x="3017313" y="1838175"/>
          <a:ext cx="6062675" cy="30226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60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 ec.edu.monster.servicios.conversores;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ec.edu.monster.modelo.Categoria;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ec.edu.monster.modelo.Unidad;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jakarta.enterprise.context.ApplicationScoped;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@ApplicationScoped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ConversorLineal implements Conversor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@Override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boolean soporta(Categoria categoria)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categoria == Categoria.LONGITUD || categoria == Categoria.MASA;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@Override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convertir(double valor, Unidad origen, Unidad destino)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valor * origen.getFactor() / destino.getFactor();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70" name="Google Shape;270;p34"/>
          <p:cNvSpPr txBox="1">
            <a:spLocks noGrp="1"/>
          </p:cNvSpPr>
          <p:nvPr>
            <p:ph type="body" idx="1"/>
          </p:nvPr>
        </p:nvSpPr>
        <p:spPr>
          <a:xfrm>
            <a:off x="581200" y="3037175"/>
            <a:ext cx="2132400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Ahora se procede a completar el resto de la lógica, donde </a:t>
            </a:r>
            <a:r>
              <a:rPr lang="es-MX" sz="1200">
                <a:latin typeface="Cambria"/>
                <a:ea typeface="Cambria"/>
                <a:cs typeface="Cambria"/>
                <a:sym typeface="Cambria"/>
              </a:rPr>
              <a:t>los conversores exponen la lógica</a:t>
            </a: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 (utilizando factores de conversión y fórmulas) como se puede ver en las tablas aplicando una interfaz con el fin de hacer que los servicios puedan inyectar cualquier tipo de conversión sin limitarse a uno en concreto como se puede ver en la Tabla del Servicio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1" name="Google Shape;271;p34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72" name="Google Shape;272;p34"/>
          <p:cNvGraphicFramePr/>
          <p:nvPr>
            <p:extLst>
              <p:ext uri="{D42A27DB-BD31-4B8C-83A1-F6EECF244321}">
                <p14:modId xmlns:p14="http://schemas.microsoft.com/office/powerpoint/2010/main" val="4090042235"/>
              </p:ext>
            </p:extLst>
          </p:nvPr>
        </p:nvGraphicFramePr>
        <p:xfrm>
          <a:off x="2891513" y="2209650"/>
          <a:ext cx="6062675" cy="451612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60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@ApplicationScoped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ConversorTemperatura implements Conversor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@Override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boolean soporta(Categoria categoria)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categoria == Categoria.TEMPERATURA;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@Override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convertir(double valor, Unidad origen, Unidad destino)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desdeCelsius(aCelsius(valor, origen), destino);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static double aCelsius(double v, Unidad unidad)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switch (unidad)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C -&gt; v;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K -&gt; v - 273.15;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F -&gt; (v - 32) * 5 / 9;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N -&gt; v * 100 / 33;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RE -&gt; v * 5 / 4;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default -&gt; throw new IllegalArgumentException("No es unidad de temperatura: " + unidad);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86" name="Google Shape;286;p36"/>
          <p:cNvSpPr txBox="1">
            <a:spLocks noGrp="1"/>
          </p:cNvSpPr>
          <p:nvPr>
            <p:ph type="body" idx="1"/>
          </p:nvPr>
        </p:nvSpPr>
        <p:spPr>
          <a:xfrm>
            <a:off x="581200" y="3037175"/>
            <a:ext cx="2132400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ambria"/>
                <a:ea typeface="Cambria"/>
                <a:cs typeface="Cambria"/>
                <a:sym typeface="Cambria"/>
              </a:rPr>
              <a:t>Aplicando una interfaz con el fin de hacer que el servicio pueda inyectar cualquier tipo de conversión sin limitarse a uno en concreto como se puede ver en la Tabla del Servicio</a:t>
            </a:r>
            <a:endParaRPr sz="13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7" name="Google Shape;287;p3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88" name="Google Shape;288;p36"/>
          <p:cNvGraphicFramePr/>
          <p:nvPr>
            <p:extLst>
              <p:ext uri="{D42A27DB-BD31-4B8C-83A1-F6EECF244321}">
                <p14:modId xmlns:p14="http://schemas.microsoft.com/office/powerpoint/2010/main" val="3572223093"/>
              </p:ext>
            </p:extLst>
          </p:nvPr>
        </p:nvGraphicFramePr>
        <p:xfrm>
          <a:off x="2891513" y="2557313"/>
          <a:ext cx="6062675" cy="37846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60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@ApplicationScoped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ServicioConversion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@Inject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ServicioValidacion validacion;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@Inject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Instance&lt;Conversor&gt; conversores;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ResultadoConversion convertir(Categoria categoria, Double valor, String origen, String destino)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throws ExcepcionServicio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Unidad[] unidades = validacion.validarConversion(categoria, valor, origen, destino);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Conversor conversor = conversores.stream()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.filter(c -&gt; c.soporta(categoria))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.findFirst()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.orElseThrow(() -&gt; new ExcepcionServicio(CodigoError.DATA_001));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double resultado = conversor.convertir(valor, unidades[0], unidades[1]);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new ResultadoConversion(redondear(resultado), unidades[0], unidades[1]);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94" name="Google Shape;294;p37"/>
          <p:cNvSpPr txBox="1">
            <a:spLocks noGrp="1"/>
          </p:cNvSpPr>
          <p:nvPr>
            <p:ph type="body" idx="1"/>
          </p:nvPr>
        </p:nvSpPr>
        <p:spPr>
          <a:xfrm>
            <a:off x="581200" y="2018775"/>
            <a:ext cx="2685600" cy="4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1.2.6 	Ejecución en Servidor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2385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6"/>
              <a:buFont typeface="Cambria"/>
              <a:buChar char="∙"/>
            </a:pPr>
            <a:r>
              <a:rPr lang="es-MX" sz="1500">
                <a:latin typeface="Cambria"/>
                <a:ea typeface="Cambria"/>
                <a:cs typeface="Cambria"/>
                <a:sym typeface="Cambria"/>
              </a:rPr>
              <a:t>Se ejecuta el programa en nuestro servidor Payara (puerto 8080) y se comprueba que los recursos respondan en http://localhost:8080/WS_CON_UNI_JAVA_REST/api, por ejemplo con un POST a /api/autenticacion/login que devuelve el token en JSON.</a:t>
            </a:r>
            <a:endParaRPr sz="150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95" name="Google Shape;295;p3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1208A4A-88EE-D0DF-77EE-D402B0020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2328606"/>
            <a:ext cx="5445842" cy="385598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3" name="Google Shape;303;p38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581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332"/>
              <a:buFont typeface="Arial"/>
              <a:buNone/>
            </a:pPr>
            <a:r>
              <a:rPr lang="es-ES" sz="1564" b="1" dirty="0">
                <a:latin typeface="Cambria"/>
                <a:ea typeface="Cambria"/>
                <a:cs typeface="Cambria"/>
                <a:sym typeface="Cambria"/>
              </a:rPr>
              <a:t>1.3 	CREACIÓN DEL PROYECTO CLIENTE CONSOLA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332"/>
              <a:buFont typeface="Arial"/>
              <a:buNone/>
            </a:pP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052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64"/>
              <a:buFont typeface="Cambria"/>
              <a:buChar char="◼"/>
            </a:pP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Para el cliente consola se usó NetBeans: se crea un nuevo proyecto con la categoría Java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with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 Maven y el tipo de proyecto Java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Application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sz="1564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0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mbria"/>
              <a:buChar char="◼"/>
            </a:pP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Se asigna el </a:t>
            </a: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nombre ConUni_ClienteConsola_REST_GR3, 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se selecciona como ubicación la carpeta 04. CLICON y se configura el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Group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 Id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ec.edu.monster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sz="1564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99162"/>
              <a:buNone/>
            </a:pPr>
            <a:endParaRPr sz="167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BF77D81-B958-81DD-2374-0032874A6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709" y="3804586"/>
            <a:ext cx="3848100" cy="262161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712B672-1A85-CDD7-B130-75E8BBE36E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772" y="3790388"/>
            <a:ext cx="3708400" cy="263581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12" name="Google Shape;312;p39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581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1.3 	CREACIÓN DEL PROYECTO CLIENTE CONSOLA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79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4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Una vez creado el proyecto se generan los paquetes donde se colocarán los archivos con código fuente: ec.edu.monster.servicio (acceso al servicio REST), ec.edu.monster.modelo, ec.edu.monster.vista, ec.edu.monster.controlador y ec.edu.monster.util.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sz="167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F15E149-C5B9-E1A3-CEC7-A99AB6F26B06}"/>
              </a:ext>
            </a:extLst>
          </p:cNvPr>
          <p:cNvSpPr/>
          <p:nvPr/>
        </p:nvSpPr>
        <p:spPr>
          <a:xfrm>
            <a:off x="2857500" y="4000500"/>
            <a:ext cx="3467100" cy="2451100"/>
          </a:xfrm>
          <a:prstGeom prst="rect">
            <a:avLst/>
          </a:prstGeom>
          <a:solidFill>
            <a:srgbClr val="F2F2F2"/>
          </a:solidFill>
          <a:ln w="12700">
            <a:solidFill>
              <a:srgbClr val="969F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i="1">
                <a:solidFill>
                  <a:srgbClr val="3D3D3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[Insertar captura: paquetes controlador, modelo, servicio, util y vista del cliente consola]</a:t>
            </a:r>
            <a:endParaRPr lang="es-EC" i="1">
              <a:solidFill>
                <a:srgbClr val="3D3D3D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35D655E-1DDA-0D8C-FCFD-A74960B88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3944440"/>
            <a:ext cx="4132006" cy="253474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19" name="Google Shape;319;p40"/>
          <p:cNvSpPr txBox="1">
            <a:spLocks noGrp="1"/>
          </p:cNvSpPr>
          <p:nvPr>
            <p:ph type="body" idx="1"/>
          </p:nvPr>
        </p:nvSpPr>
        <p:spPr>
          <a:xfrm>
            <a:off x="581200" y="1876275"/>
            <a:ext cx="2132400" cy="47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20" name="Google Shape;320;p4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321" name="Google Shape;321;p40"/>
          <p:cNvGraphicFramePr/>
          <p:nvPr>
            <p:extLst>
              <p:ext uri="{D42A27DB-BD31-4B8C-83A1-F6EECF244321}">
                <p14:modId xmlns:p14="http://schemas.microsoft.com/office/powerpoint/2010/main" val="2361782017"/>
              </p:ext>
            </p:extLst>
          </p:nvPr>
        </p:nvGraphicFramePr>
        <p:xfrm>
          <a:off x="2964625" y="1876275"/>
          <a:ext cx="6062675" cy="34290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29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/** Única capa que conoce HTTP, JSON y las rutas del servidor REST. */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ClienteRESTConversor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static final String URL_PREDETERMINADA =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"http://localhost:8080/WS_CON_UNI_JAVA_REST/api";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String baseUrl;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HttpClient http;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SesionModelo sesion;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static String obtenerBaseConfigurada()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propiedad = System.getProperty("rest.base.url");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(propiedad != null &amp;&amp; !propiedad.isBlank())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propiedad;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variable = System.getenv("REST_BASE_URL");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variable != null &amp;&amp; !variable.isBlank()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? variable : URL_PREDETERMINADA;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35" name="Google Shape;335;p42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1643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36" name="Google Shape;336;p4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337" name="Google Shape;337;p42"/>
          <p:cNvGraphicFramePr/>
          <p:nvPr>
            <p:extLst>
              <p:ext uri="{D42A27DB-BD31-4B8C-83A1-F6EECF244321}">
                <p14:modId xmlns:p14="http://schemas.microsoft.com/office/powerpoint/2010/main" val="311736686"/>
              </p:ext>
            </p:extLst>
          </p:nvPr>
        </p:nvGraphicFramePr>
        <p:xfrm>
          <a:off x="2278500" y="1818850"/>
          <a:ext cx="5439425" cy="30480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3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HttpRequest.Builder peticion = HttpRequest.newBuilder(URI.create(baseUrl + ruta))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.timeout(Duration.ofSeconds(20))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.header("Accept", "application/json");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(protegido)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(sesion == null)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throw new ErrorRESTModelo(401, "AUTH-001", "Debe iniciar sesión.");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peticion.header("Authorization", "Bearer " + sesion.getToken());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("POST".equals(metodo))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peticion.header("Content-Type", "application/json; charset=UTF-8")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.POST(HttpRequest.BodyPublishers.ofString(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cuerpo.toString(), StandardCharsets.UTF_8));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 else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peticion.GET();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70" name="Google Shape;370;p46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1643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MX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puede verificar que el cliente funciona de forma correcta, se levanta y tiene comunicación (usuario MONSTER, clave MONSTER9)</a:t>
            </a:r>
            <a:r>
              <a:rPr lang="es-E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 b="1" dirty="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∙"/>
            </a:pP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1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71" name="Google Shape;371;p4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AC93287-0705-3719-1BBF-F3A6F643A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9231" y="2516187"/>
            <a:ext cx="6169298" cy="337308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3" name="Google Shape;303;p38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581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332"/>
              <a:buFont typeface="Arial"/>
              <a:buNone/>
            </a:pPr>
            <a:r>
              <a:rPr lang="es-MX" sz="1564" b="1" dirty="0">
                <a:latin typeface="Cambria"/>
                <a:ea typeface="Cambria"/>
                <a:cs typeface="Cambria"/>
                <a:sym typeface="Cambria"/>
              </a:rPr>
              <a:t>1.4 	CREACIÓN DEL PROYECTO CLIENTE ESCRITORIO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332"/>
              <a:buFont typeface="Arial"/>
              <a:buNone/>
            </a:pP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052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64"/>
              <a:buFont typeface="Cambria"/>
              <a:buChar char="◼"/>
            </a:pP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En NetBeans se crea un proyecto Java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with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 Maven de tipo Java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Application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 con el nombre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Convertidor_CLIESC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; el proyecto utiliza Java 17 y Java Swing para las ventanas.</a:t>
            </a:r>
            <a:endParaRPr sz="1564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0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mbria"/>
              <a:buChar char="◼"/>
            </a:pP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En el pom.xml se agrega la dependencia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gson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 2.11.0 para leer el JSON; las peticiones se envían con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java.net.http.HttpClient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, sin generar clases cliente.</a:t>
            </a:r>
            <a:endParaRPr sz="1564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99162"/>
              <a:buNone/>
            </a:pPr>
            <a:endParaRPr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" name="Google Shape;545;p67">
            <a:extLst>
              <a:ext uri="{FF2B5EF4-FFF2-40B4-BE49-F238E27FC236}">
                <a16:creationId xmlns:a16="http://schemas.microsoft.com/office/drawing/2014/main" id="{2D48339E-B716-3532-1E20-D2619FA1F2E7}"/>
              </a:ext>
            </a:extLst>
          </p:cNvPr>
          <p:cNvSpPr/>
          <p:nvPr/>
        </p:nvSpPr>
        <p:spPr>
          <a:xfrm>
            <a:off x="9383649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722381A-4DFB-A049-28F2-6CD480F27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274" y="4006638"/>
            <a:ext cx="3390900" cy="238146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319D80B-2F15-F734-9BF2-2A8EAE70C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248" y="4623963"/>
            <a:ext cx="3970020" cy="114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7805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12" name="Google Shape;312;p39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581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564" b="1">
                <a:latin typeface="Cambria"/>
                <a:ea typeface="Cambria"/>
                <a:cs typeface="Cambria"/>
                <a:sym typeface="Cambria"/>
              </a:rPr>
              <a:t>1.4 	CREACIÓN DEL PROYECTO CLIENTE ESCRITORIO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79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4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En src/main/java se crean los paquetes ec.edu.monster.controlador, ec.edu.monster.modelo, ec.edu.monster.servicio y ec.edu.monster.vista, y la clase principal App. Las llamadas REST se ejecutan en segundo plano con SwingWorker para no bloquear la interfaz.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sz="167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" name="Google Shape;545;p67">
            <a:extLst>
              <a:ext uri="{FF2B5EF4-FFF2-40B4-BE49-F238E27FC236}">
                <a16:creationId xmlns:a16="http://schemas.microsoft.com/office/drawing/2014/main" id="{78AF3447-0EDB-8137-D7FE-3F1A22A43530}"/>
              </a:ext>
            </a:extLst>
          </p:cNvPr>
          <p:cNvSpPr/>
          <p:nvPr/>
        </p:nvSpPr>
        <p:spPr>
          <a:xfrm>
            <a:off x="9383649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4466773-FB20-FBBF-2DC6-BE237A1C2E33}"/>
              </a:ext>
            </a:extLst>
          </p:cNvPr>
          <p:cNvSpPr/>
          <p:nvPr/>
        </p:nvSpPr>
        <p:spPr>
          <a:xfrm>
            <a:off x="2667000" y="4279900"/>
            <a:ext cx="3746500" cy="1765300"/>
          </a:xfrm>
          <a:prstGeom prst="rect">
            <a:avLst/>
          </a:prstGeom>
          <a:solidFill>
            <a:srgbClr val="F2F2F2"/>
          </a:solidFill>
          <a:ln w="12700">
            <a:solidFill>
              <a:srgbClr val="969F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i="1">
                <a:solidFill>
                  <a:srgbClr val="3D3D3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[Insertar captura: paquetes controlador, modelo, servicio y vista, y la clase App]</a:t>
            </a:r>
            <a:endParaRPr lang="es-EC" i="1">
              <a:solidFill>
                <a:srgbClr val="3D3D3D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93DAB80-44A1-1AF7-C342-EDBD000E3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3983841"/>
            <a:ext cx="3900948" cy="244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3450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45" name="Google Shape;545;p67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46" name="Google Shape;546;p67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1643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547" name="Google Shape;547;p67"/>
          <p:cNvGraphicFramePr/>
          <p:nvPr>
            <p:extLst>
              <p:ext uri="{D42A27DB-BD31-4B8C-83A1-F6EECF244321}">
                <p14:modId xmlns:p14="http://schemas.microsoft.com/office/powerpoint/2010/main" val="2414518806"/>
              </p:ext>
            </p:extLst>
          </p:nvPr>
        </p:nvGraphicFramePr>
        <p:xfrm>
          <a:off x="2332838" y="2136238"/>
          <a:ext cx="6484300" cy="34290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29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rgbClr val="4F81B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/** Punto de entrada del cliente de escritorio MVC. */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rgbClr val="4F81B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public final class App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rgbClr val="4F81B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   private App() {}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rgbClr val="4F81B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   public static void main(String[] args)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rgbClr val="4F81B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       SwingUtilities.invokeLater(() -&gt;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rgbClr val="4F81B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           ApiRest api = new ApiRest(System.getProperty("api.base",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rgbClr val="4F81B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                   "http://localhost:8080/WS_CON_UNI_JAVA_REST/api"));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rgbClr val="4F81B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           LoginView login = new LoginView();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rgbClr val="4F81B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           new LoginController(login, api, sesion -&gt;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rgbClr val="4F81B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               MenuView menu = new MenuView(sesion);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rgbClr val="4F81B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               new MenuController(menu, api);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rgbClr val="4F81B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               menu.setVisible(true);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rgbClr val="4F81B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           });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rgbClr val="4F81B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           login.setVisible(true);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rgbClr val="4F81B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       });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rgbClr val="4F81B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rgbClr val="4F81B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}</a:t>
                      </a:r>
                      <a:endParaRPr sz="900">
                        <a:solidFill>
                          <a:srgbClr val="4F81BD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53" name="Google Shape;553;p68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54" name="Google Shape;554;p68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1643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555" name="Google Shape;555;p68"/>
          <p:cNvGraphicFramePr/>
          <p:nvPr>
            <p:extLst>
              <p:ext uri="{D42A27DB-BD31-4B8C-83A1-F6EECF244321}">
                <p14:modId xmlns:p14="http://schemas.microsoft.com/office/powerpoint/2010/main" val="1046151752"/>
              </p:ext>
            </p:extLst>
          </p:nvPr>
        </p:nvGraphicFramePr>
        <p:xfrm>
          <a:off x="2332838" y="2136238"/>
          <a:ext cx="6484300" cy="21590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59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rgbClr val="4F81B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private JsonObject request(String method, String path, String token, String body)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rgbClr val="4F81B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           throws IOException, InterruptedException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rgbClr val="4F81B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       HttpRequest.Builder builder = HttpRequest.newBuilder(URI.create(base + path))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rgbClr val="4F81B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               .timeout(Duration.ofSeconds(20)).header("Accept", "application/json");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rgbClr val="4F81B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       if (token != null) builder.header("Authorization", "Bearer " + token);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rgbClr val="4F81B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       if (body != null) builder.header("Content-Type", "application/json; charset=UTF-8")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rgbClr val="4F81B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               .method(method, HttpRequest.BodyPublishers.ofString(body));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rgbClr val="4F81B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       else builder.method(method, HttpRequest.BodyPublishers.noBody());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1100">
                          <a:solidFill>
                            <a:srgbClr val="4F81B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       HttpResponse&lt;String&gt; response = http.send(builder.build(), HttpResponse.BodyHandlers.ofString());</a:t>
                      </a:r>
                      <a:endParaRPr sz="1100">
                        <a:solidFill>
                          <a:srgbClr val="4F81BD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69" name="Google Shape;569;p70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71" name="Google Shape;571;p70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login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BACCAC4-4F71-9C76-FA6F-4E96B762D545}"/>
              </a:ext>
            </a:extLst>
          </p:cNvPr>
          <p:cNvSpPr/>
          <p:nvPr/>
        </p:nvSpPr>
        <p:spPr>
          <a:xfrm>
            <a:off x="1955800" y="2794000"/>
            <a:ext cx="5740400" cy="2984500"/>
          </a:xfrm>
          <a:prstGeom prst="rect">
            <a:avLst/>
          </a:prstGeom>
          <a:solidFill>
            <a:srgbClr val="F2F2F2"/>
          </a:solidFill>
          <a:ln w="12700">
            <a:solidFill>
              <a:srgbClr val="969F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i="1">
                <a:solidFill>
                  <a:srgbClr val="3D3D3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[Insertar captura: ventana de inicio de sesión del cliente de escritorio]</a:t>
            </a:r>
            <a:endParaRPr lang="es-EC" i="1">
              <a:solidFill>
                <a:srgbClr val="3D3D3D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9A62197-D17E-4370-85C7-EA7EC2CD4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50" y="2571136"/>
            <a:ext cx="7696200" cy="407918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77" name="Google Shape;577;p71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78" name="Google Shape;578;p71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conversor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2FD97A2-D25E-7469-FDB6-6EA251A15B64}"/>
              </a:ext>
            </a:extLst>
          </p:cNvPr>
          <p:cNvSpPr/>
          <p:nvPr/>
        </p:nvSpPr>
        <p:spPr>
          <a:xfrm>
            <a:off x="1955800" y="2794000"/>
            <a:ext cx="5740400" cy="2921000"/>
          </a:xfrm>
          <a:prstGeom prst="rect">
            <a:avLst/>
          </a:prstGeom>
          <a:solidFill>
            <a:srgbClr val="F2F2F2"/>
          </a:solidFill>
          <a:ln w="12700">
            <a:solidFill>
              <a:srgbClr val="969F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i="1">
                <a:solidFill>
                  <a:srgbClr val="3D3D3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[Insertar captura: ventana del conversor con un resultado y el historial]</a:t>
            </a:r>
            <a:endParaRPr lang="es-EC" i="1">
              <a:solidFill>
                <a:srgbClr val="3D3D3D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6599337-408A-3270-F172-B0F4E7CEB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783" y="2610548"/>
            <a:ext cx="6730487" cy="356583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7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85" name="Google Shape;585;p72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86" name="Google Shape;586;p72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catálogo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0F583C1-08BD-5B31-0BA4-A97D8AE2661B}"/>
              </a:ext>
            </a:extLst>
          </p:cNvPr>
          <p:cNvSpPr/>
          <p:nvPr/>
        </p:nvSpPr>
        <p:spPr>
          <a:xfrm>
            <a:off x="1955800" y="2794000"/>
            <a:ext cx="5740400" cy="2933700"/>
          </a:xfrm>
          <a:prstGeom prst="rect">
            <a:avLst/>
          </a:prstGeom>
          <a:solidFill>
            <a:srgbClr val="F2F2F2"/>
          </a:solidFill>
          <a:ln w="12700">
            <a:solidFill>
              <a:srgbClr val="969F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i="1">
                <a:solidFill>
                  <a:srgbClr val="3D3D3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[Insertar captura: ventana del catálogo con las unidades de una categoría]</a:t>
            </a:r>
            <a:endParaRPr lang="es-EC" i="1">
              <a:solidFill>
                <a:srgbClr val="3D3D3D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996F1DD-E507-5B7B-B8FA-665388BC8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415" y="2610549"/>
            <a:ext cx="6414700" cy="340492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3" name="Google Shape;303;p38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581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332"/>
              <a:buFont typeface="Arial"/>
              <a:buNone/>
            </a:pPr>
            <a:r>
              <a:rPr lang="es-MX" sz="1564" b="1">
                <a:latin typeface="Cambria"/>
                <a:ea typeface="Cambria"/>
                <a:cs typeface="Cambria"/>
                <a:sym typeface="Cambria"/>
              </a:rPr>
              <a:t>1.5 	CREACIÓN DEL PROYECTO CLIENTE WEB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332"/>
              <a:buFont typeface="Arial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052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64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En NetBeans se crea un proyecto Java with Maven de tipo Web Application con el nombre </a:t>
            </a:r>
            <a:r>
              <a:rPr lang="fi-FI" sz="1564">
                <a:latin typeface="Cambria"/>
                <a:ea typeface="Cambria"/>
                <a:cs typeface="Cambria"/>
                <a:sym typeface="Cambria"/>
              </a:rPr>
              <a:t>WS_CON_UNI_JAVA_REST</a:t>
            </a: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_CLIWEB, el Group Id ec.edu.monster, el servidor Payara y Jakarta EE 11 Web.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0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Igual que en el escritorio, se agrega gson 2.11.0 en el pom.xml, y en web.xml se define el parámetro api.base con la URL del servidor REST.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99162"/>
              <a:buNone/>
            </a:pPr>
            <a:endParaRPr sz="167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" name="Google Shape;602;p74">
            <a:extLst>
              <a:ext uri="{FF2B5EF4-FFF2-40B4-BE49-F238E27FC236}">
                <a16:creationId xmlns:a16="http://schemas.microsoft.com/office/drawing/2014/main" id="{7CC866AA-A9AB-B3FD-D13F-23BE19DEF7A5}"/>
              </a:ext>
            </a:extLst>
          </p:cNvPr>
          <p:cNvSpPr/>
          <p:nvPr/>
        </p:nvSpPr>
        <p:spPr>
          <a:xfrm>
            <a:off x="9383649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7B68001-1499-04A5-969E-E31154C4E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948" y="3904175"/>
            <a:ext cx="3701200" cy="256574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CD15000-E642-A385-429A-76DC3794D6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895" y="4032870"/>
            <a:ext cx="4591279" cy="238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2227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12" name="Google Shape;312;p39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581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564" b="1">
                <a:latin typeface="Cambria"/>
                <a:ea typeface="Cambria"/>
                <a:cs typeface="Cambria"/>
                <a:sym typeface="Cambria"/>
              </a:rPr>
              <a:t>1.5 	CREACIÓN DEL PROYECTO CLIENTE WEB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79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4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Se crean los paquetes ec.edu.monster.controlador (servlets), ec.edu.monster.modelo y ec.edu.monster.servicio, la carpeta WEB-INF/vista para las páginas JSP y la carpeta css para la hoja de estilos.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sz="167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" name="Google Shape;602;p74">
            <a:extLst>
              <a:ext uri="{FF2B5EF4-FFF2-40B4-BE49-F238E27FC236}">
                <a16:creationId xmlns:a16="http://schemas.microsoft.com/office/drawing/2014/main" id="{27573CE4-8302-AFD8-7152-370A169E6D85}"/>
              </a:ext>
            </a:extLst>
          </p:cNvPr>
          <p:cNvSpPr/>
          <p:nvPr/>
        </p:nvSpPr>
        <p:spPr>
          <a:xfrm>
            <a:off x="9383649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3B8B0E1-F54E-B1A1-556E-B214C726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036" y="4090713"/>
            <a:ext cx="4372585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1325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7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02" name="Google Shape;602;p74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03" name="Google Shape;603;p74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1643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604" name="Google Shape;604;p74"/>
          <p:cNvGraphicFramePr/>
          <p:nvPr>
            <p:extLst>
              <p:ext uri="{D42A27DB-BD31-4B8C-83A1-F6EECF244321}">
                <p14:modId xmlns:p14="http://schemas.microsoft.com/office/powerpoint/2010/main" val="3573961125"/>
              </p:ext>
            </p:extLst>
          </p:nvPr>
        </p:nvGraphicFramePr>
        <p:xfrm>
          <a:off x="2332838" y="2061838"/>
          <a:ext cx="6484300" cy="4465025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65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/** Las vistas que requieren sesión redirigen al login si no hay usuario autenticado. */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@WebFilter({"/menu", "/conversion", "/catalogo"})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FiltroSesion extends HttpFilter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C"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@Override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protected void doFilter(HttpServletRequest req, HttpServletResponse resp, FilterChain cadena)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throws IOException, ServletException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HttpSession sesion = req.getSession(false);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(sesion == null || sesion.getAttribute(ControladorBase.ATRIBUTO_SESION) == null)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resp.sendRedirect(req.getContextPath() + "/login");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cadena.doFilter(req, resp);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C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10" name="Google Shape;610;p75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11" name="Google Shape;611;p75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1643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612" name="Google Shape;612;p75"/>
          <p:cNvGraphicFramePr/>
          <p:nvPr>
            <p:extLst>
              <p:ext uri="{D42A27DB-BD31-4B8C-83A1-F6EECF244321}">
                <p14:modId xmlns:p14="http://schemas.microsoft.com/office/powerpoint/2010/main" val="3539731724"/>
              </p:ext>
            </p:extLst>
          </p:nvPr>
        </p:nvGraphicFramePr>
        <p:xfrm>
          <a:off x="2332825" y="1795025"/>
          <a:ext cx="6484300" cy="31750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75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 void convertir(HttpServletRequest req, String token, Categoria c, Unidad o, Unidad d) throws Exception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(c == null || o == null || d == null)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estado(req, "Selecciona categoría y unidades.", true);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final double n;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try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n = Double.parseDouble(req.getParameter("valor").trim().replace(',', '.'));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(!Double.isFinite(n)) throw new NumberFormatException();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 catch (NumberFormatException | NullPointerException e)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estado(req, "Ingresa un valor numérico válido.", true);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resultado = formatear(api().convertir(token, c.codigo(), n, o.codigo(), d.codigo()));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historial(req).add(0, new RegistroConversion(LocalDateTime.now().format(FORMATO_FECHA),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formatear(n) + " " + o.simbolo() + " → " + resultado + " " + d.simbolo()));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estado(req, formatear(n) + " " + o.simbolo() + " = " + resultado + " " + d.simbolo(), false);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7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18" name="Google Shape;618;p76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20" name="Google Shape;620;p76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login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FA17C9B-77BE-664E-47D6-C7465F1531AC}"/>
              </a:ext>
            </a:extLst>
          </p:cNvPr>
          <p:cNvSpPr/>
          <p:nvPr/>
        </p:nvSpPr>
        <p:spPr>
          <a:xfrm>
            <a:off x="1612900" y="2768600"/>
            <a:ext cx="6616700" cy="3352800"/>
          </a:xfrm>
          <a:prstGeom prst="rect">
            <a:avLst/>
          </a:prstGeom>
          <a:solidFill>
            <a:srgbClr val="F2F2F2"/>
          </a:solidFill>
          <a:ln w="12700">
            <a:solidFill>
              <a:srgbClr val="969F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i="1">
                <a:solidFill>
                  <a:srgbClr val="3D3D3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[Insertar captura: página de inicio de sesión del cliente web]</a:t>
            </a:r>
            <a:endParaRPr lang="es-EC" i="1">
              <a:solidFill>
                <a:srgbClr val="3D3D3D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3D221D9-8DA3-A1E4-D115-65FDB95ED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172" y="2610549"/>
            <a:ext cx="7872156" cy="3954693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7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26" name="Google Shape;626;p77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27" name="Google Shape;627;p77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conversor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0672568-4EBA-975D-8C88-BC9A7C46AF94}"/>
              </a:ext>
            </a:extLst>
          </p:cNvPr>
          <p:cNvSpPr/>
          <p:nvPr/>
        </p:nvSpPr>
        <p:spPr>
          <a:xfrm>
            <a:off x="1143000" y="2616200"/>
            <a:ext cx="7569200" cy="381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969F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i="1">
                <a:solidFill>
                  <a:srgbClr val="3D3D3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[Insertar captura: página del conversor con un resultado y el historial]</a:t>
            </a:r>
            <a:endParaRPr lang="es-EC" i="1">
              <a:solidFill>
                <a:srgbClr val="3D3D3D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38FAC35-E4C5-0CB6-01AC-1C729A651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21" y="2481780"/>
            <a:ext cx="7698658" cy="407884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34" name="Google Shape;634;p78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35" name="Google Shape;635;p78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catálogo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C2E3C37-5F7E-AA17-3369-0B4B7B955EB6}"/>
              </a:ext>
            </a:extLst>
          </p:cNvPr>
          <p:cNvSpPr/>
          <p:nvPr/>
        </p:nvSpPr>
        <p:spPr>
          <a:xfrm>
            <a:off x="1485900" y="2768600"/>
            <a:ext cx="6883400" cy="3479800"/>
          </a:xfrm>
          <a:prstGeom prst="rect">
            <a:avLst/>
          </a:prstGeom>
          <a:solidFill>
            <a:srgbClr val="F2F2F2"/>
          </a:solidFill>
          <a:ln w="12700">
            <a:solidFill>
              <a:srgbClr val="969F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i="1">
                <a:solidFill>
                  <a:srgbClr val="3D3D3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[Insertar captura: página del catálogo con las unidades de una categoría]</a:t>
            </a:r>
            <a:endParaRPr lang="es-EC" i="1">
              <a:solidFill>
                <a:srgbClr val="3D3D3D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5524176-7AAC-2119-54EC-ABD1A09C3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369" y="2553043"/>
            <a:ext cx="7367161" cy="391091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3" name="Google Shape;303;p38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581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332"/>
              <a:buFont typeface="Arial"/>
              <a:buNone/>
            </a:pPr>
            <a:r>
              <a:rPr lang="es-MX" sz="1564" b="1">
                <a:latin typeface="Cambria"/>
                <a:ea typeface="Cambria"/>
                <a:cs typeface="Cambria"/>
                <a:sym typeface="Cambria"/>
              </a:rPr>
              <a:t>1.6 	CREACIÓN DEL PROYECTO CLIENTE MÓVIL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332"/>
              <a:buFont typeface="Arial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052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64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En Android Studio se selecciona File &gt; New &gt; New Project y la plantilla Empty Activity, que utiliza Jetpack Compose.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0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Se configura el nombre ConUni_ClienteMovil_REST_GR3, el paquete ec.edu.monster, el SDK mínimo API 24 y Kotlin DSL (build.gradle.kts) para la compilación.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99162"/>
              <a:buNone/>
            </a:pPr>
            <a:endParaRPr sz="167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" name="Google Shape;653;p80">
            <a:extLst>
              <a:ext uri="{FF2B5EF4-FFF2-40B4-BE49-F238E27FC236}">
                <a16:creationId xmlns:a16="http://schemas.microsoft.com/office/drawing/2014/main" id="{EF7896BA-4D91-E7F6-7BBA-77B96C680E52}"/>
              </a:ext>
            </a:extLst>
          </p:cNvPr>
          <p:cNvSpPr/>
          <p:nvPr/>
        </p:nvSpPr>
        <p:spPr>
          <a:xfrm>
            <a:off x="9383649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4344473-E272-3E31-32B6-1827A2052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461" y="3860800"/>
            <a:ext cx="3464646" cy="25908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68E046D-C9CC-1D60-FDE0-71D23DD0AA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8368" y="3914140"/>
            <a:ext cx="4549775" cy="248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2979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12" name="Google Shape;312;p39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581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564" b="1">
                <a:latin typeface="Cambria"/>
                <a:ea typeface="Cambria"/>
                <a:cs typeface="Cambria"/>
                <a:sym typeface="Cambria"/>
              </a:rPr>
              <a:t>1.6 	CREACIÓN DEL PROYECTO CLIENTE MÓVIL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79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4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Dentro de ec.edu.monster se crean los paquetes del patrón MVC: modelo, servicio y controlador en Java, y vista con las pantallas en Kotlin y Jetpack Compose.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sz="167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" name="Google Shape;653;p80">
            <a:extLst>
              <a:ext uri="{FF2B5EF4-FFF2-40B4-BE49-F238E27FC236}">
                <a16:creationId xmlns:a16="http://schemas.microsoft.com/office/drawing/2014/main" id="{6EFF0863-DD8D-55CB-DE9E-3F43F27B61EB}"/>
              </a:ext>
            </a:extLst>
          </p:cNvPr>
          <p:cNvSpPr/>
          <p:nvPr/>
        </p:nvSpPr>
        <p:spPr>
          <a:xfrm>
            <a:off x="9383649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A646BCF-39D0-B61F-916A-E96A283B2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741" y="3644900"/>
            <a:ext cx="3050749" cy="299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7746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1" name="Google Shape;651;p80"/>
          <p:cNvGraphicFramePr/>
          <p:nvPr>
            <p:extLst>
              <p:ext uri="{D42A27DB-BD31-4B8C-83A1-F6EECF244321}">
                <p14:modId xmlns:p14="http://schemas.microsoft.com/office/powerpoint/2010/main" val="1966617521"/>
              </p:ext>
            </p:extLst>
          </p:nvPr>
        </p:nvGraphicFramePr>
        <p:xfrm>
          <a:off x="2332838" y="2061638"/>
          <a:ext cx="6484300" cy="27305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conexion = (HttpURLConnection) URI.create(urlBase + ruta).toURL().openConnection();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conexion.setConnectTimeout(TIEMPO_ESPERA_MS);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conexion.setReadTimeout(TIEMPO_ESPERA_MS);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conexion.setRequestMethod(metodo);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conexion.setRequestProperty("Accept", "application/json");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(token != null)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conexion.setRequestProperty("Authorization", "Bearer " + token);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(cuerpo != null)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conexion.setDoOutput(true);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conexion.setRequestProperty("Content-Type", "application/json; charset=utf-8");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try (OutputStream salida = conexion.getOutputStream())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salida.write(cuerpo.toString().getBytes(StandardCharsets.UTF_8));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52" name="Google Shape;652;p8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53" name="Google Shape;653;p8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54" name="Google Shape;654;p80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1643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9" name="Google Shape;659;p81"/>
          <p:cNvGraphicFramePr/>
          <p:nvPr>
            <p:extLst>
              <p:ext uri="{D42A27DB-BD31-4B8C-83A1-F6EECF244321}">
                <p14:modId xmlns:p14="http://schemas.microsoft.com/office/powerpoint/2010/main" val="2964964048"/>
              </p:ext>
            </p:extLst>
          </p:nvPr>
        </p:nvGraphicFramePr>
        <p:xfrm>
          <a:off x="2332825" y="1795025"/>
          <a:ext cx="6484300" cy="33020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02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android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// Mismo paquete base que los clientes de consola y escritorio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namespace = "ec.edu.monster"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compileSdk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version = release(37)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defaultConfig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applicationId = "ec.edu.monster.cliente_movil_rest"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minSdk = 24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targetSdk = 37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versionCode = 1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versionName = "1.0"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// URL del servidor REST: se cambia en gradle.properties (servidor.url)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val urlServidor = providers.gradleProperty("servidor.url")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.getOrElse("http://10.0.2.2:8080/WS_CON_UNI_JAVA_REST/api")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buildConfigField("String", "URL_SERVIDOR", "\"$urlServidor\"")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60" name="Google Shape;660;p8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61" name="Google Shape;661;p8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62" name="Google Shape;662;p81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1643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8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68" name="Google Shape;668;p82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69" name="Google Shape;669;p82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login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352824E-5717-6F7F-0D21-2089E3D92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800" y="2133599"/>
            <a:ext cx="1989109" cy="444861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8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76" name="Google Shape;676;p83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77" name="Google Shape;677;p83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conversor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61D8428-BA27-03BA-BB50-87D60BEC4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6156" y="1866900"/>
            <a:ext cx="2209800" cy="490693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8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84" name="Google Shape;684;p84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85" name="Google Shape;685;p84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catálogo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17D499E-0BBD-3539-9756-8653F5D20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845" y="1879701"/>
            <a:ext cx="2247900" cy="4833369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8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692" name="Google Shape;692;p85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sz="1900">
                <a:latin typeface="Cambria"/>
                <a:ea typeface="Cambria"/>
                <a:cs typeface="Cambria"/>
                <a:sym typeface="Cambria"/>
              </a:rPr>
              <a:t>Según el alcance de la ERS, se implementó un backend RESTful en Java sin base de datos y cuatro clientes: el sistema ofrece la consulta de seis categorías y la conversión de longitud, masa y temperatura, y protege el catálogo y las conversiones con token. Payara Server, junto con JAX-RS y JSON-B, facilitó la publicación de los recursos y la conversión automática entre objetos Java y JSON. Los clientes consumen las mismas rutas REST con técnicas distintas: la consola, el escritorio y la web usan HttpClient de Java con Gson, y la aplicación Android usa HttpURLConnection y org.json, lo que confirma la interoperabilidad del servicio y mantiene centralizadas las reglas y los cálculos.</a:t>
            </a:r>
            <a:endParaRPr sz="1900"/>
          </a:p>
        </p:txBody>
      </p:sp>
      <p:sp>
        <p:nvSpPr>
          <p:cNvPr id="693" name="Google Shape;693;p8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8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RECOMENDACIONES</a:t>
            </a:r>
            <a:endParaRPr/>
          </a:p>
        </p:txBody>
      </p:sp>
      <p:sp>
        <p:nvSpPr>
          <p:cNvPr id="699" name="Google Shape;699;p86"/>
          <p:cNvSpPr txBox="1">
            <a:spLocks noGrp="1"/>
          </p:cNvSpPr>
          <p:nvPr>
            <p:ph type="body" idx="1"/>
          </p:nvPr>
        </p:nvSpPr>
        <p:spPr>
          <a:xfrm>
            <a:off x="581200" y="2025325"/>
            <a:ext cx="8500800" cy="42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>
                <a:latin typeface="Cambria"/>
                <a:ea typeface="Cambria"/>
                <a:cs typeface="Cambria"/>
                <a:sym typeface="Cambria"/>
              </a:rPr>
              <a:t>Verificar la dirección del servidor configurada en cada cliente antes de ejecutarlo: rest.base.url o REST_BASE_URL en la consola, api.base en el escritorio (propiedad del sistema) y en la web (web.xml), y servidor.url en el cliente móvil.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>
                <a:latin typeface="Cambria"/>
                <a:ea typeface="Cambria"/>
                <a:cs typeface="Cambria"/>
                <a:sym typeface="Cambria"/>
              </a:rPr>
              <a:t>Mantener sincronizadas las rutas y el formato JSON del servidor con los cuatro clientes cuando cambien recursos o parámetros, e implementar en una segunda fase las conversiones de volumen, tiempo y área, que por ahora solo están disponibles para consulta.</a:t>
            </a: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 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 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>
                <a:latin typeface="Cambria"/>
                <a:ea typeface="Cambria"/>
                <a:cs typeface="Cambria"/>
                <a:sym typeface="Cambria"/>
              </a:rPr>
              <a:t>Considerar como trabajo futuro la persistencia, el historial y el refuerzo de seguridad para despliegues productivos, y publicar el servicio mediante HTTPS; el cliente móvil solo admite HTTP hacia direcciones locales durante el desarrollo.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00" name="Google Shape;700;p8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5550</Words>
  <Application>Microsoft Office PowerPoint</Application>
  <PresentationFormat>Panorámica</PresentationFormat>
  <Paragraphs>956</Paragraphs>
  <Slides>49</Slides>
  <Notes>49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5" baseType="lpstr">
      <vt:lpstr>Arial</vt:lpstr>
      <vt:lpstr>Cambria</vt:lpstr>
      <vt:lpstr>Gill Sans</vt:lpstr>
      <vt:lpstr>Calibri</vt:lpstr>
      <vt:lpstr>Noto Sans Symbols</vt:lpstr>
      <vt:lpstr>Dividendo</vt:lpstr>
      <vt:lpstr>MANUAL CONVERSIÓN UNIDADES RESTFUL JAVA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revil</dc:creator>
  <cp:lastModifiedBy>Antonio Revilla</cp:lastModifiedBy>
  <cp:revision>19</cp:revision>
  <dcterms:modified xsi:type="dcterms:W3CDTF">2026-10-28T23:28:23Z</dcterms:modified>
</cp:coreProperties>
</file>