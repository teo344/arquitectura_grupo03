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5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9" r:id="rId28"/>
    <p:sldId id="330" r:id="rId29"/>
    <p:sldId id="331" r:id="rId30"/>
    <p:sldId id="310" r:id="rId31"/>
    <p:sldId id="311" r:id="rId32"/>
    <p:sldId id="313" r:id="rId33"/>
    <p:sldId id="314" r:id="rId34"/>
    <p:sldId id="315" r:id="rId35"/>
    <p:sldId id="332" r:id="rId36"/>
    <p:sldId id="333" r:id="rId37"/>
    <p:sldId id="317" r:id="rId38"/>
    <p:sldId id="318" r:id="rId39"/>
    <p:sldId id="319" r:id="rId40"/>
    <p:sldId id="320" r:id="rId41"/>
    <p:sldId id="321" r:id="rId42"/>
    <p:sldId id="334" r:id="rId43"/>
    <p:sldId id="335" r:id="rId44"/>
    <p:sldId id="323" r:id="rId45"/>
    <p:sldId id="324" r:id="rId46"/>
    <p:sldId id="325" r:id="rId47"/>
    <p:sldId id="326" r:id="rId48"/>
    <p:sldId id="327" r:id="rId49"/>
    <p:sldId id="328" r:id="rId50"/>
    <p:sldId id="329" r:id="rId51"/>
  </p:sldIdLst>
  <p:sldSz cx="12192000" cy="6858000"/>
  <p:notesSz cx="6858000" cy="9144000"/>
  <p:embeddedFontLst>
    <p:embeddedFont>
      <p:font typeface="Cambria" panose="02040503050406030204" pitchFamily="18" charset="0"/>
      <p:regular r:id="rId53"/>
      <p:bold r:id="rId54"/>
      <p:italic r:id="rId55"/>
      <p:boldItalic r:id="rId56"/>
    </p:embeddedFont>
    <p:embeddedFont>
      <p:font typeface="Gill Sans" panose="020B0604020202020204" charset="0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54632a9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g3a854632a9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854632a9a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g3a854632a9a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854632a9a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g3a854632a9a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854632a9a_2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g3a854632a9a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854632a9a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9" name="Google Shape;599;g3a854632a9a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854632a9a_2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1" name="Google Shape;631;g3a854632a9a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854632a9a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g3a854632a9a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854632a9a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g3a854632a9a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854632a9a_2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1" name="Google Shape;681;g3a854632a9a_2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.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SOAP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</a:t>
            </a:r>
            <a:r>
              <a:rPr lang="es-MX">
                <a:solidFill>
                  <a:schemeClr val="lt1"/>
                </a:solidFill>
              </a:rPr>
              <a:t>CRIOLLO MATEO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HERNÁNDEZ CARLOS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REVILLA ANTONIO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589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GRUPO: 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24/10/2026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JAVA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utilizando SOAP </a:t>
            </a:r>
            <a:r>
              <a:rPr lang="es-MX">
                <a:latin typeface="Cambria"/>
                <a:ea typeface="Cambria"/>
                <a:cs typeface="Cambria"/>
                <a:sym typeface="Cambria"/>
              </a:rPr>
              <a:t>mediante JAVA, sin base de datos, para realizar conversiones de unidades de longitud, masa y temperatura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Servidor Payara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En primer lugar, en NetBeans 31, en la sección de Servicios se crea un servidor, específicamente Payara.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613" y="3539075"/>
            <a:ext cx="45624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selecciona la versión 7.2026.4, se aceptan los términos de condiciones y se selecciona un directorio donde instalar 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AD6A27-E6B7-D678-0542-34590ECD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225" y="3206645"/>
            <a:ext cx="4586162" cy="3435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Para terminar la configuración del servidor de payara se configura un nombre de dominio, un host (en nuestro caso, loopback) y </a:t>
            </a: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se cambian los puertos si se desea; el proyecto usa el puerto HTTP 8080.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DC47-D5CE-7937-A6A7-98195DB2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59"/>
          <a:stretch/>
        </p:blipFill>
        <p:spPr>
          <a:xfrm>
            <a:off x="2108959" y="3282207"/>
            <a:ext cx="5533766" cy="3177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Una vez creado el servidor, </a:t>
            </a:r>
            <a:r>
              <a:rPr lang="es-MX">
                <a:latin typeface="Cambria"/>
                <a:ea typeface="Cambria"/>
                <a:cs typeface="Cambria"/>
                <a:sym typeface="Cambria"/>
              </a:rPr>
              <a:t>se crea un proyecto Java with Maven de tipo Web Application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463" y="3549050"/>
            <a:ext cx="46767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aplica el nombre del proyecto como ‘WS_CON_UNI_JAVA_SOAP’, y se configura el grupo como ‘</a:t>
            </a:r>
            <a:r>
              <a:rPr lang="es-ES" sz="1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ec.edu</a:t>
            </a: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.monster’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selecciona nuestro Servidor Payara creado y Jakarta EE 11 como conjunto de desarrollo de aplicaciones Java.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900" y="3251850"/>
            <a:ext cx="46005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57AF10F-BB90-5D19-5C56-CD0533230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60" y="3329471"/>
            <a:ext cx="4028139" cy="2826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Aplicando el patrón MVC junto a otras capas, se crean los paquetes principales dentro de ec.edu.monster: controladores.wservicios, modelo, vista, servicios, servicios.conversores y seguridad.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EF40FC-14AA-152B-5E07-2DBA6D4AD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013" y="2792361"/>
            <a:ext cx="3728374" cy="2742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Creación del WebService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Dentro del paquete controladores.wservicios se crea un webservice con New &gt; Web Service.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crean dos servicios: AutenticacionWS (público, login) y ConversionUnidadesWS (protegido, catálogo y conversiones).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08B82A-7E59-80A8-0FD3-6292A8D7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0" y="3668990"/>
            <a:ext cx="4140354" cy="292260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8C5F714-96C4-9E30-F7FC-393622C83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241" y="4849697"/>
            <a:ext cx="4039164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Se codifica el webservice bajo los siguientes lineamientos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1. AutenticacionWS expone la operación login, que devuelve el token de sesión.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3087486904"/>
              </p:ext>
            </p:extLst>
          </p:nvPr>
        </p:nvGraphicFramePr>
        <p:xfrm>
          <a:off x="3395925" y="2866125"/>
          <a:ext cx="5400050" cy="2473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@WebService(serviceName = "AutenticacionWS")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AutenticacionWS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ServicioAutenticacion servicioAutenticacion;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RespuestaMapeador mapeador;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"login")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login(@WebParam(name = "usuario") String usuario,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"clave") String clave)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mapeador.deToken(servicioAutenticacion.login(usuario, clave));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2. Se configura el endpoint de ConversionUnidadesWS y su manejador (@HandlerChain).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3. Se inyectan con @Inject los servicios y el mapeador de respuestas.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2716891960"/>
              </p:ext>
            </p:extLst>
          </p:nvPr>
        </p:nvGraphicFramePr>
        <p:xfrm>
          <a:off x="3701450" y="2180500"/>
          <a:ext cx="5400050" cy="6299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@WebService(serviceName = "ConversionUnidadesWS")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@HandlerChain(file = "ConversionUnidadesWS_handler.xml")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ConversionUnidadesWS {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1142506872"/>
              </p:ext>
            </p:extLst>
          </p:nvPr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ServicioCatalogo servicioCatalogo;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ServicioConversion servicioConversion;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RespuestaMapeador mapeador;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4. Se crean las operaciones de catálogo y conversión; el token viaja en la cabecera SOAP (header = true).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3726363556"/>
              </p:ext>
            </p:extLst>
          </p:nvPr>
        </p:nvGraphicFramePr>
        <p:xfrm>
          <a:off x="3917100" y="1928900"/>
          <a:ext cx="4894525" cy="45336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"consultarCatalogo")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consultarCatalogo(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"token", header = true) String token)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mapeador.deCatalogo(servicioCatalogo.categorias());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"consultarUnidades")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consultarUnidades(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"token", header = true) String token,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"categoria") String categoria)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mapeador.deUnidades(servicioCatalogo.unidades(categoria));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"convertirLongitud")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convertirLongitud(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"token", header = true) String token,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"solicitud") SolicitudConversionDto solicitud)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convertir(Categoria.LONGITUD,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 	Autenticación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>
                <a:latin typeface="Cambria"/>
                <a:ea typeface="Cambria"/>
                <a:cs typeface="Cambria"/>
                <a:sym typeface="Cambria"/>
              </a:rPr>
              <a:t>Una clase importante a mencionar es el ManejadorAutenticacion.java, que sirve como un middleware en servicios SOAP con el fin de autenticar debidamente antes de permitir el paso a los métodos del WebService. Esta clase se crea en Web Services &gt; Message Handler.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CCF490-5985-75C4-5E7D-6D0231B2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923" y="3853815"/>
            <a:ext cx="7363853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Esta clase se apoya en GestorToken, que valida las credenciales y administra en memoria los tokens; el usuario (MONSTER), la clave (MONSTER9) y la duración del token (30 minutos) se leen de microprofile-config.properties.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Es fundamental crear el archivo ConversionUnidadesWS_handler.xml dentro de los recursos, que mapea la clase para que el servicio ejecute el handler mediante @HandlerChain.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593359223"/>
              </p:ext>
            </p:extLst>
          </p:nvPr>
        </p:nvGraphicFramePr>
        <p:xfrm>
          <a:off x="4024925" y="4574350"/>
          <a:ext cx="4894525" cy="2215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5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Duracion del token de acceso en minutos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token.minutos=30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MX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Credenciales iniciales (al reiniciar el servidor se vuelve a estas)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usuario.nombre=MONSTER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usuario.clave=MONSTER9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7E5FB891-6E73-79A2-8476-A3B63A40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3010308"/>
            <a:ext cx="5189605" cy="14456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El método handleMessage lee el token de la cabecera SOAP, lo valida con GestorToken y, si no es válido, responde un SOAPFault (AUTH-001 o AUTH-002).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3308180263"/>
              </p:ext>
            </p:extLst>
          </p:nvPr>
        </p:nvGraphicFramePr>
        <p:xfrm>
          <a:off x="2964625" y="1876275"/>
          <a:ext cx="6062675" cy="3302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ManejadorAutenticacion implements SOAPHandler&lt;SOAPMessageContext&gt;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final String PROPIEDAD_USUARIO = "usuario";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ELEMENTO_TOKEN = "token";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GestorToken gestorToken;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handleMessage(SOAPMessageContext contexto)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((Boolean) contexto.get(MessageContext.MESSAGE_OUTBOUND_PROPERTY))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usuario = gestorToken.validar(leerToken(contexto));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contexto.put(PROPIEDAD_USUARIO, usuario);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contexto.setScope(PROPIEDAD_USUARIO, MessageContext.Scope.APPLICATION);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(ExcepcionServicio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SOAPFaultException(crearFault(e.getFaultInfo()));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2033648469"/>
              </p:ext>
            </p:extLst>
          </p:nvPr>
        </p:nvGraphicFramePr>
        <p:xfrm>
          <a:off x="3017313" y="3676500"/>
          <a:ext cx="6062675" cy="21386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ec.edu.monster.servicios.conversores;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ec.edu.monster.modelo.Categoria;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ec.edu.monster.modelo.Unidad;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boolean soporta(Categoria categoria);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double convertir(double valor, Unidad origen, Unidad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>
            <p:extLst>
              <p:ext uri="{D42A27DB-BD31-4B8C-83A1-F6EECF244321}">
                <p14:modId xmlns:p14="http://schemas.microsoft.com/office/powerpoint/2010/main" val="1429408231"/>
              </p:ext>
            </p:extLst>
          </p:nvPr>
        </p:nvGraphicFramePr>
        <p:xfrm>
          <a:off x="3017313" y="1838175"/>
          <a:ext cx="6062675" cy="3022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ec.edu.monster.servicios.conversores;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ec.edu.monster.modelo.Categoria;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ec.edu.monster.modelo.Unidad;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jakarta.enterprise.context.ApplicationScoped;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ConversorLineal implements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soporta(Categoria categoria)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categoria == Categoria.LONGITUD || categoria == Categoria.MASA;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 * origen.getFactor() / destino.getFactor();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4090042235"/>
              </p:ext>
            </p:extLst>
          </p:nvPr>
        </p:nvGraphicFramePr>
        <p:xfrm>
          <a:off x="2891513" y="2209650"/>
          <a:ext cx="6062675" cy="4516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implements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soporta(Categoria categoria)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categoria == Categoria.TEMPERATURA;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desdeCelsius(aCelsius(valor, origen),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double aCelsius(double v, Unidad unidad)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switch (unidad)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C -&gt; v;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K -&gt; v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F -&gt; (v - 32) * 5 / 9;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N -&gt; v * 100 / 33;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RE -&gt; v * 5 /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default -&gt; throw new IllegalArgumentException("No es unidad de temperatura: " + unidad);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Aplicando una interfaz con el fin de hacer que el servicio pueda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3572223093"/>
              </p:ext>
            </p:extLst>
          </p:nvPr>
        </p:nvGraphicFramePr>
        <p:xfrm>
          <a:off x="2891513" y="2557313"/>
          <a:ext cx="6062675" cy="3784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ServicioConversion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ServicioValidacion validacion;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Instance&lt;Conversor&gt; 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ResultadoConversion convertir(Categoria categoria, Double valor, String origen, String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Unidad[] unidades = validacion.validarConversion(categoria, 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Conversor conversor = conversores.stream()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.filter(c -&gt; c.soporta(categoria))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.findFirst()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.orElseThrow(() -&gt; new ExcepcionServicio(CodigoError.DATA_001));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resultado = conversor.convertir(valor, unidades[0], unidades[1]);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new ResultadoConversion(redondear(resultado), unidades[0], unidades[1]);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1.2.6 	Ejecución en Servidor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>
                <a:latin typeface="Cambria"/>
                <a:ea typeface="Cambria"/>
                <a:cs typeface="Cambria"/>
                <a:sym typeface="Cambria"/>
              </a:rPr>
              <a:t>Se ejecuta el programa corriendo en nuestro servidor payara y se comprueba que el contrato WSDL esté correcto en la ruta (Dejamos anteriormente que Payara corra por defecto en 8080): http://localhost:8080/WS_CON_UNI_JAVA_SOAP/ConversionUnidadesWS?wsdl (igual para AutenticacionWS)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22B9C6-991D-FAC4-8D99-0C2B21F8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85"/>
          <a:stretch/>
        </p:blipFill>
        <p:spPr>
          <a:xfrm>
            <a:off x="3616890" y="2674374"/>
            <a:ext cx="5575567" cy="35502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el cliente consola se usó NetBeans: se crea un nuevo proyecto con la categoría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Maven y el tipo de proyecto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Se asigna el nombre ConUni_ClienteConsola_GR3, se selecciona como ubicación la carpeta 04. CLICON y se configura el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Group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Id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ec.edu.monster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2909B7-B4FE-214A-C55E-9EB24867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418" y="3803274"/>
            <a:ext cx="3845397" cy="263307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4B1942-FD4A-4343-6E76-76E916120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41" y="3803274"/>
            <a:ext cx="3705672" cy="26340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Una vez creado el proyecto se generan los paquetes donde se colocarán los archivos con código fuente: client.ws (acceso al servicio SOAP), ec.edu.monster.modelo, ec.edu.monster.vista, ec.edu.monster.controlador y ec.edu.monster.util.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356F7B-4F3D-2F39-15E3-85AD18BE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87" y="4006344"/>
            <a:ext cx="3463065" cy="24574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3563822675"/>
              </p:ext>
            </p:extLst>
          </p:nvPr>
        </p:nvGraphicFramePr>
        <p:xfrm>
          <a:off x="2964625" y="1876275"/>
          <a:ext cx="606267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@WebService(name = "ConversionUnidadesWS", targetNamespace = "http://wservicios.controladores.monster.edu.ec/")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@SOAPBinding(parameterStyle = SOAPBinding.ParameterStyle.WRAPPED)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ContratoWSConversor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"consultarCatalogo")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@WebResult(name = "return")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Respuesta consultarCatalogo();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"consultarUnidades")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@WebResult(name = "return")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Respuesta consultarUnidades(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"categoria") String categoria);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"convertirLongitud")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@WebResult(name = "return")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Respuesta convertirLongitud(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"solicitud") Solicitud solicitud);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8" name="Google Shape;328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9" name="Google Shape;329;p41"/>
          <p:cNvGraphicFramePr/>
          <p:nvPr>
            <p:extLst>
              <p:ext uri="{D42A27DB-BD31-4B8C-83A1-F6EECF244321}">
                <p14:modId xmlns:p14="http://schemas.microsoft.com/office/powerpoint/2010/main" val="1691244129"/>
              </p:ext>
            </p:extLst>
          </p:nvPr>
        </p:nvGraphicFramePr>
        <p:xfrm>
          <a:off x="2964625" y="1876275"/>
          <a:ext cx="606267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ClienteWSConversor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ESPACIO_NOMBRES = "http://wservicios.controladores.monster.edu.ec/";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PROPIEDAD_BASE_WS = "ws.base.url";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VARIABLE_BASE_WS = "WS_BASE_URL";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QName QNOMBRE_SERVICIO = new QName(ESPACIO_NOMBRES, "ConversionUnidadesWS");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QName QNOMBRE_PUERTO = new QName(ESPACIO_NOMBRES, "ConversionUnidadesWSPort");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QName QNOMBRE_SERVICIO_LOGIN = new QName(ESPACIO_NOMBRES, "AutenticacionWS");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QName QNOMBRE_PUERTO_LOGIN = new QName(ESPACIO_NOMBRES, "AutenticacionWSPort");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List&lt;String&gt; BASES_URL_POR_DEFECTO = List.of(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"http://localhost:8080/WS_CON_UNI_JAVA_SOAP"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185177279"/>
              </p:ext>
            </p:extLst>
          </p:nvPr>
        </p:nvGraphicFramePr>
        <p:xfrm>
          <a:off x="2278500" y="1818850"/>
          <a:ext cx="543942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 token = proveedorToken.get();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(token == null || token.isBlank())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RuntimeException("No hay sesion activa. Debe autenticarse primero.");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var mensaje = contexto.getMessage();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SOAPEnvelope sobre = mensaje.getSOAPPart().getEnvelope();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SOAPHeader encabezado = mensaje.getSOAPHeader();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(encabezado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encabezado = sobre.addHeader();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QName nombreToken = new QName("http://wservicios.controladores.monster.edu.ec/", "token", "ws");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encabezado.addHeaderElement(nombreToken).addTextNode(token);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mensaje.saveChanges();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true;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(usuario MONSTER, clave MONSTER9)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034273-3D07-2BC2-50DA-D4D35DC04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052" y="2899463"/>
            <a:ext cx="6394309" cy="23710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1.4 	CREACIÓN DEL PROYECTO CLIENTE ESCRITORIO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NetBeans se crea un proyecto Java with Maven de tipo Java Application con el nombre Convertidor_CLIESC; el proyecto utiliza Java 25 y Java Swing para las ventanas.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Con New &gt; Web Service Client se agregan los WSDL de AutenticacionWS y ConversionUnidadesWS; el plugin jaxws-maven-plugin (wsimport) genera las clases cliente en ec.edu.monster.servicio.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545;p67">
            <a:extLst>
              <a:ext uri="{FF2B5EF4-FFF2-40B4-BE49-F238E27FC236}">
                <a16:creationId xmlns:a16="http://schemas.microsoft.com/office/drawing/2014/main" id="{2D48339E-B716-3532-1E20-D2619FA1F2E7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E9C3DE-61CE-D319-487F-B869653E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305" y="4399644"/>
            <a:ext cx="4199446" cy="169810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46BACB-8924-D8DC-8424-3FBDD3D13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12" y="3998687"/>
            <a:ext cx="3392277" cy="238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80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1.4 	CREACIÓN DEL PROYECTO CLIENTE ESCRITORIO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src/main/java se crean los paquetes ec.edu.monster.controlador, ec.edu.monster.modelo, ec.edu.monster.servicio y ec.edu.monster.vista. Las llamadas SOAP se ejecutan en segundo plano con SwingWorker para no bloquear la interfaz.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545;p67">
            <a:extLst>
              <a:ext uri="{FF2B5EF4-FFF2-40B4-BE49-F238E27FC236}">
                <a16:creationId xmlns:a16="http://schemas.microsoft.com/office/drawing/2014/main" id="{78AF3447-0EDB-8137-D7FE-3F1A22A43530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325F15-8B0B-5CE8-843F-69DFC883B6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05" y="4274820"/>
            <a:ext cx="3743325" cy="176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45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6" name="Google Shape;546;p67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47" name="Google Shape;547;p67"/>
          <p:cNvGraphicFramePr/>
          <p:nvPr>
            <p:extLst>
              <p:ext uri="{D42A27DB-BD31-4B8C-83A1-F6EECF244321}">
                <p14:modId xmlns:p14="http://schemas.microsoft.com/office/powerpoint/2010/main" val="2570164878"/>
              </p:ext>
            </p:extLst>
          </p:nvPr>
        </p:nvGraphicFramePr>
        <p:xfrm>
          <a:off x="2332838" y="2136238"/>
          <a:ext cx="6484300" cy="4023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public class AutenticacionSoapService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private final String endpoint;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public AutenticacionSoapService()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String baseUrl = System.getProperty("monster.soap.baseUrl", "http://localhost:8080/WS_CON_UNI_JAVA_SOAP");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this.endpoint = baseUrl.replaceAll("/$", "") + "/AutenticacionWS";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public SesionUsuario iniciarSesion(String usuario, String clave) throws Exception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AutenticacionWS_Service service = new AutenticacionWS_Service();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AutenticacionWS port = service.getAutenticacionWSPort();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jakarta.xml.ws.BindingProvider binding = (jakarta.xml.ws.BindingProvider) port;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binding.getRequestContext().put(jakarta.xml.ws.BindingProvider.ENDPOINT_ADDRESS_PROPERTY, endpoint);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Respuesta respuesta = port.login(usuario, clave);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3" name="Google Shape;553;p6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4" name="Google Shape;554;p68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55" name="Google Shape;555;p68"/>
          <p:cNvGraphicFramePr/>
          <p:nvPr>
            <p:extLst>
              <p:ext uri="{D42A27DB-BD31-4B8C-83A1-F6EECF244321}">
                <p14:modId xmlns:p14="http://schemas.microsoft.com/office/powerpoint/2010/main" val="4069206928"/>
              </p:ext>
            </p:extLst>
          </p:nvPr>
        </p:nvGraphicFramePr>
        <p:xfrm>
          <a:off x="2332838" y="2136238"/>
          <a:ext cx="6484300" cy="4023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new SwingWorker&lt;SesionUsuario, Void&gt;()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@Override protected SesionUsuario doInBackground() throws Exception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return autenticacion.iniciarSesion(usuario, clave);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@Override protected void done()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vista.setProcesando(false);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try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    SesionUsuario sesion = get();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    MenuView menu = new MenuView(sesion);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    new MenuController(menu);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    vista.dispose();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chemeClr val="dk1"/>
                          </a:solidFill>
                        </a:rPr>
                        <a:t>                    menu.setVisible(true);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B51ADC-C8F1-C5A4-3A23-7AABA9E83C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794000"/>
            <a:ext cx="5734050" cy="29857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4DF151-D432-D7F7-AD07-E9F728BBFF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794000"/>
            <a:ext cx="5734050" cy="29235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85" name="Google Shape;585;p7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6" name="Google Shape;586;p7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61E0E9-3334-D6C8-9113-DEC25A0AFC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794000"/>
            <a:ext cx="5734050" cy="29349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1.5 	CREACIÓN DEL PROYECTO CLIENTE WEB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NetBeans se crea un proyecto Java with Maven de tipo Web Application con el nombre WS_CON_UNI_JAVA_SOAP_CLIWEB, el Group Id ec.edu.monster, el servidor Payara y Jakarta EE 11 Web.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Igual que en el escritorio, con New &gt; Web Service Client se agregan los dos WSDL y el plugin jaxws-maven-plugin genera las clases cliente en ec.edu.monster.servicio.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02;p74">
            <a:extLst>
              <a:ext uri="{FF2B5EF4-FFF2-40B4-BE49-F238E27FC236}">
                <a16:creationId xmlns:a16="http://schemas.microsoft.com/office/drawing/2014/main" id="{7CC866AA-A9AB-B3FD-D13F-23BE19DEF7A5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7F0387-9146-5077-8E5E-F16638F7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25" y="3872174"/>
            <a:ext cx="3625504" cy="25289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78C4757-04E1-6184-F12F-0EB37910A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2" y="3872174"/>
            <a:ext cx="3647920" cy="252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22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1.5 	CREACIÓN DEL PROYECTO CLIENTE WEB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crean los paquetes ec.edu.monster.controlador (servlets), ec.edu.monster.modelo y ec.edu.monster.servicio, la carpeta WEB-INF/vista para las páginas JSP y la carpeta css para la hoja de estilos.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BF3CE21-B6C5-EC3C-9DF7-1DB1A3AB946E}"/>
              </a:ext>
            </a:extLst>
          </p:cNvPr>
          <p:cNvSpPr/>
          <p:nvPr/>
        </p:nvSpPr>
        <p:spPr>
          <a:xfrm>
            <a:off x="2668905" y="3950589"/>
            <a:ext cx="3743325" cy="2409825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paquetes y carpetas WEB-INF/vista y css del proyecto WS_CON_UNI_JAVA_SOAP_CLIWEB]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602;p74">
            <a:extLst>
              <a:ext uri="{FF2B5EF4-FFF2-40B4-BE49-F238E27FC236}">
                <a16:creationId xmlns:a16="http://schemas.microsoft.com/office/drawing/2014/main" id="{27573CE4-8302-AFD8-7152-370A169E6D85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15A05E-C0B2-F182-8A0B-79E100BF2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037" y="3840867"/>
            <a:ext cx="436305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2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02" name="Google Shape;602;p7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03" name="Google Shape;603;p74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04" name="Google Shape;604;p74"/>
          <p:cNvGraphicFramePr/>
          <p:nvPr>
            <p:extLst>
              <p:ext uri="{D42A27DB-BD31-4B8C-83A1-F6EECF244321}">
                <p14:modId xmlns:p14="http://schemas.microsoft.com/office/powerpoint/2010/main" val="3573961125"/>
              </p:ext>
            </p:extLst>
          </p:nvPr>
        </p:nvGraphicFramePr>
        <p:xfrm>
          <a:off x="2332838" y="2061838"/>
          <a:ext cx="6484300" cy="446502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/** Las vistas que requieren sesión redirigen al login si no hay usuario autenticado. */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@WebFilter({"/menu", "/conversion", "/catalogo"})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FiltroSesion extends HttpFilter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protected void doFilter(HttpServletRequest req, HttpServletResponse resp, FilterChain cadena)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throws IOException, ServletException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HttpSession sesion = req.getSession(false);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(sesion == null || sesion.getAttribute(ControladorBase.ATRIBUTO_SESION)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resp.sendRedirect(req.getContextPath() + "/login");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cadena.doFilter(req, resp);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1" name="Google Shape;611;p75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2160126426"/>
              </p:ext>
            </p:extLst>
          </p:nvPr>
        </p:nvGraphicFramePr>
        <p:xfrm>
          <a:off x="2332825" y="1795025"/>
          <a:ext cx="6484300" cy="446502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void convertir(HttpServletRequest req, String token, Categoria categoria, Unidad origen, Unidad destino)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(categoria == null || origen == null || destino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mostrarEstado(req, "No hay categoría o unidades disponibles.", 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final double valor;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valor = Double.parseDouble(req.getParameter("valor").trim().replace(',', '.'));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(!Double.isFinite(valor)) throw new NumberFormatException();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(NumberFormatException | NullPointerException ex)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mostrarEstado(req, "Ingresa un valor numérico válido.", 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Respuesta respuesta = servicio.convertir(token, categoria.getCodigo(), valor,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origen.getCodigo(), destino.getCodigo());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(respuesta.getResultado()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mostrarEstado(req, "El servidor no devolvió un resultado.", 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resultado = formatear(respuesta.getResultado());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historial(req).add(0, new RegistroConversion(LocalDateTime.now().format(FORMATO_FECHA),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formatear(valor) + " " + origen.getSimbolo() + " → " + resultado + " " + destino.getSimbolo()));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mostrarEstado(req, "Resultado: " + resultado + " " + destino.getSimbolo(), 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90099F-7399-FF55-A24F-5F0A8E48D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395" y="2763042"/>
            <a:ext cx="6617109" cy="33570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A17A22-ED59-7095-C755-BC00CFF4C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09" y="2610549"/>
            <a:ext cx="7565682" cy="380876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34" name="Google Shape;634;p7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5" name="Google Shape;635;p78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C5F6A7-9B66-49B9-0E31-75C96A174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126" y="2763042"/>
            <a:ext cx="6879648" cy="34742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1.6 	CREACIÓN DEL PROYECTO CLIENTE MÓVIL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Android Studio se selecciona File &gt; New &gt; New Project y la plantilla Empty Activity, que utiliza Jetpack Compose.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configura el nombre ConUni_ClienteMovil_GR3, el paquete ec.edu.monster, el SDK mínimo API 24 y Kotlin DSL (build.gradle.kts) para la compilación.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53;p80">
            <a:extLst>
              <a:ext uri="{FF2B5EF4-FFF2-40B4-BE49-F238E27FC236}">
                <a16:creationId xmlns:a16="http://schemas.microsoft.com/office/drawing/2014/main" id="{EF7896BA-4D91-E7F6-7BBA-77B96C680E52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3064EC-945B-9097-2AF1-2A02CFD4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78" y="3844648"/>
            <a:ext cx="3468467" cy="25935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75F6BCB-02B4-1701-688C-A3818717D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688" y="3844648"/>
            <a:ext cx="4655169" cy="259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79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1.6 	CREACIÓN DEL PROYECTO CLIENTE MÓVIL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Dentro de ec.edu.monster se crean los paquetes del patrón MVC: modelo, servicio y controlador en Java, y vista con las pantallas en Kotlin y Jetpack Compose.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53;p80">
            <a:extLst>
              <a:ext uri="{FF2B5EF4-FFF2-40B4-BE49-F238E27FC236}">
                <a16:creationId xmlns:a16="http://schemas.microsoft.com/office/drawing/2014/main" id="{6EFF0863-DD8D-55CB-DE9E-3F43F27B61EB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667F71-A5ED-C337-685C-01BCD3A7E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722"/>
          <a:stretch/>
        </p:blipFill>
        <p:spPr>
          <a:xfrm>
            <a:off x="3127710" y="3640860"/>
            <a:ext cx="2808300" cy="293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74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1948563579"/>
              </p:ext>
            </p:extLst>
          </p:nvPr>
        </p:nvGraphicFramePr>
        <p:xfrm>
          <a:off x="2332838" y="2061638"/>
          <a:ext cx="6484300" cy="4493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93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static String construirSobre(String operacion, String token, String parametros)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StringBuilder sobre = new StringBuilder()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.append("&lt;soapenv:Envelope xmlns:soapenv=\"http://schemas.xmlsoap.org/soap/envelope/\"")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.append(" xmlns:ws=\"").append(ESPACIO_NOMBRES).append("\"&gt;");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(token !=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sobre.append("&lt;soapenv:Header&gt;&lt;ws:token&gt;").append(escapar(token)).append("&lt;/ws:token&gt;&lt;/soapenv:Header&gt;");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sobre.append("&lt;soapenv:Body&gt;&lt;ws:").append(operacion).append('&gt;')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.append(parametros == null ? "" : parametros)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.append("&lt;/ws:").append(operacion).append("&gt;&lt;/soapenv:Body&gt;&lt;/soapenv:Envelope&gt;")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.toString();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4" name="Google Shape;654;p80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81"/>
          <p:cNvGraphicFramePr/>
          <p:nvPr>
            <p:extLst>
              <p:ext uri="{D42A27DB-BD31-4B8C-83A1-F6EECF244321}">
                <p14:modId xmlns:p14="http://schemas.microsoft.com/office/powerpoint/2010/main" val="729514929"/>
              </p:ext>
            </p:extLst>
          </p:nvPr>
        </p:nvGraphicFramePr>
        <p:xfrm>
          <a:off x="2332825" y="1795025"/>
          <a:ext cx="6484300" cy="4318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Mismo paquete base que los clientes de consola y escritorio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namespace = "ec.edu.monster"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compileSdk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 = release(37)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defaultConfig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applicationId = "ec.edu.monster.cliente_movil"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minSdk = 24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targetSdk = 37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versionCode = 1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versionName = "1.0"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URL del servidor SOAP: se cambia en gradle.properties (servidor.url)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val urlServidor = providers.gradleProperty("servidor.url")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.getOrElse("http://10.0.2.2:8080/WS_CON_UNI_JAVA_SOAP")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buildConfigField("String", "URL_SERVIDOR", "\"$urlServidor\"")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8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1" name="Google Shape;661;p8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62" name="Google Shape;662;p81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D086E4-F002-E455-A83D-48F8EA5C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615" y="1881101"/>
            <a:ext cx="221127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76" name="Google Shape;676;p8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7" name="Google Shape;677;p83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81933B-D4B2-28CA-759D-6AC55CD4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231" y="1868297"/>
            <a:ext cx="2210037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84" name="Google Shape;684;p8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85" name="Google Shape;685;p84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0B6DF7-5FA5-1C56-FC7B-FF0E28E2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816" y="1858850"/>
            <a:ext cx="2248867" cy="483544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El proyecto implementó un backend SOAP en Java sin base de datos, desplegado en Payara Server con JAX-WS, que ofrece la consulta de seis categorías y la conversión de longitud, masa y temperatura, protegiendo el catálogo y las conversiones con token. Los cuatro clientes consumen el mismo contrato WSDL con técnicas distintas: la consola, el escritorio y la web usan JAX-WS (Metro), mientras que la aplicación Android arma y lee los sobres SOAP directamente, lo que confirma la interoperabilidad del servicio y mantiene centralizadas en el servidor las reglas y los cálculos.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Verificar la dirección del servidor configurada en cada cliente antes de ejecutarlo: ws.base.url o WS_BASE_URL en la consola, monster.soap.baseUrl en el escritorio y la web, y servidor.url en el cliente móvil.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Mantener sincronizados el contrato WSDL y los cuatro clientes cuando cambien operaciones o parámetros, e implementar en una segunda fase las conversiones de volumen, tiempo y área, que por ahora solo están disponibles para consulta.</a:t>
            </a: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Considerar como trabajo futuro la persistencia y el refuerzo de seguridad, y publicar el servicio mediante HTTPS en un entorno productivo; el cliente móvil solo admite HTTP hacia direcciones locales durante el desarrollo.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5641</Words>
  <Application>Microsoft Office PowerPoint</Application>
  <PresentationFormat>Panorámica</PresentationFormat>
  <Paragraphs>982</Paragraphs>
  <Slides>50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6" baseType="lpstr">
      <vt:lpstr>Arial</vt:lpstr>
      <vt:lpstr>Gill Sans</vt:lpstr>
      <vt:lpstr>Noto Sans Symbols</vt:lpstr>
      <vt:lpstr>Cambria</vt:lpstr>
      <vt:lpstr>Calibri</vt:lpstr>
      <vt:lpstr>Dividendo</vt:lpstr>
      <vt:lpstr>MANUAL CONVERSIÓN UNIDADES SOAP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revil</dc:creator>
  <cp:lastModifiedBy>Antonio Revilla</cp:lastModifiedBy>
  <cp:revision>11</cp:revision>
  <dcterms:modified xsi:type="dcterms:W3CDTF">2026-10-26T23:11:20Z</dcterms:modified>
</cp:coreProperties>
</file>