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73" r:id="rId15"/>
    <p:sldId id="274" r:id="rId16"/>
    <p:sldId id="277" r:id="rId17"/>
    <p:sldId id="279" r:id="rId18"/>
    <p:sldId id="280" r:id="rId19"/>
    <p:sldId id="262" r:id="rId20"/>
    <p:sldId id="263" r:id="rId21"/>
    <p:sldId id="261" r:id="rId22"/>
    <p:sldId id="281" r:id="rId23"/>
    <p:sldId id="282" r:id="rId24"/>
    <p:sldId id="283" r:id="rId25"/>
    <p:sldId id="285" r:id="rId26"/>
    <p:sldId id="289" r:id="rId27"/>
    <p:sldId id="290" r:id="rId28"/>
    <p:sldId id="291" r:id="rId29"/>
    <p:sldId id="294" r:id="rId30"/>
    <p:sldId id="295" r:id="rId31"/>
    <p:sldId id="302" r:id="rId32"/>
    <p:sldId id="307" r:id="rId33"/>
    <p:sldId id="309" r:id="rId34"/>
    <p:sldId id="313" r:id="rId35"/>
    <p:sldId id="314" r:id="rId36"/>
    <p:sldId id="315" r:id="rId37"/>
    <p:sldId id="292" r:id="rId38"/>
    <p:sldId id="316" r:id="rId39"/>
    <p:sldId id="319" r:id="rId40"/>
    <p:sldId id="320" r:id="rId41"/>
    <p:sldId id="321" r:id="rId42"/>
    <p:sldId id="293" r:id="rId43"/>
    <p:sldId id="322" r:id="rId44"/>
    <p:sldId id="323" r:id="rId45"/>
    <p:sldId id="325" r:id="rId46"/>
    <p:sldId id="326" r:id="rId47"/>
    <p:sldId id="327" r:id="rId48"/>
    <p:sldId id="328" r:id="rId49"/>
    <p:sldId id="329" r:id="rId50"/>
  </p:sldIdLst>
  <p:sldSz cx="12192000" cy="6858000"/>
  <p:notesSz cx="6858000" cy="9144000"/>
  <p:embeddedFontLst>
    <p:embeddedFont>
      <p:font typeface="Cambria" panose="02040503050406030204" pitchFamily="18" charset="0"/>
      <p:regular r:id="rId52"/>
      <p:bold r:id="rId53"/>
      <p:italic r:id="rId54"/>
      <p:boldItalic r:id="rId55"/>
    </p:embeddedFont>
    <p:embeddedFont>
      <p:font typeface="Gill Sans" panose="020B0604020202020204" charset="0"/>
      <p:regular r:id="rId56"/>
      <p:bold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2.fntdata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6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1.fntdata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8526227be_0_4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3a8526227be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8526227be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7" name="Google Shape;127;g3a8526227be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8526227be_0_4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0" name="Google Shape;160;g3a8526227be_0_4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8526227be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" name="Google Shape;168;g3a8526227be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8526227be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7" name="Google Shape;177;g3a8526227be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8526227be_0_4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5" name="Google Shape;185;g3a8526227be_0_4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8526227be_0_4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g3a8526227be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8526227be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" name="Google Shape;210;g3a8526227be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a8526227be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3a8526227be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8526227be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g3a8526227be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8526227be_0_5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5" name="Google Shape;235;g3a8526227be_0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8526227be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3" name="Google Shape;243;g3a8526227be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8526227be_0_5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7" name="Google Shape;267;g3a8526227be_0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8526227be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3" name="Google Shape;283;g3a8526227be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8526227be_0_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g3a8526227be_0_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8526227be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a8526227be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8526227be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a8526227be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8526227be_0_4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g3a8526227be_0_4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854632a9a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6" name="Google Shape;316;g3a854632a9a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a854632a9a_2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3a854632a9a_2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a854632a9a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7" name="Google Shape;367;g3a854632a9a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a8526227be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5" name="Google Shape;375;g3a8526227be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a854632a9a_2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3" name="Google Shape;383;g3a854632a9a_2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854632a9a_2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0" name="Google Shape;410;g3a854632a9a_2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a854632a9a_2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9" name="Google Shape;419;g3a854632a9a_2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854632a9a_2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76" name="Google Shape;476;g3a854632a9a_2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854632a9a_2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6" name="Google Shape;516;g3a854632a9a_2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a854632a9a_2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32" name="Google Shape;532;g3a854632a9a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854632a9a_2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6" name="Google Shape;566;g3a854632a9a_2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a854632a9a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74" name="Google Shape;574;g3a854632a9a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a854632a9a_2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82" name="Google Shape;582;g3a854632a9a_2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854632a9a_2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2" name="Google Shape;392;g3a854632a9a_2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854632a9a_2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90" name="Google Shape;590;g3a854632a9a_2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854632a9a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15" name="Google Shape;615;g3a854632a9a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854632a9a_2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3" name="Google Shape;623;g3a854632a9a_2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a854632a9a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1" name="Google Shape;631;g3a854632a9a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854632a9a_2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1" name="Google Shape;401;g3a854632a9a_2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a8526227be_0_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9" name="Google Shape;639;g3a8526227be_0_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854632a9a_2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9" name="Google Shape;649;g3a854632a9a_2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854632a9a_2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65" name="Google Shape;665;g3a854632a9a_2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a854632a9a_2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73" name="Google Shape;673;g3a854632a9a_2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a854632a9a_2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1" name="Google Shape;681;g3a854632a9a_2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8526227be_0_6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9" name="Google Shape;689;g3a8526227be_0_6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a8526227be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6" name="Google Shape;696;g3a8526227be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>
                <a:solidFill>
                  <a:schemeClr val="lt1"/>
                </a:solidFill>
              </a:rPr>
              <a:t>MANUAL</a:t>
            </a:r>
            <a:br>
              <a:rPr lang="es-ES">
                <a:solidFill>
                  <a:schemeClr val="lt1"/>
                </a:solidFill>
              </a:rPr>
            </a:br>
            <a:r>
              <a:rPr lang="es-ES">
                <a:solidFill>
                  <a:schemeClr val="lt1"/>
                </a:solidFill>
              </a:rPr>
              <a:t>CONVERSIÓN UNIDADES SOAP DOTNET</a:t>
            </a: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endParaRPr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  <a:r>
              <a:rPr lang="es-ES">
                <a:solidFill>
                  <a:schemeClr val="lt1"/>
                </a:solidFill>
              </a:rPr>
              <a:t> 	</a:t>
            </a:r>
            <a:r>
              <a:rPr lang="es-MX">
                <a:solidFill>
                  <a:schemeClr val="lt1"/>
                </a:solidFill>
              </a:rPr>
              <a:t>CRIOLLO MATEO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HERNÁNDEZ CARLOS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REVILLA ANTONIO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5301801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GRUPO: 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lang="es-ES" sz="16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24/10/2026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</a:t>
            </a:r>
            <a:r>
              <a:rPr lang="es-ES" sz="16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CAMPAÑA MAURICIO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DOTNET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 b="1">
                <a:latin typeface="Cambria"/>
                <a:ea typeface="Cambria"/>
                <a:cs typeface="Cambria"/>
                <a:sym typeface="Cambria"/>
              </a:rPr>
              <a:t>.1	OBJETIVO</a:t>
            </a:r>
            <a:endParaRPr b="1"/>
          </a:p>
          <a:p>
            <a:pPr marL="342900" marR="0" lvl="0" indent="-237744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Desarrollar e implementar un Web Service utilizando SOAP mediante DOTNET (WCF), sin base de datos, para realizar conversiones de unidades de longitud, masa y temperatura desde clientes de consola, escritorio, web y móvil.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1.2.1 	Creación del Proyecto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Visual Studio se selecciona Crear un proyecto y la plantilla Aplicación de servicios WCF (C#), que genera un sitio web para alojar servicios .svc.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764EFFE-9785-9C64-B384-2C7E08096CAC}"/>
              </a:ext>
            </a:extLst>
          </p:cNvPr>
          <p:cNvSpPr/>
          <p:nvPr/>
        </p:nvSpPr>
        <p:spPr>
          <a:xfrm>
            <a:off x="2594613" y="3539075"/>
            <a:ext cx="4562475" cy="31432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Crear un proyecto &gt; plantilla Aplicación de servicios WCF]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body" idx="1"/>
          </p:nvPr>
        </p:nvSpPr>
        <p:spPr>
          <a:xfrm>
            <a:off x="581200" y="17815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asigna el nombre WS_CON_UNI_DOTNET_SOAP, se elige la carpeta 04. SERVIDOR como ubicación y se selecciona .NET Framework 4.8 como versión del framework.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546152-D3C6-9449-85EF-AC404917E352}"/>
              </a:ext>
            </a:extLst>
          </p:cNvPr>
          <p:cNvSpPr/>
          <p:nvPr/>
        </p:nvSpPr>
        <p:spPr>
          <a:xfrm>
            <a:off x="2542225" y="3200392"/>
            <a:ext cx="4667250" cy="32575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WS_CON_UNI_DOTNET_SOAP y .NET Framework 4.8]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ESTRUCTURA MVC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Aplicando el patrón MVC junto a otras capas, se eliminan los archivos de ejemplo (Service1) y se crean las carpetas Controladores, Modelo, Seguridad, Servicios (con Conversores) y Vista (DTO).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2901A7E-8D2C-C7FC-5385-5482A18D954D}"/>
              </a:ext>
            </a:extLst>
          </p:cNvPr>
          <p:cNvSpPr/>
          <p:nvPr/>
        </p:nvSpPr>
        <p:spPr>
          <a:xfrm>
            <a:off x="5651675" y="2696275"/>
            <a:ext cx="3219450" cy="28384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Explorador de soluciones con las carpetas Controladores, Modelo, Seguridad, Servicios/Conversores y Vista]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71" name="Google Shape;171;p22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1.2.2 	Contratos del Servicio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Controladores se definen los contratos WCF y sus implementaciones.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crean AutenticacionWS (público) y ConversionUnidadesWS (protegido), cada uno con su archivo .svc.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2" name="Google Shape;172;p2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9B46E45-BA1E-6ACC-E0F5-C06A90DE4E67}"/>
              </a:ext>
            </a:extLst>
          </p:cNvPr>
          <p:cNvSpPr/>
          <p:nvPr/>
        </p:nvSpPr>
        <p:spPr>
          <a:xfrm>
            <a:off x="958600" y="3499338"/>
            <a:ext cx="3280200" cy="32619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carpeta Controladores con IAutenticacionWS, IConversionUnidadesWS y sus implementaciones]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48CB9F9-EF9A-9C2B-9FC6-D94ED0EF852C}"/>
              </a:ext>
            </a:extLst>
          </p:cNvPr>
          <p:cNvSpPr/>
          <p:nvPr/>
        </p:nvSpPr>
        <p:spPr>
          <a:xfrm>
            <a:off x="5103225" y="3844438"/>
            <a:ext cx="3810000" cy="25717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archivos AutenticacionWS.svc y ConversionUnidadesWS.svc en la raíz del proyecto]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 b="1">
                <a:latin typeface="Cambria"/>
                <a:ea typeface="Cambria"/>
                <a:cs typeface="Cambria"/>
                <a:sym typeface="Cambria"/>
              </a:rPr>
              <a:t>Se codifican los servicios bajo los siguientes lineamientos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1. El contrato público expone las operaciones login y cambiarClave.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1" name="Google Shape;181;p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82" name="Google Shape;182;p23"/>
          <p:cNvGraphicFramePr/>
          <p:nvPr>
            <p:extLst>
              <p:ext uri="{D42A27DB-BD31-4B8C-83A1-F6EECF244321}">
                <p14:modId xmlns:p14="http://schemas.microsoft.com/office/powerpoint/2010/main" val="427278194"/>
              </p:ext>
            </p:extLst>
          </p:nvPr>
        </p:nvGraphicFramePr>
        <p:xfrm>
          <a:off x="3395925" y="2866125"/>
          <a:ext cx="5400050" cy="21386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[ServiceContract(Name = "AutenticacionWS", Namespace = Contrato.Namespace)]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IAutenticacionWS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[OperationContract(Name = "login")]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[FaultContract(typeof(ErrorServicio))]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[return: MessageParameter(Name = "return")]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RespuestaDto Login(string usuario, string clave);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[OperationContract(Name = "cambiarClave")]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[FaultContract(typeof(ErrorServicio))]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[return: MessageParameter(Name = "return")]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RespuestaDto CambiarClave(string usuario, string claveActual, string claveNueva);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2. El servicio protegido se decora con [Protegido].</a:t>
            </a:r>
            <a:endParaRPr sz="1677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3. Se crean los servicios de negocio que utiliza.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9" name="Google Shape;189;p2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0" name="Google Shape;190;p24"/>
          <p:cNvGraphicFramePr/>
          <p:nvPr>
            <p:extLst>
              <p:ext uri="{D42A27DB-BD31-4B8C-83A1-F6EECF244321}">
                <p14:modId xmlns:p14="http://schemas.microsoft.com/office/powerpoint/2010/main" val="732391690"/>
              </p:ext>
            </p:extLst>
          </p:nvPr>
        </p:nvGraphicFramePr>
        <p:xfrm>
          <a:off x="3701450" y="2180500"/>
          <a:ext cx="5400050" cy="6299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[Protegido]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ConversionUnidadesWS : IConversionUnidadesWS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1" name="Google Shape;191;p24"/>
          <p:cNvGraphicFramePr/>
          <p:nvPr>
            <p:extLst>
              <p:ext uri="{D42A27DB-BD31-4B8C-83A1-F6EECF244321}">
                <p14:modId xmlns:p14="http://schemas.microsoft.com/office/powerpoint/2010/main" val="2713062472"/>
              </p:ext>
            </p:extLst>
          </p:nvPr>
        </p:nvGraphicFramePr>
        <p:xfrm>
          <a:off x="3701450" y="3375275"/>
          <a:ext cx="5400050" cy="4622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ServicioCatalogo servicioCatalogo = new ServicioCatalogo();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readonly ServicioConversion servicioConversion = new ServicioConversion();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4. Se crean las operaciones de catálogo y conversión, que solo delegan en los servicios.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8" name="Google Shape;198;p2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9" name="Google Shape;199;p25"/>
          <p:cNvGraphicFramePr/>
          <p:nvPr>
            <p:extLst>
              <p:ext uri="{D42A27DB-BD31-4B8C-83A1-F6EECF244321}">
                <p14:modId xmlns:p14="http://schemas.microsoft.com/office/powerpoint/2010/main" val="2997604804"/>
              </p:ext>
            </p:extLst>
          </p:nvPr>
        </p:nvGraphicFramePr>
        <p:xfrm>
          <a:off x="3917100" y="1928900"/>
          <a:ext cx="4894525" cy="453367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ConsultarCatalogo()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RespuestaMapeador.DeCatalogo(servicioCatalogo.Categorias());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ConsultarUnidades(string categoria)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RespuestaMapeador.DeUnidades(servicioCatalogo.Unidades(categoria));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ConvertirLongitud(SolicitudConversionDto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=&gt; Convertir(Categoria.Longitud,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ConvertirMasa(SolicitudConversionDto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=&gt; Convertir(Categoria.Masa,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RespuestaDto ConvertirTemperatura(SolicitudConversionDto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=&gt; Convertir(Categoria.Temperatura,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RespuestaDto Convertir(Categoria categoria, 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SolicitudConversionDto s = solicitud ?? new SolicitudConversionDto();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RespuestaMapeador.DeConversion(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servicioConversion.Convertir(categoria, s.Valor, s.UnidadOrigen, s.UnidadDestino));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1.2.3 	Autenticación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Una clase importante a mencionar es ManejadorAutenticacion.cs, que sirve como middleware: implementa IDispatchMessageInspector y valida el token de la cabecera SOAP antes de permitir el paso a las operaciones del servicio. Se ubica en la carpeta Seguridad.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44A63F9-6999-7F02-1A52-F5F9ACAEAB21}"/>
              </a:ext>
            </a:extLst>
          </p:cNvPr>
          <p:cNvSpPr/>
          <p:nvPr/>
        </p:nvSpPr>
        <p:spPr>
          <a:xfrm>
            <a:off x="2589850" y="3549050"/>
            <a:ext cx="4572000" cy="31242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carpeta Seguridad con GestorToken, ManejadorAutenticacion y ProtegidoAttribute]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body" idx="1"/>
          </p:nvPr>
        </p:nvSpPr>
        <p:spPr>
          <a:xfrm>
            <a:off x="581192" y="18762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Esta clase se apoya en GestorToken, que guarda en memoria las sesiones activas y emite un token (GUID); el usuario (MONSTER), la clave (MONSTER9) y la duración del token (30 minutos) se leen de Web.config.</a:t>
            </a: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En Web.config también se publica el WSDL (?wsdl) y se asigna basicHttpBinding (SOAP 1.1) al esquema HTTP.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24" name="Google Shape;224;p28"/>
          <p:cNvGraphicFramePr/>
          <p:nvPr>
            <p:extLst>
              <p:ext uri="{D42A27DB-BD31-4B8C-83A1-F6EECF244321}">
                <p14:modId xmlns:p14="http://schemas.microsoft.com/office/powerpoint/2010/main" val="4209255352"/>
              </p:ext>
            </p:extLst>
          </p:nvPr>
        </p:nvGraphicFramePr>
        <p:xfrm>
          <a:off x="4024925" y="4574350"/>
          <a:ext cx="4894525" cy="1498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&lt;appSettings&gt;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key="token.minutos" value="30"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key="usuario.nombre" value="MONSTER"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key="usuario.clave" value="MONSTER9"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&lt;/appSettings&gt;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&lt;serviceMetadata httpGetEnabled="true" httpsGetEnabled="true"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&lt;protocolMapping&gt;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&lt;add binding="basicHttpBinding" scheme="http" /&gt;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&lt;/protocolMapping&gt;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27744FA9-7880-370A-54BF-3112F04B6910}"/>
              </a:ext>
            </a:extLst>
          </p:cNvPr>
          <p:cNvSpPr/>
          <p:nvPr/>
        </p:nvSpPr>
        <p:spPr>
          <a:xfrm>
            <a:off x="653100" y="3013525"/>
            <a:ext cx="5734050" cy="13811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clase GestorToken.cs (generación y validación del token)]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método AfterReceiveRequest lee el token de la cabecera SOAP y lo valida con GestorToken; si no es válido, responde un SOAP Fault (AUTH-001 o AUTH-002) y la operación no se ejecuta.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32" name="Google Shape;232;p29"/>
          <p:cNvGraphicFramePr/>
          <p:nvPr>
            <p:extLst>
              <p:ext uri="{D42A27DB-BD31-4B8C-83A1-F6EECF244321}">
                <p14:modId xmlns:p14="http://schemas.microsoft.com/office/powerpoint/2010/main" val="4153523800"/>
              </p:ext>
            </p:extLst>
          </p:nvPr>
        </p:nvGraphicFramePr>
        <p:xfrm>
          <a:off x="2964625" y="1876275"/>
          <a:ext cx="6062675" cy="3556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ManejadorAutenticacion : IDispatchMessageInspector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const string PropiedadUsuario = "usuario";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const string ElementoToken = "token";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object AfterReceiveRequest(ref Message request, IClientChannel channel, InstanceContext instanceContext)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string usuario = GestorToken.Instancia.Validar(LeerToken(request));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request.Properties[PropiedadUsuario] = usuario;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null;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string LeerToken(Message request)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for (int i = 0; i &lt; request.Headers.Count; i++)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if (request.Headers[i].Name == ElementoToken)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using (var lector = request.Headers.GetReaderAtHeader(i))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return lector.ReadElementContentAsString();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null;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El atributo [Protegido] implementa IServiceBehavior y registra el inspector en todos los endpoints del servicio, excepto el de metadatos, para que el WSDL siga siendo público.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9" name="Google Shape;239;p3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0" name="Google Shape;240;p30"/>
          <p:cNvGraphicFramePr/>
          <p:nvPr>
            <p:extLst>
              <p:ext uri="{D42A27DB-BD31-4B8C-83A1-F6EECF244321}">
                <p14:modId xmlns:p14="http://schemas.microsoft.com/office/powerpoint/2010/main" val="3067157556"/>
              </p:ext>
            </p:extLst>
          </p:nvPr>
        </p:nvGraphicFramePr>
        <p:xfrm>
          <a:off x="3064663" y="2920413"/>
          <a:ext cx="6062675" cy="36017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[AttributeUsage(AttributeTargets.Class)]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ProtegidoAttribute : Attribute, IServiceBehavior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void ApplyDispatchBehavior(ServiceDescription descripcion, ServiceHostBase host)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foreach (ChannelDispatcher canal in host.ChannelDispatchers)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foreach (EndpointDispatcher endpoint in canal.Endpoints)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// El endpoint de metadatos (?wsdl) no lleva token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if (endpoint.ContractName != "IMetadataExchange")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endpoint.DispatchRuntime.MessageInspectors.Add(new ManejadorAutenticacion());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1.2.4	Lógica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Ahora se procede a completar el resto de la lógica con el patrón Strategy: IConversor indica qué categorías soporta cada estrategia y ConversorLineal resuelve longitud y masa con el factor a la unidad base.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7" name="Google Shape;247;p3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8" name="Google Shape;248;p31"/>
          <p:cNvGraphicFramePr/>
          <p:nvPr>
            <p:extLst>
              <p:ext uri="{D42A27DB-BD31-4B8C-83A1-F6EECF244321}">
                <p14:modId xmlns:p14="http://schemas.microsoft.com/office/powerpoint/2010/main" val="294132430"/>
              </p:ext>
            </p:extLst>
          </p:nvPr>
        </p:nvGraphicFramePr>
        <p:xfrm>
          <a:off x="3017313" y="3676500"/>
          <a:ext cx="6062675" cy="26873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interface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bool Soporta(Categoria categoria);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Convertir(double valor, Unidad origen, Unidad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ConversorLineal :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 Soporta(Categoria categoria) =&gt; categoria == Categoria.Longitud || categoria == Categoria.Masa;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valor * origen.Factor.Value / destino.Factor.Value;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70" name="Google Shape;270;p34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ConversorTemperatura convierte primero a grados Celsius (ACelsius) y luego a la unidad destino (DesdeCelsius) mediante fórmulas, para Celsius, Kelvin, Fahrenheit, Newton y Réaumur.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72" name="Google Shape;272;p34"/>
          <p:cNvGraphicFramePr/>
          <p:nvPr>
            <p:extLst>
              <p:ext uri="{D42A27DB-BD31-4B8C-83A1-F6EECF244321}">
                <p14:modId xmlns:p14="http://schemas.microsoft.com/office/powerpoint/2010/main" val="3131083882"/>
              </p:ext>
            </p:extLst>
          </p:nvPr>
        </p:nvGraphicFramePr>
        <p:xfrm>
          <a:off x="2891513" y="2209650"/>
          <a:ext cx="6062675" cy="3784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ConversorTemperatura :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 Soporta(Categoria categoria) =&gt; categoria == Categoria.Temperatura;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DesdeCelsius(ACelsius(valor, origen),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double ACelsius(double v, Unidad unidad)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switch (unidad.Codigo)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"C": return v;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"K": return v - 273.15;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"F": return (v - 32) * 5 / 9;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"N": return v * 100 / 33;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"RE": return v * 5 /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default: throw new ArgumentException("No es unidad de temperatura: " + unidad.Codigo);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1"/>
          </p:nvPr>
        </p:nvSpPr>
        <p:spPr>
          <a:xfrm>
            <a:off x="581200" y="3037175"/>
            <a:ext cx="2132400" cy="26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latin typeface="Cambria"/>
                <a:ea typeface="Cambria"/>
                <a:cs typeface="Cambria"/>
                <a:sym typeface="Cambria"/>
              </a:rPr>
              <a:t>ServicioConversion valida la solicitud, elige la estrategia que soporta la categoría y redondea el resultado a cuatro decimales; agregar un cálculo nuevo es agregar un IConversor.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87" name="Google Shape;287;p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88" name="Google Shape;288;p36"/>
          <p:cNvGraphicFramePr/>
          <p:nvPr>
            <p:extLst>
              <p:ext uri="{D42A27DB-BD31-4B8C-83A1-F6EECF244321}">
                <p14:modId xmlns:p14="http://schemas.microsoft.com/office/powerpoint/2010/main" val="1817510209"/>
              </p:ext>
            </p:extLst>
          </p:nvPr>
        </p:nvGraphicFramePr>
        <p:xfrm>
          <a:off x="2891513" y="2557313"/>
          <a:ext cx="6062675" cy="39674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const int Decimales =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ServicioValidacion validacion = new ServicioValidacion();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IList&lt;IConversor&gt; conversores = new List&lt;IConversor&gt;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new ConversorLineal(),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new ConversorTemperatura()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ResultadoConversion Convertir(Categoria categoria, double? valor, string origen, string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unidades = validacion.ValidarConversion(categoria, valor, origen,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IConversor conversor = conversores.FirstOrDefault(c =&gt; c.Soporta(categoria))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?? throw new ExcepcionServicio(CodigoError.Data001);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resultado = conversor.Convertir(valor.Value, unidades.Origen, unidades.Destino);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return new ResultadoConversion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Resultado = Math.Round(resultado, Decimales, MidpointRounding.AwayFromZero),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Origen = unidades.Origen,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Destino = unidades.Destino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94" name="Google Shape;294;p3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2685600" cy="45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1.2.5 	Ejecución en Servidor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Se ejecuta el proyecto (F5) con IIS Express en el puerto 8095 y se comprueba el contrato WSDL de cada servicio agregando ?wsdl a su dirección.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5" name="Google Shape;295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56958C-F02F-09E1-A6CC-E9F103844995}"/>
              </a:ext>
            </a:extLst>
          </p:cNvPr>
          <p:cNvSpPr/>
          <p:nvPr/>
        </p:nvSpPr>
        <p:spPr>
          <a:xfrm>
            <a:off x="3728750" y="1878563"/>
            <a:ext cx="5192894" cy="48392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con http://localhost:8095/ConversionUnidadesWS.svc?wsdl]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6" name="Google Shape;146;p19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1.2.6 	Publicación en IIS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Para desplegar en IIS se hace clic derecho sobre el proyecto &gt; Publicar y se crea un perfil de tipo Carpeta (C:\inetpub\WS_CON_UNI_DOTNET_SOAP) con la configuración Release.</a:t>
            </a:r>
            <a:r>
              <a:rPr lang="es-ES">
                <a:latin typeface="Cambria"/>
                <a:ea typeface="Cambria"/>
                <a:cs typeface="Cambria"/>
                <a:sym typeface="Cambria"/>
              </a:rPr>
              <a:t> 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58DD436-80EF-DA7A-7F82-E6290DD84E18}"/>
              </a:ext>
            </a:extLst>
          </p:cNvPr>
          <p:cNvSpPr/>
          <p:nvPr/>
        </p:nvSpPr>
        <p:spPr>
          <a:xfrm>
            <a:off x="2537463" y="3549050"/>
            <a:ext cx="4676775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asistente Publicar &gt; Carpeta con la ruta C:\inetpub\WS_CON_UNI_DOTNET_SOAP]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body" idx="1"/>
          </p:nvPr>
        </p:nvSpPr>
        <p:spPr>
          <a:xfrm>
            <a:off x="581192" y="1948172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En Características de Windows se habilitan Internet Information Services y Servicios WCF &gt; Activación HTTP, necesaria para atender los archivos .svc.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111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00"/>
              <a:buFont typeface="Cambria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En el Administrador de IIS se agrega el sitio WS_CON_UNI_DOTNET_SOAP con la carpeta publicada, el puerto 8095 y un grupo de aplicaciones .NET CLR v4.0.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F4DDC49-74F8-3D63-4217-FC94432C31CE}"/>
              </a:ext>
            </a:extLst>
          </p:cNvPr>
          <p:cNvSpPr/>
          <p:nvPr/>
        </p:nvSpPr>
        <p:spPr>
          <a:xfrm>
            <a:off x="581200" y="3429100"/>
            <a:ext cx="4105699" cy="28078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Características de Windows con IIS y Servicios WCF &gt; Activación HTTP]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9334BC-C411-95CE-A8BE-FEA839BCFED4}"/>
              </a:ext>
            </a:extLst>
          </p:cNvPr>
          <p:cNvSpPr/>
          <p:nvPr/>
        </p:nvSpPr>
        <p:spPr>
          <a:xfrm>
            <a:off x="4686900" y="3251850"/>
            <a:ext cx="4600575" cy="31623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Agregar sitio web en IIS con nombre, ruta física y puerto 8095]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sz="1300">
                <a:latin typeface="Cambria"/>
                <a:ea typeface="Cambria"/>
                <a:cs typeface="Cambria"/>
                <a:sym typeface="Cambria"/>
              </a:rPr>
              <a:t>Para terminar se otorgan permisos de lectura y ejecución a IIS_IUSRS sobre la carpeta publicada y se verifica http://localhost:8095/, que lista AutenticacionWS.svc y ConversionUnidadesWS.svc.</a:t>
            </a:r>
            <a:endParaRPr sz="13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4FC395-2ADC-E614-8A05-C6C5FE1719AC}"/>
              </a:ext>
            </a:extLst>
          </p:cNvPr>
          <p:cNvSpPr/>
          <p:nvPr/>
        </p:nvSpPr>
        <p:spPr>
          <a:xfrm>
            <a:off x="2623250" y="3171650"/>
            <a:ext cx="4505325" cy="34956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en http://localhost:8095/ con el listado de los archivos .svc]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consola se usó Visual Studio: se crea un nuevo proyecto con la plantilla Aplicación de consola (.NET Framework) para C#.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0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asigna el nombre ConUni_ClienteConsola_GR3, la ubicación 04. CLICON y el framework .NET Framework 4.8.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834D782-F7C6-787C-DD07-E98E226BDB76}"/>
              </a:ext>
            </a:extLst>
          </p:cNvPr>
          <p:cNvSpPr/>
          <p:nvPr/>
        </p:nvSpPr>
        <p:spPr>
          <a:xfrm>
            <a:off x="581200" y="3907425"/>
            <a:ext cx="3704150" cy="25289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Aplicación de consola (.NET Framework)]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1A1496-9EC0-7554-FB32-6CA5F1739C6E}"/>
              </a:ext>
            </a:extLst>
          </p:cNvPr>
          <p:cNvSpPr/>
          <p:nvPr/>
        </p:nvSpPr>
        <p:spPr>
          <a:xfrm>
            <a:off x="4900125" y="3765892"/>
            <a:ext cx="3704150" cy="2593608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ConUni_ClienteConsola_GR3]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ES" sz="1564">
                <a:latin typeface="Cambria"/>
                <a:ea typeface="Cambria"/>
                <a:cs typeface="Cambria"/>
                <a:sym typeface="Cambria"/>
              </a:rPr>
              <a:t>Se agregan las referencias System.ServiceModel, System.Runtime.Serialization y System.Configuration, y se crea la estructura ec/edu/monster con las carpetas controlador, modelo, servicio (acceso SOAP), util y vista. La dirección del servidor se define en App.config (ws.base.url).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84F9185-048A-D947-83A3-2C0D72B89FD4}"/>
              </a:ext>
            </a:extLst>
          </p:cNvPr>
          <p:cNvSpPr/>
          <p:nvPr/>
        </p:nvSpPr>
        <p:spPr>
          <a:xfrm>
            <a:off x="2668875" y="3950625"/>
            <a:ext cx="3743325" cy="24098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Explorador de soluciones con ec/edu/monster y sus carpetas]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9" name="Google Shape;319;p4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0" name="Google Shape;320;p4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21" name="Google Shape;321;p40"/>
          <p:cNvGraphicFramePr/>
          <p:nvPr>
            <p:extLst>
              <p:ext uri="{D42A27DB-BD31-4B8C-83A1-F6EECF244321}">
                <p14:modId xmlns:p14="http://schemas.microsoft.com/office/powerpoint/2010/main" val="1816500459"/>
              </p:ext>
            </p:extLst>
          </p:nvPr>
        </p:nvGraphicFramePr>
        <p:xfrm>
          <a:off x="2964625" y="1876275"/>
          <a:ext cx="6062675" cy="47013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internal sealed class ManejadorTokenSOAP : IClientMessageInspector, IEndpointBehavior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La fábrica se reutiliza entre sesiones, por eso el token se consulta en cada envío.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readonly Func&lt;string&gt; proveedorToken;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internal ManejadorTokenSOAP(Func&lt;string&gt; proveedorToken)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this.proveedorToken = proveedorToken;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object BeforeSendRequest(ref Message request, IClientChannel channel)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request.Headers.Add(MessageHeader.CreateHeader("token", ContratoWS.Namespace, proveedorToken()));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null;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void ApplyClientBehavior(ServiceEndpoint endpoint, ClientRuntime clientRuntime)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clientRuntime.ClientMessageInspectors.Add(this);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37" name="Google Shape;337;p42"/>
          <p:cNvGraphicFramePr/>
          <p:nvPr>
            <p:extLst>
              <p:ext uri="{D42A27DB-BD31-4B8C-83A1-F6EECF244321}">
                <p14:modId xmlns:p14="http://schemas.microsoft.com/office/powerpoint/2010/main" val="3842970604"/>
              </p:ext>
            </p:extLst>
          </p:nvPr>
        </p:nvGraphicFramePr>
        <p:xfrm>
          <a:off x="2278500" y="1818850"/>
          <a:ext cx="5439425" cy="31445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3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ClienteSOAPConversor() : this(ConfigurationManager.AppSettings["ws.base.url"])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ClienteSOAPConversor(string baseUrl)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Uri direccion;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if (string.IsNullOrWhiteSpace(baseUrl) ||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!Uri.TryCreate(baseUrl.Trim().TrimEnd('/') + "/", UriKind.Absolute, out direccion) ||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(direccion.Scheme != Uri.UriSchemeHttp &amp;&amp; direccion.Scheme != Uri.UriSchemeHttps))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throw new ArgumentException("Configure una direccion HTTP valida en ws.base.url de App.config.");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baseUri = direccion;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Las fábricas se comparten; cada operación usa un canal independiente.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fabricaAutenticacion = CrearFabrica&lt;IAutenticacionWS&gt;(ServicioAutenticacion);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fabricaConversion = CrearFabrica&lt;IConversionUnidadesWS&gt;(ServicioConversion);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fabricaConversion.Endpoint.EndpointBehaviors.Add(new ManejadorTokenSOAP(() =&gt; token));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1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0" name="Google Shape;370;p4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puede verificar que el cliente funciona de forma correcta, se levanta y tiene comunicación (usuario MONSTER, clave MONSTER9)</a:t>
            </a: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400" b="1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∙"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1" name="Google Shape;371;p4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2894D2-A461-68A1-45C7-77A81EDF2204}"/>
              </a:ext>
            </a:extLst>
          </p:cNvPr>
          <p:cNvSpPr/>
          <p:nvPr/>
        </p:nvSpPr>
        <p:spPr>
          <a:xfrm>
            <a:off x="3228913" y="2794000"/>
            <a:ext cx="5734050" cy="25050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consola con el servidor configurado y el inicio de sesión exitoso]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8" name="Google Shape;378;p4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79" name="Google Shape;379;p4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457200" marR="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optimizar el tiempo, los clientes de escritorio, web y móvil comparten una Biblioteca de clases de Razor (SistemaConversorUI.Shared) con las vistas, los modelos y los adaptadores SOAP; cada cliente solo aporta su configuración.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empezar, en Visual Studio se crea un proyecto con la plantilla Biblioteca de clases de Razor.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A7DF466-71B2-17FC-0A27-1E7786855163}"/>
              </a:ext>
            </a:extLst>
          </p:cNvPr>
          <p:cNvSpPr/>
          <p:nvPr/>
        </p:nvSpPr>
        <p:spPr>
          <a:xfrm>
            <a:off x="2087175" y="3158725"/>
            <a:ext cx="5734050" cy="35909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Biblioteca de clases de Razor]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6" name="Google Shape;386;p4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87" name="Google Shape;387;p48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7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5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asigna el nombre SistemaConversorUI.Shared, la ubicación 04. CLIESC y .NET 10.0 como versión del framework.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crean las carpetas Adaptadores, Interfaces, Modelos y Vistas (Login, Menu, Catalogo y Conversion en .razor, cada una con su hoja de estilos aislada).</a:t>
            </a:r>
            <a:r>
              <a:rPr lang="es-ES" sz="1564">
                <a:latin typeface="Cambria"/>
                <a:ea typeface="Cambria"/>
                <a:cs typeface="Cambria"/>
                <a:sym typeface="Cambria"/>
              </a:rPr>
              <a:t> 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EB5146A-8350-071C-609B-7E5E6D29A87E}"/>
              </a:ext>
            </a:extLst>
          </p:cNvPr>
          <p:cNvSpPr/>
          <p:nvPr/>
        </p:nvSpPr>
        <p:spPr>
          <a:xfrm>
            <a:off x="226825" y="3803100"/>
            <a:ext cx="4002875" cy="25810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SistemaConversorUI.Shared]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69662D7-3D47-ED06-6516-8F0E868307C1}"/>
              </a:ext>
            </a:extLst>
          </p:cNvPr>
          <p:cNvSpPr/>
          <p:nvPr/>
        </p:nvSpPr>
        <p:spPr>
          <a:xfrm>
            <a:off x="4423175" y="4002275"/>
            <a:ext cx="4747325" cy="1894079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Explorador de soluciones con Adaptadores, Interfaces, Modelos y Vistas]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1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3" name="Google Shape;413;p51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14" name="Google Shape;414;p51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escritorio se agrega un proyecto con la plantilla Aplicación .NET MAUI Blazor Hybrid, que muestra componentes Razor dentro de un BlazorWebView.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le asigna el nombre SistemaConversorUI.Desktop (.NET 10.0) y se deja como destino únicamente Windows.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1E7AD19-8B7B-047C-23A6-8D7D9263CAB7}"/>
              </a:ext>
            </a:extLst>
          </p:cNvPr>
          <p:cNvSpPr/>
          <p:nvPr/>
        </p:nvSpPr>
        <p:spPr>
          <a:xfrm>
            <a:off x="107750" y="3471275"/>
            <a:ext cx="4476750" cy="28956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Aplicación .NET MAUI Blazor Hybrid]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20283A-3029-01EE-A7FC-DC1728885553}"/>
              </a:ext>
            </a:extLst>
          </p:cNvPr>
          <p:cNvSpPr/>
          <p:nvPr/>
        </p:nvSpPr>
        <p:spPr>
          <a:xfrm>
            <a:off x="4823813" y="3471275"/>
            <a:ext cx="4253600" cy="27053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SistemaConversorUI.Desktop]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2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2" name="Google Shape;422;p52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23" name="Google Shape;423;p52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Desde Dependencias &gt; Agregar referencia de proyecto se selecciona SistemaConversorUI.Shared; los clientes web y móvil se referencian de la misma forma.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Además, el proyecto de escritorio agrega los paquetes NuGet System.ServiceModel.*.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F1ACB6-8FA5-75C6-3B40-880C099FF023}"/>
              </a:ext>
            </a:extLst>
          </p:cNvPr>
          <p:cNvSpPr/>
          <p:nvPr/>
        </p:nvSpPr>
        <p:spPr>
          <a:xfrm>
            <a:off x="167300" y="3910850"/>
            <a:ext cx="4107051" cy="18261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Dependencias &gt; Agregar referencia de proyecto]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3B8A41B-B1A8-622F-738A-CAD2398576B2}"/>
              </a:ext>
            </a:extLst>
          </p:cNvPr>
          <p:cNvSpPr/>
          <p:nvPr/>
        </p:nvSpPr>
        <p:spPr>
          <a:xfrm>
            <a:off x="4429438" y="3317241"/>
            <a:ext cx="4732200" cy="333298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Administrador de referencias con SistemaConversorUI.Shared marcado]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5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79" name="Google Shape;479;p59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0" name="Google Shape;480;p5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481" name="Google Shape;481;p59"/>
          <p:cNvGraphicFramePr/>
          <p:nvPr>
            <p:extLst>
              <p:ext uri="{D42A27DB-BD31-4B8C-83A1-F6EECF244321}">
                <p14:modId xmlns:p14="http://schemas.microsoft.com/office/powerpoint/2010/main" val="2778786422"/>
              </p:ext>
            </p:extLst>
          </p:nvPr>
        </p:nvGraphicFramePr>
        <p:xfrm>
          <a:off x="2332825" y="2024213"/>
          <a:ext cx="6484300" cy="400367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async Task&lt;SesionCliente&gt; IniciarSesionAsync(string usuario, string clave)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documento = await EnviarAsync("login", ("usuario", usuario), ("clave", clave));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token = documento.Descendants()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.FirstOrDefault(x =&gt; x.Name.LocalName == "token")?.Value;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if (string.IsNullOrWhiteSpace(token))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var mensaje = documento.Descendants()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.FirstOrDefault(x =&gt; x.Name.LocalName == "mensaje")?.Value;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throw new InvalidOperationException(mensaje ?? "El servicio no devolvió un token de sesión.");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expiraEn = documento.Descendants()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.FirstOrDefault(x =&gt; x.Name.LocalName == "expiraEn")?.Value;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return new SesionCliente(usuario, token, expiraEn);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20" name="Google Shape;520;p6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521" name="Google Shape;521;p64"/>
          <p:cNvGraphicFramePr/>
          <p:nvPr>
            <p:extLst>
              <p:ext uri="{D42A27DB-BD31-4B8C-83A1-F6EECF244321}">
                <p14:modId xmlns:p14="http://schemas.microsoft.com/office/powerpoint/2010/main" val="610787541"/>
              </p:ext>
            </p:extLst>
          </p:nvPr>
        </p:nvGraphicFramePr>
        <p:xfrm>
          <a:off x="2332825" y="2024213"/>
          <a:ext cx="6484300" cy="2420303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async Task&lt;XElement&gt; EnviarAsync(string operacion, string token, params XElement[] parametros)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sobre = new XDocument(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new XElement(Soap + "Envelope",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XAttribute(XNamespace.Xmlns + "soap", Soap),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XAttribute(XNamespace.Xmlns + "svc", Servicio),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XElement(Soap + "Header", new XElement(Servicio + "token", token)),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new XElement(Soap + "Body", new XElement(Servicio + operacion, parametros))));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using var solicitud = new HttpRequestMessage(HttpMethod.Post, _urlServicio);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solicitud.Headers.Add("SOAPAction", $"\"{Servicio}ConversionUnidadesWS/{operacion}\"");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solicitud.Content = new StringContent(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sobre.ToString(SaveOptions.DisableFormatting), Encoding.UTF8, "text/xml");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using var respuestaHttp = await _http.SendAsync(solicitud);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contenido = await respuestaHttp.Content.ReadAsStringAsync();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35" name="Google Shape;535;p6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36" name="Google Shape;536;p66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de escritorio, MauiProgram registra la dirección del servidor (OpcionesCliente), el HttpClient y los adaptadores SOAP del proyecto compartido; MainPage.xaml carga la vista Login como componente raíz.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37" name="Google Shape;537;p6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38" name="Google Shape;538;p66"/>
          <p:cNvGraphicFramePr/>
          <p:nvPr>
            <p:extLst>
              <p:ext uri="{D42A27DB-BD31-4B8C-83A1-F6EECF244321}">
                <p14:modId xmlns:p14="http://schemas.microsoft.com/office/powerpoint/2010/main" val="1838674023"/>
              </p:ext>
            </p:extLst>
          </p:nvPr>
        </p:nvGraphicFramePr>
        <p:xfrm>
          <a:off x="2332838" y="3073863"/>
          <a:ext cx="6484300" cy="3465068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MauiApp.CreateBuilder();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builder.Services.AddSingleton(new OpcionesCliente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UrlServidor = "http://localhost:8095/",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NombreCliente = "Cliente de escritorio"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builder.Services.AddSingleton&lt;HttpClient&gt;();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builder.Services.AddSingleton&lt;IAutenticacionSoap, AdaptadorAutenticacionSoap&gt;();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builder.Services.AddSingleton&lt;IConversionSoap, AdaptadorConversionSoap&gt;();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.UseMauiApp&lt;App&gt;()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.ConfigureFonts(fonts =&gt;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fonts.AddFont("OpenSans-Regular.ttf", "OpenSansRegular");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builder.Services.AddMauiBlazorWebView();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 builder.Build();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39" name="Google Shape;539;p66"/>
          <p:cNvSpPr txBox="1"/>
          <p:nvPr/>
        </p:nvSpPr>
        <p:spPr>
          <a:xfrm>
            <a:off x="122575" y="1715850"/>
            <a:ext cx="7232400" cy="777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  <a:t>1.4 	CREACIÓN DEL PROYECTO – CLIENTE ESCRITORIO</a:t>
            </a:r>
            <a:br>
              <a:rPr lang="es-ES" sz="1800" b="1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</a:br>
            <a:endParaRPr sz="1800">
              <a:solidFill>
                <a:schemeClr val="dk2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7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69" name="Google Shape;569;p70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1" name="Google Shape;571;p70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D0E26EC-B320-AA5E-FD3E-ADF1E71DB050}"/>
              </a:ext>
            </a:extLst>
          </p:cNvPr>
          <p:cNvSpPr/>
          <p:nvPr/>
        </p:nvSpPr>
        <p:spPr>
          <a:xfrm>
            <a:off x="1863925" y="2920600"/>
            <a:ext cx="5734050" cy="34766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de escritorio con la pantalla de inicio de sesión]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8" name="Google Shape;578;p71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7DC2BFB-EC9E-0D7D-4A2D-E223661AAEAE}"/>
              </a:ext>
            </a:extLst>
          </p:cNvPr>
          <p:cNvSpPr/>
          <p:nvPr/>
        </p:nvSpPr>
        <p:spPr>
          <a:xfrm>
            <a:off x="2057925" y="2610550"/>
            <a:ext cx="5734050" cy="34671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de escritorio con una conversión y su resultado]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85" name="Google Shape;585;p7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86" name="Google Shape;586;p7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7F09E91-0B21-6E56-28D2-6589050D658D}"/>
              </a:ext>
            </a:extLst>
          </p:cNvPr>
          <p:cNvSpPr/>
          <p:nvPr/>
        </p:nvSpPr>
        <p:spPr>
          <a:xfrm>
            <a:off x="2176450" y="2610550"/>
            <a:ext cx="5734050" cy="34956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de escritorio con el catálogo de categorías y unidades]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9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95" name="Google Shape;395;p49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98" name="Google Shape;398;p49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web se agrega un proyecto con la plantilla Aplicación web de Blazor, con .NET 10.0 y modo de representación interactiva Server.</a:t>
            </a:r>
            <a:r>
              <a:rPr lang="es-ES" sz="1564">
                <a:latin typeface="Cambria"/>
                <a:ea typeface="Cambria"/>
                <a:cs typeface="Cambria"/>
                <a:sym typeface="Cambria"/>
              </a:rPr>
              <a:t> 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le asigna el nombre SistemaConversorUI.Web en la carpeta 04. CLIWEB y se agrega la referencia a SistemaConversorUI.Shared.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92A8582-012F-3FE1-208B-F137E1156ED0}"/>
              </a:ext>
            </a:extLst>
          </p:cNvPr>
          <p:cNvSpPr/>
          <p:nvPr/>
        </p:nvSpPr>
        <p:spPr>
          <a:xfrm>
            <a:off x="66975" y="3452938"/>
            <a:ext cx="4507325" cy="28747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Aplicación web de Blazor]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37A891-12E2-BAD1-69A5-3B86DC190521}"/>
              </a:ext>
            </a:extLst>
          </p:cNvPr>
          <p:cNvSpPr/>
          <p:nvPr/>
        </p:nvSpPr>
        <p:spPr>
          <a:xfrm>
            <a:off x="4772900" y="3452950"/>
            <a:ext cx="4460247" cy="28747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SistemaConversorUI.Web y modo Server]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93" name="Google Shape;593;p7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94" name="Google Shape;594;p73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web, Program.cs lee la dirección del servidor de appsettings.json (sección Cliente, http://localhost:8095/) y registra los adaptadores SOAP con AddHttpClient; la página Inicio.razor carga el mismo componente Login.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95" name="Google Shape;595;p73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96" name="Google Shape;596;p73"/>
          <p:cNvGraphicFramePr/>
          <p:nvPr>
            <p:extLst>
              <p:ext uri="{D42A27DB-BD31-4B8C-83A1-F6EECF244321}">
                <p14:modId xmlns:p14="http://schemas.microsoft.com/office/powerpoint/2010/main" val="3500724253"/>
              </p:ext>
            </p:extLst>
          </p:nvPr>
        </p:nvGraphicFramePr>
        <p:xfrm>
          <a:off x="2332838" y="3073863"/>
          <a:ext cx="6484300" cy="2584895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WebApplication.CreateBuilder(args);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// Las vistas compartidas corren en el servidor web: las llamadas SOAP salen de aquí, no del navegador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builder.Services.AddRazorComponents()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.AddInteractiveServerComponents();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// Dirección del servidor SOAP y nombre del cliente (sección "Cliente" de appsettings.json)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opciones = builder.Configuration.GetSection("Cliente").Get&lt;OpcionesCliente&gt;() ?? new OpcionesCliente();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builder.Services.AddSingleton(opciones);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builder.Services.AddHttpClient&lt;IAutenticacionSoap, AdaptadorAutenticacionSoap&gt;();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builder.Services.AddHttpClient&lt;IConversionSoap, AdaptadorConversionSoap&gt;();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app = builder.Build();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app.UseAntiforgery();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app.MapStaticAssets();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app.MapRazorComponents&lt;App&gt;()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.AddInteractiveServerRenderMode();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app.Run();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7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8" name="Google Shape;618;p7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0" name="Google Shape;620;p76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31BC31A-9A0C-9853-9CB8-27CBD90571AC}"/>
              </a:ext>
            </a:extLst>
          </p:cNvPr>
          <p:cNvSpPr/>
          <p:nvPr/>
        </p:nvSpPr>
        <p:spPr>
          <a:xfrm>
            <a:off x="1863925" y="2920600"/>
            <a:ext cx="5734050" cy="34766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en http://localhost:8097 con la pantalla de inicio de sesión]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26" name="Google Shape;626;p7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7" name="Google Shape;627;p77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10500F-93F4-54DB-FEAA-5E3F4DE6D39D}"/>
              </a:ext>
            </a:extLst>
          </p:cNvPr>
          <p:cNvSpPr/>
          <p:nvPr/>
        </p:nvSpPr>
        <p:spPr>
          <a:xfrm>
            <a:off x="989425" y="2522350"/>
            <a:ext cx="7615825" cy="38964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con una conversión realizada en el cliente web]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7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34" name="Google Shape;634;p7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35" name="Google Shape;635;p78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729A28-C20B-AE81-6CAA-F9A29D7AE740}"/>
              </a:ext>
            </a:extLst>
          </p:cNvPr>
          <p:cNvSpPr/>
          <p:nvPr/>
        </p:nvSpPr>
        <p:spPr>
          <a:xfrm>
            <a:off x="1223950" y="2763050"/>
            <a:ext cx="7317725" cy="37318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con el catálogo de categorías y unidades]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50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4" name="Google Shape;404;p50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05" name="Google Shape;405;p50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móvil se agrega un proyecto Aplicación .NET MAUI Blazor Hybrid con el nombre SistemaConversorUI.Mobile en 04. CLIMOV, con .NET 10.0 y destino net10.0-android.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Igual que en escritorio, se agrega la referencia a SistemaConversorUI.Shared y MainPage.xaml carga la vista Login como componente raíz.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867E5-A6E3-DD0A-7223-F2F8F162B75E}"/>
              </a:ext>
            </a:extLst>
          </p:cNvPr>
          <p:cNvSpPr/>
          <p:nvPr/>
        </p:nvSpPr>
        <p:spPr>
          <a:xfrm>
            <a:off x="256575" y="3246650"/>
            <a:ext cx="3705225" cy="35814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SistemaConversorUI.Mobile]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9A7D4F8-B9E1-6CF9-7058-BA0B8A3C5D24}"/>
              </a:ext>
            </a:extLst>
          </p:cNvPr>
          <p:cNvSpPr/>
          <p:nvPr/>
        </p:nvSpPr>
        <p:spPr>
          <a:xfrm>
            <a:off x="4326425" y="3793250"/>
            <a:ext cx="4625675" cy="18455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Administrador de referencias del proyecto móvil con SistemaConversorUI.Shared]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1" name="Google Shape;641;p79"/>
          <p:cNvGraphicFramePr/>
          <p:nvPr>
            <p:extLst>
              <p:ext uri="{D42A27DB-BD31-4B8C-83A1-F6EECF244321}">
                <p14:modId xmlns:p14="http://schemas.microsoft.com/office/powerpoint/2010/main" val="2291739272"/>
              </p:ext>
            </p:extLst>
          </p:nvPr>
        </p:nvGraphicFramePr>
        <p:xfrm>
          <a:off x="2332838" y="2865288"/>
          <a:ext cx="6484300" cy="3078671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MauiApp.CreateBuilder();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builder.Services.AddSingleton(new OpcionesCliente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// Con "adb reverse tcp:8095 tcp:8095" el localhost del emulador llega al IIS Express del PC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UrlServidor = "http://localhost:8095/",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NombreCliente = "Cliente móvil"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builder.Services.AddSingleton&lt;HttpClient&gt;();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builder.Services.AddSingleton&lt;IAutenticacionSoap, AdaptadorAutenticacionSoap&gt;();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builder.Services.AddSingleton&lt;IConversionSoap, AdaptadorConversionSoap&gt;();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.UseMauiApp&lt;App&gt;()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.ConfigureFonts(fonts =&gt;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fonts.AddFont("OpenSans-Regular.ttf", "OpenSansRegular");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builder.Services.AddMauiBlazorWebView();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 builder.Build();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42" name="Google Shape;642;p7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43" name="Google Shape;643;p7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44" name="Google Shape;644;p79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</a:t>
            </a: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 	CREACIÓN DEL PROYECTO – CLIENTE MÓVIL</a:t>
            </a:r>
            <a:b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</a:b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645" name="Google Shape;645;p79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46" name="Google Shape;646;p79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móvil, MauiProgram registra los mismos adaptadores; con adb reverse tcp:8095 tcp:8095 el localhost del emulador llega al servidor del PC.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1" name="Google Shape;651;p80"/>
          <p:cNvGraphicFramePr/>
          <p:nvPr>
            <p:extLst>
              <p:ext uri="{D42A27DB-BD31-4B8C-83A1-F6EECF244321}">
                <p14:modId xmlns:p14="http://schemas.microsoft.com/office/powerpoint/2010/main" val="2975747886"/>
              </p:ext>
            </p:extLst>
          </p:nvPr>
        </p:nvGraphicFramePr>
        <p:xfrm>
          <a:off x="2332838" y="2061638"/>
          <a:ext cx="6484300" cy="4493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&lt;!-- El servidor SOAP se publica por HTTP: se permite solo hacia estas direcciones locales --&gt;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&lt;network-security-config&gt;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&lt;domain-config cleartextTrafficPermitted="true"&gt;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&lt;!-- localhost del PC visto desde el emulador de Android Studio --&gt;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&lt;domain includeSubdomains="false"&gt;10.0.2.2&lt;/domain&gt;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&lt;domain includeSubdomains="false"&gt;localhost&lt;/domain&gt;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&lt;/domain-config&gt;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&lt;/network-security-config&gt;</a:t>
                      </a:r>
                      <a:endParaRPr sz="9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52" name="Google Shape;652;p8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3" name="Google Shape;653;p8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54" name="Google Shape;654;p80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8" name="Google Shape;668;p8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69" name="Google Shape;669;p8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A18C098-E8D1-BAE8-AFE5-3AE0C39CCCC9}"/>
              </a:ext>
            </a:extLst>
          </p:cNvPr>
          <p:cNvSpPr/>
          <p:nvPr/>
        </p:nvSpPr>
        <p:spPr>
          <a:xfrm>
            <a:off x="3843225" y="1715850"/>
            <a:ext cx="2484925" cy="49024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emulador de Android con la pantalla de inicio de sesión]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8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76" name="Google Shape;676;p8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77" name="Google Shape;677;p83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EC4929F-3698-3620-2B1F-465A72E0A076}"/>
              </a:ext>
            </a:extLst>
          </p:cNvPr>
          <p:cNvSpPr/>
          <p:nvPr/>
        </p:nvSpPr>
        <p:spPr>
          <a:xfrm>
            <a:off x="5149825" y="1868350"/>
            <a:ext cx="2413600" cy="4716674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emulador de Android con una conversión realizada]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84" name="Google Shape;684;p84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84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EC146A-4945-63CC-B76C-CA8996F01958}"/>
              </a:ext>
            </a:extLst>
          </p:cNvPr>
          <p:cNvSpPr/>
          <p:nvPr/>
        </p:nvSpPr>
        <p:spPr>
          <a:xfrm>
            <a:off x="5042825" y="1868350"/>
            <a:ext cx="2520625" cy="51565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emulador de Android con el catálogo de unidades]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8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692" name="Google Shape;692;p8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Se implementó un servicio web SOAP en DOTNET con Windows Communication Foundation, sin base de datos y publicado en IIS, que centraliza la autenticación, la consulta de seis categorías y la conversión de longitud, masa y temperatura, cumpliendo los requisitos RQF-001 a RQF-010 de la ERS. Un inspector de mensajes de WCF valida el token en la cabecera SOAP y los errores llegan como SOAP Faults estructurados. La consola consume el contrato con ChannelFactory, mientras que escritorio, móvil y web reutilizan la biblioteca compartida de componentes Razor, lo que garantiza la misma interfaz y confirma la interoperabilidad del servicio.</a:t>
            </a:r>
            <a:endParaRPr sz="1900"/>
          </a:p>
        </p:txBody>
      </p:sp>
      <p:sp>
        <p:nvSpPr>
          <p:cNvPr id="693" name="Google Shape;693;p8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8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699" name="Google Shape;699;p86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Publicar el servicio con HTTPS (certificado en IIS y modo de seguridad Transport) antes de usarlo fuera del entorno local, ya que con basicHttpBinding las credenciales y el token viajan en texto plano.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Mantener sincronizados el contrato WSDL y los cuatro clientes: cualquier cambio en operaciones, parámetros o namespace exige actualizar las interfaces de la consola y los adaptadores del proyecto compartido.</a:t>
            </a: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Llevar a un archivo de configuración la dirección del servidor de los clientes de escritorio y móvil, e implementar en una segunda fase volumen, tiempo y área junto con la persistencia de credenciales y sesiones.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0" name="Google Shape;700;p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5853</Words>
  <Application>Microsoft Office PowerPoint</Application>
  <PresentationFormat>Panorámica</PresentationFormat>
  <Paragraphs>972</Paragraphs>
  <Slides>49</Slides>
  <Notes>49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49</vt:i4>
      </vt:variant>
    </vt:vector>
  </HeadingPairs>
  <TitlesOfParts>
    <vt:vector size="55" baseType="lpstr">
      <vt:lpstr>Noto Sans Symbols</vt:lpstr>
      <vt:lpstr>Arial</vt:lpstr>
      <vt:lpstr>Gill Sans</vt:lpstr>
      <vt:lpstr>Cambria</vt:lpstr>
      <vt:lpstr>Calibri</vt:lpstr>
      <vt:lpstr>Dividendo</vt:lpstr>
      <vt:lpstr>MANUAL CONVERSIÓN UNIDADES SOAP DOTNET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Antonio Revilla</cp:lastModifiedBy>
  <cp:revision>3</cp:revision>
  <dcterms:modified xsi:type="dcterms:W3CDTF">2026-10-27T14:37:03Z</dcterms:modified>
</cp:coreProperties>
</file>